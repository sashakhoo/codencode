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image" Target="../media/image-2-9.png"/><Relationship Id="rId10" Type="http://schemas.openxmlformats.org/officeDocument/2006/relationships/image" Target="../media/image-2-10.png"/><Relationship Id="rId11" Type="http://schemas.openxmlformats.org/officeDocument/2006/relationships/image" Target="../media/image-2-11.png"/><Relationship Id="rId12" Type="http://schemas.openxmlformats.org/officeDocument/2006/relationships/image" Target="../media/image-2-12.png"/><Relationship Id="rId13" Type="http://schemas.openxmlformats.org/officeDocument/2006/relationships/image" Target="../media/image-2-13.png"/><Relationship Id="rId14" Type="http://schemas.openxmlformats.org/officeDocument/2006/relationships/slideLayout" Target="../slideLayouts/slideLayout1.xml"/><Relationship Id="rId1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image" Target="../media/image-3-9.png"/><Relationship Id="rId10" Type="http://schemas.openxmlformats.org/officeDocument/2006/relationships/image" Target="../media/image-3-10.png"/><Relationship Id="rId11" Type="http://schemas.openxmlformats.org/officeDocument/2006/relationships/image" Target="../media/image-3-11.png"/><Relationship Id="rId12" Type="http://schemas.openxmlformats.org/officeDocument/2006/relationships/image" Target="../media/image-3-12.png"/><Relationship Id="rId13" Type="http://schemas.openxmlformats.org/officeDocument/2006/relationships/image" Target="../media/image-3-13.png"/><Relationship Id="rId14" Type="http://schemas.openxmlformats.org/officeDocument/2006/relationships/slideLayout" Target="../slideLayouts/slideLayout1.xml"/><Relationship Id="rId1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80C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0"/>
            <a:ext cx="2286000" cy="5143500"/>
          </a:xfrm>
          <a:prstGeom prst="rect">
            <a:avLst/>
          </a:prstGeom>
          <a:solidFill>
            <a:srgbClr val="0D1A2E"/>
          </a:solidFill>
          <a:ln w="12700">
            <a:solidFill>
              <a:srgbClr val="0D1A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39712" y="0"/>
            <a:ext cx="45720" cy="5143500"/>
          </a:xfrm>
          <a:prstGeom prst="rect">
            <a:avLst/>
          </a:prstGeom>
          <a:solidFill>
            <a:srgbClr val="00DCB4"/>
          </a:solidFill>
          <a:ln w="12700">
            <a:solidFill>
              <a:srgbClr val="00DCB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949440" y="182880"/>
            <a:ext cx="1371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0" b="1" dirty="0">
                <a:solidFill>
                  <a:srgbClr val="00DCB4">
                    <a:alpha val="15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</a:t>
            </a:r>
            <a:endParaRPr lang="en-US" sz="11000" dirty="0"/>
          </a:p>
        </p:txBody>
      </p:sp>
      <p:sp>
        <p:nvSpPr>
          <p:cNvPr id="5" name="Text 3"/>
          <p:cNvSpPr/>
          <p:nvPr/>
        </p:nvSpPr>
        <p:spPr>
          <a:xfrm>
            <a:off x="6903720" y="155448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0DC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encode(学生):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6903720" y="1938528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8A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lang = "你的语言"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6903720" y="2322576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8A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skill = learn()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6903720" y="2706624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8A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certify()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516636" y="973836"/>
            <a:ext cx="64008" cy="64008"/>
          </a:xfrm>
          <a:prstGeom prst="ellipse">
            <a:avLst/>
          </a:prstGeom>
          <a:solidFill>
            <a:srgbClr val="00DCB4">
              <a:alpha val="20000"/>
            </a:srgbClr>
          </a:solidFill>
          <a:ln w="12700">
            <a:solidFill>
              <a:srgbClr val="00DCB4">
                <a:alpha val="2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19556" y="973836"/>
            <a:ext cx="64008" cy="64008"/>
          </a:xfrm>
          <a:prstGeom prst="ellipse">
            <a:avLst/>
          </a:prstGeom>
          <a:solidFill>
            <a:srgbClr val="00DCB4">
              <a:alpha val="20000"/>
            </a:srgbClr>
          </a:solidFill>
          <a:ln w="12700">
            <a:solidFill>
              <a:srgbClr val="00DCB4">
                <a:alpha val="2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522476" y="973836"/>
            <a:ext cx="64008" cy="64008"/>
          </a:xfrm>
          <a:prstGeom prst="ellipse">
            <a:avLst/>
          </a:prstGeom>
          <a:solidFill>
            <a:srgbClr val="00DCB4">
              <a:alpha val="20000"/>
            </a:srgbClr>
          </a:solidFill>
          <a:ln w="12700">
            <a:solidFill>
              <a:srgbClr val="00DCB4">
                <a:alpha val="2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16636" y="1751076"/>
            <a:ext cx="64008" cy="64008"/>
          </a:xfrm>
          <a:prstGeom prst="ellipse">
            <a:avLst/>
          </a:prstGeom>
          <a:solidFill>
            <a:srgbClr val="00DCB4">
              <a:alpha val="20000"/>
            </a:srgbClr>
          </a:solidFill>
          <a:ln w="12700">
            <a:solidFill>
              <a:srgbClr val="00DCB4">
                <a:alpha val="2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19556" y="1751076"/>
            <a:ext cx="64008" cy="64008"/>
          </a:xfrm>
          <a:prstGeom prst="ellipse">
            <a:avLst/>
          </a:prstGeom>
          <a:solidFill>
            <a:srgbClr val="00DCB4">
              <a:alpha val="20000"/>
            </a:srgbClr>
          </a:solidFill>
          <a:ln w="12700">
            <a:solidFill>
              <a:srgbClr val="00DCB4">
                <a:alpha val="2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522476" y="1751076"/>
            <a:ext cx="64008" cy="64008"/>
          </a:xfrm>
          <a:prstGeom prst="ellipse">
            <a:avLst/>
          </a:prstGeom>
          <a:solidFill>
            <a:srgbClr val="00DCB4">
              <a:alpha val="20000"/>
            </a:srgbClr>
          </a:solidFill>
          <a:ln w="12700">
            <a:solidFill>
              <a:srgbClr val="00DCB4">
                <a:alpha val="2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16636" y="2528316"/>
            <a:ext cx="64008" cy="64008"/>
          </a:xfrm>
          <a:prstGeom prst="ellipse">
            <a:avLst/>
          </a:prstGeom>
          <a:solidFill>
            <a:srgbClr val="00DCB4">
              <a:alpha val="20000"/>
            </a:srgbClr>
          </a:solidFill>
          <a:ln w="12700">
            <a:solidFill>
              <a:srgbClr val="00DCB4">
                <a:alpha val="2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19556" y="2528316"/>
            <a:ext cx="64008" cy="64008"/>
          </a:xfrm>
          <a:prstGeom prst="ellipse">
            <a:avLst/>
          </a:prstGeom>
          <a:solidFill>
            <a:srgbClr val="00DCB4">
              <a:alpha val="20000"/>
            </a:srgbClr>
          </a:solidFill>
          <a:ln w="12700">
            <a:solidFill>
              <a:srgbClr val="00DCB4">
                <a:alpha val="2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522476" y="2528316"/>
            <a:ext cx="64008" cy="64008"/>
          </a:xfrm>
          <a:prstGeom prst="ellipse">
            <a:avLst/>
          </a:prstGeom>
          <a:solidFill>
            <a:srgbClr val="00DCB4">
              <a:alpha val="20000"/>
            </a:srgbClr>
          </a:solidFill>
          <a:ln w="12700">
            <a:solidFill>
              <a:srgbClr val="00DCB4">
                <a:alpha val="2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16636" y="3305556"/>
            <a:ext cx="64008" cy="64008"/>
          </a:xfrm>
          <a:prstGeom prst="ellipse">
            <a:avLst/>
          </a:prstGeom>
          <a:solidFill>
            <a:srgbClr val="00DCB4">
              <a:alpha val="20000"/>
            </a:srgbClr>
          </a:solidFill>
          <a:ln w="12700">
            <a:solidFill>
              <a:srgbClr val="00DCB4">
                <a:alpha val="20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19556" y="3305556"/>
            <a:ext cx="64008" cy="64008"/>
          </a:xfrm>
          <a:prstGeom prst="ellipse">
            <a:avLst/>
          </a:prstGeom>
          <a:solidFill>
            <a:srgbClr val="00DCB4">
              <a:alpha val="20000"/>
            </a:srgbClr>
          </a:solidFill>
          <a:ln w="12700">
            <a:solidFill>
              <a:srgbClr val="00DCB4">
                <a:alpha val="20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522476" y="3305556"/>
            <a:ext cx="64008" cy="64008"/>
          </a:xfrm>
          <a:prstGeom prst="ellipse">
            <a:avLst/>
          </a:prstGeom>
          <a:solidFill>
            <a:srgbClr val="00DCB4">
              <a:alpha val="20000"/>
            </a:srgbClr>
          </a:solidFill>
          <a:ln w="12700">
            <a:solidFill>
              <a:srgbClr val="00DCB4">
                <a:alpha val="20000"/>
              </a:srgbClr>
            </a:solidFill>
            <a:prstDash val="solid"/>
          </a:ln>
        </p:spPr>
      </p:sp>
      <p:pic>
        <p:nvPicPr>
          <p:cNvPr id="2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256032"/>
            <a:ext cx="1828800" cy="521208"/>
          </a:xfrm>
          <a:prstGeom prst="rect">
            <a:avLst/>
          </a:prstGeom>
        </p:spPr>
      </p:pic>
      <p:sp>
        <p:nvSpPr>
          <p:cNvPr id="22" name="Text 19"/>
          <p:cNvSpPr/>
          <p:nvPr/>
        </p:nvSpPr>
        <p:spPr>
          <a:xfrm>
            <a:off x="365760" y="1005840"/>
            <a:ext cx="6217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Academy.</a:t>
            </a:r>
            <a:endParaRPr lang="en-US" sz="4800" dirty="0"/>
          </a:p>
        </p:txBody>
      </p:sp>
      <p:sp>
        <p:nvSpPr>
          <p:cNvPr id="23" name="Text 20"/>
          <p:cNvSpPr/>
          <p:nvPr/>
        </p:nvSpPr>
        <p:spPr>
          <a:xfrm>
            <a:off x="365760" y="1783080"/>
            <a:ext cx="6217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00DCB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Languages.</a:t>
            </a:r>
            <a:endParaRPr lang="en-US" sz="4800" dirty="0"/>
          </a:p>
        </p:txBody>
      </p:sp>
      <p:sp>
        <p:nvSpPr>
          <p:cNvPr id="24" name="Text 21"/>
          <p:cNvSpPr/>
          <p:nvPr/>
        </p:nvSpPr>
        <p:spPr>
          <a:xfrm>
            <a:off x="365760" y="2697480"/>
            <a:ext cx="6035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A0B4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&amp; ML taught in English, 中文, and Bahasa Melayu —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A0B4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 every Malaysian teen can learn to code.</a:t>
            </a:r>
            <a:endParaRPr lang="en-US" sz="1300" dirty="0"/>
          </a:p>
        </p:txBody>
      </p:sp>
      <p:sp>
        <p:nvSpPr>
          <p:cNvPr id="25" name="Shape 22"/>
          <p:cNvSpPr/>
          <p:nvPr/>
        </p:nvSpPr>
        <p:spPr>
          <a:xfrm>
            <a:off x="365760" y="3547872"/>
            <a:ext cx="1828800" cy="475488"/>
          </a:xfrm>
          <a:prstGeom prst="rect">
            <a:avLst/>
          </a:prstGeom>
          <a:solidFill>
            <a:srgbClr val="0A1628"/>
          </a:solidFill>
          <a:ln w="25400">
            <a:solidFill>
              <a:srgbClr val="00DCB4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365760" y="3547872"/>
            <a:ext cx="54864" cy="475488"/>
          </a:xfrm>
          <a:prstGeom prst="rect">
            <a:avLst/>
          </a:prstGeom>
          <a:solidFill>
            <a:srgbClr val="00DCB4"/>
          </a:solidFill>
          <a:ln w="12700">
            <a:solidFill>
              <a:srgbClr val="00DCB4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475488" y="3547872"/>
            <a:ext cx="6583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0DC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</a:t>
            </a:r>
            <a:endParaRPr lang="en-US" sz="1100" dirty="0"/>
          </a:p>
        </p:txBody>
      </p:sp>
      <p:sp>
        <p:nvSpPr>
          <p:cNvPr id="28" name="Text 25"/>
          <p:cNvSpPr/>
          <p:nvPr/>
        </p:nvSpPr>
        <p:spPr>
          <a:xfrm>
            <a:off x="1115568" y="3547872"/>
            <a:ext cx="1005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English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2423160" y="3547872"/>
            <a:ext cx="1828800" cy="475488"/>
          </a:xfrm>
          <a:prstGeom prst="rect">
            <a:avLst/>
          </a:prstGeom>
          <a:solidFill>
            <a:srgbClr val="0A1628"/>
          </a:solidFill>
          <a:ln w="25400">
            <a:solidFill>
              <a:srgbClr val="F5C842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2423160" y="3547872"/>
            <a:ext cx="54864" cy="475488"/>
          </a:xfrm>
          <a:prstGeom prst="rect">
            <a:avLst/>
          </a:prstGeom>
          <a:solidFill>
            <a:srgbClr val="F5C842"/>
          </a:solidFill>
          <a:ln w="12700">
            <a:solidFill>
              <a:srgbClr val="F5C842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2532888" y="3547872"/>
            <a:ext cx="6583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C8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中文</a:t>
            </a:r>
            <a:endParaRPr lang="en-US" sz="1100" dirty="0"/>
          </a:p>
        </p:txBody>
      </p:sp>
      <p:sp>
        <p:nvSpPr>
          <p:cNvPr id="32" name="Text 29"/>
          <p:cNvSpPr/>
          <p:nvPr/>
        </p:nvSpPr>
        <p:spPr>
          <a:xfrm>
            <a:off x="3172968" y="3547872"/>
            <a:ext cx="1005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Mandarin</a:t>
            </a:r>
            <a:endParaRPr lang="en-US" sz="1100" dirty="0"/>
          </a:p>
        </p:txBody>
      </p:sp>
      <p:sp>
        <p:nvSpPr>
          <p:cNvPr id="33" name="Shape 30"/>
          <p:cNvSpPr/>
          <p:nvPr/>
        </p:nvSpPr>
        <p:spPr>
          <a:xfrm>
            <a:off x="4480560" y="3547872"/>
            <a:ext cx="1828800" cy="475488"/>
          </a:xfrm>
          <a:prstGeom prst="rect">
            <a:avLst/>
          </a:prstGeom>
          <a:solidFill>
            <a:srgbClr val="0A1628"/>
          </a:solidFill>
          <a:ln w="25400">
            <a:solidFill>
              <a:srgbClr val="4FC3F7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4480560" y="3547872"/>
            <a:ext cx="54864" cy="475488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4590288" y="3547872"/>
            <a:ext cx="6583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4FC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BM</a:t>
            </a:r>
            <a:endParaRPr lang="en-US" sz="1100" dirty="0"/>
          </a:p>
        </p:txBody>
      </p:sp>
      <p:sp>
        <p:nvSpPr>
          <p:cNvPr id="36" name="Text 33"/>
          <p:cNvSpPr/>
          <p:nvPr/>
        </p:nvSpPr>
        <p:spPr>
          <a:xfrm>
            <a:off x="5230368" y="3547872"/>
            <a:ext cx="1005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Melayu</a:t>
            </a:r>
            <a:endParaRPr lang="en-US" sz="1100" dirty="0"/>
          </a:p>
        </p:txBody>
      </p:sp>
      <p:sp>
        <p:nvSpPr>
          <p:cNvPr id="37" name="Shape 34"/>
          <p:cNvSpPr/>
          <p:nvPr/>
        </p:nvSpPr>
        <p:spPr>
          <a:xfrm>
            <a:off x="365760" y="4187952"/>
            <a:ext cx="2286000" cy="502920"/>
          </a:xfrm>
          <a:prstGeom prst="rect">
            <a:avLst/>
          </a:prstGeom>
          <a:solidFill>
            <a:srgbClr val="00DCB4"/>
          </a:solidFill>
          <a:ln w="12700">
            <a:solidFill>
              <a:srgbClr val="00DCB4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38" name="Text 35"/>
          <p:cNvSpPr/>
          <p:nvPr/>
        </p:nvSpPr>
        <p:spPr>
          <a:xfrm>
            <a:off x="365760" y="4187952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80C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 Now →</a:t>
            </a:r>
            <a:endParaRPr lang="en-US" sz="1300" dirty="0"/>
          </a:p>
        </p:txBody>
      </p:sp>
      <p:pic>
        <p:nvPicPr>
          <p:cNvPr id="3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88920" y="4270248"/>
            <a:ext cx="201168" cy="201168"/>
          </a:xfrm>
          <a:prstGeom prst="rect">
            <a:avLst/>
          </a:prstGeom>
        </p:spPr>
      </p:pic>
      <p:sp>
        <p:nvSpPr>
          <p:cNvPr id="40" name="Text 36"/>
          <p:cNvSpPr/>
          <p:nvPr/>
        </p:nvSpPr>
        <p:spPr>
          <a:xfrm>
            <a:off x="3035808" y="4224528"/>
            <a:ext cx="2286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B4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Johor Bahru  •  Online</a:t>
            </a:r>
            <a:endParaRPr lang="en-US" sz="1100" dirty="0"/>
          </a:p>
        </p:txBody>
      </p:sp>
      <p:sp>
        <p:nvSpPr>
          <p:cNvPr id="41" name="Shape 37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30608"/>
          </a:solidFill>
          <a:ln w="12700">
            <a:solidFill>
              <a:srgbClr val="030608"/>
            </a:solidFill>
            <a:prstDash val="solid"/>
          </a:ln>
        </p:spPr>
      </p:sp>
      <p:sp>
        <p:nvSpPr>
          <p:cNvPr id="42" name="Shape 38"/>
          <p:cNvSpPr/>
          <p:nvPr/>
        </p:nvSpPr>
        <p:spPr>
          <a:xfrm>
            <a:off x="0" y="4800600"/>
            <a:ext cx="2011680" cy="34290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43" name="Text 39"/>
          <p:cNvSpPr/>
          <p:nvPr/>
        </p:nvSpPr>
        <p:spPr>
          <a:xfrm>
            <a:off x="182880" y="4809744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DC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codencode.my</a:t>
            </a:r>
            <a:endParaRPr lang="en-US" sz="900" dirty="0"/>
          </a:p>
        </p:txBody>
      </p:sp>
      <p:sp>
        <p:nvSpPr>
          <p:cNvPr id="44" name="Text 40"/>
          <p:cNvSpPr/>
          <p:nvPr/>
        </p:nvSpPr>
        <p:spPr>
          <a:xfrm>
            <a:off x="2194560" y="4809744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8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hello@codencode.my  |  +60 113 165 2854</a:t>
            </a:r>
            <a:endParaRPr lang="en-US" sz="800" dirty="0"/>
          </a:p>
        </p:txBody>
      </p:sp>
      <p:sp>
        <p:nvSpPr>
          <p:cNvPr id="45" name="Text 41"/>
          <p:cNvSpPr/>
          <p:nvPr/>
        </p:nvSpPr>
        <p:spPr>
          <a:xfrm>
            <a:off x="6766560" y="4809744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i="1" spc="100" kern="0" dirty="0">
                <a:solidFill>
                  <a:srgbClr val="A0B4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 • BUILD • ENCODE</a:t>
            </a: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80C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DCB4"/>
          </a:solidFill>
          <a:ln w="12700">
            <a:solidFill>
              <a:srgbClr val="00DCB4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164592"/>
            <a:ext cx="1554480" cy="43891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20040" y="749808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 Teach in Your Language</a:t>
            </a:r>
            <a:endParaRPr lang="en-US" sz="3400" dirty="0"/>
          </a:p>
        </p:txBody>
      </p:sp>
      <p:sp>
        <p:nvSpPr>
          <p:cNvPr id="5" name="Text 2"/>
          <p:cNvSpPr/>
          <p:nvPr/>
        </p:nvSpPr>
        <p:spPr>
          <a:xfrm>
            <a:off x="320040" y="1389888"/>
            <a:ext cx="8503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0B4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separate class tracks. Pick the one where you think, learn, and ask questions best.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274320" y="1810512"/>
            <a:ext cx="2743200" cy="2852928"/>
          </a:xfrm>
          <a:prstGeom prst="rect">
            <a:avLst/>
          </a:prstGeom>
          <a:solidFill>
            <a:srgbClr val="0D1A2E"/>
          </a:solidFill>
          <a:ln w="25400">
            <a:solidFill>
              <a:srgbClr val="00DCB4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274320" y="1810512"/>
            <a:ext cx="2743200" cy="621792"/>
          </a:xfrm>
          <a:prstGeom prst="rect">
            <a:avLst/>
          </a:prstGeom>
          <a:solidFill>
            <a:srgbClr val="004D3E"/>
          </a:solidFill>
          <a:ln w="12700">
            <a:solidFill>
              <a:srgbClr val="004D3E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274320" y="1810512"/>
            <a:ext cx="2743200" cy="54864"/>
          </a:xfrm>
          <a:prstGeom prst="rect">
            <a:avLst/>
          </a:prstGeom>
          <a:solidFill>
            <a:srgbClr val="00DCB4"/>
          </a:solidFill>
          <a:ln w="12700">
            <a:solidFill>
              <a:srgbClr val="00DCB4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11480" y="1920240"/>
            <a:ext cx="685800" cy="347472"/>
          </a:xfrm>
          <a:prstGeom prst="rect">
            <a:avLst/>
          </a:prstGeom>
          <a:solidFill>
            <a:srgbClr val="00DCB4"/>
          </a:solidFill>
          <a:ln w="12700">
            <a:solidFill>
              <a:srgbClr val="00DCB4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11480" y="1920240"/>
            <a:ext cx="685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80C1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1170432" y="1901952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English Track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1170432" y="2258568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00DC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英文班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411480" y="2542032"/>
            <a:ext cx="2468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0B4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Instruction, slides, assignments and support fully in English. Ideal for international school students and English-medium learners.</a:t>
            </a:r>
            <a:endParaRPr lang="en-US" sz="1050" dirty="0"/>
          </a:p>
        </p:txBody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3584448"/>
            <a:ext cx="182880" cy="18288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658368" y="3566160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Syllabus in your language</a:t>
            </a:r>
            <a:endParaRPr lang="en-US" sz="950" dirty="0"/>
          </a:p>
        </p:txBody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3849624"/>
            <a:ext cx="182880" cy="18288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58368" y="3831336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Native-language instructor</a:t>
            </a:r>
            <a:endParaRPr lang="en-US" sz="950" dirty="0"/>
          </a:p>
        </p:txBody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480" y="4114800"/>
            <a:ext cx="182880" cy="18288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658368" y="4096512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WhatsApp support group</a:t>
            </a:r>
            <a:endParaRPr lang="en-US" sz="950" dirty="0"/>
          </a:p>
        </p:txBody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1480" y="4379976"/>
            <a:ext cx="182880" cy="18288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658368" y="4361688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Certificate (bilingual)</a:t>
            </a:r>
            <a:endParaRPr lang="en-US" sz="950" dirty="0"/>
          </a:p>
        </p:txBody>
      </p:sp>
      <p:sp>
        <p:nvSpPr>
          <p:cNvPr id="22" name="Shape 15"/>
          <p:cNvSpPr/>
          <p:nvPr/>
        </p:nvSpPr>
        <p:spPr>
          <a:xfrm>
            <a:off x="3246120" y="1810512"/>
            <a:ext cx="2743200" cy="2852928"/>
          </a:xfrm>
          <a:prstGeom prst="rect">
            <a:avLst/>
          </a:prstGeom>
          <a:solidFill>
            <a:srgbClr val="0D1A2E"/>
          </a:solidFill>
          <a:ln w="25400">
            <a:solidFill>
              <a:srgbClr val="F5C842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23" name="Shape 16"/>
          <p:cNvSpPr/>
          <p:nvPr/>
        </p:nvSpPr>
        <p:spPr>
          <a:xfrm>
            <a:off x="3246120" y="1810512"/>
            <a:ext cx="2743200" cy="621792"/>
          </a:xfrm>
          <a:prstGeom prst="rect">
            <a:avLst/>
          </a:prstGeom>
          <a:solidFill>
            <a:srgbClr val="5A4400"/>
          </a:solidFill>
          <a:ln w="12700">
            <a:solidFill>
              <a:srgbClr val="5A4400"/>
            </a:solidFill>
            <a:prstDash val="solid"/>
          </a:ln>
        </p:spPr>
      </p:sp>
      <p:sp>
        <p:nvSpPr>
          <p:cNvPr id="24" name="Shape 17"/>
          <p:cNvSpPr/>
          <p:nvPr/>
        </p:nvSpPr>
        <p:spPr>
          <a:xfrm>
            <a:off x="3246120" y="1810512"/>
            <a:ext cx="2743200" cy="54864"/>
          </a:xfrm>
          <a:prstGeom prst="rect">
            <a:avLst/>
          </a:prstGeom>
          <a:solidFill>
            <a:srgbClr val="F5C842"/>
          </a:solidFill>
          <a:ln w="12700">
            <a:solidFill>
              <a:srgbClr val="F5C842"/>
            </a:solidFill>
            <a:prstDash val="solid"/>
          </a:ln>
        </p:spPr>
      </p:sp>
      <p:sp>
        <p:nvSpPr>
          <p:cNvPr id="25" name="Shape 18"/>
          <p:cNvSpPr/>
          <p:nvPr/>
        </p:nvSpPr>
        <p:spPr>
          <a:xfrm>
            <a:off x="3383280" y="1920240"/>
            <a:ext cx="685800" cy="347472"/>
          </a:xfrm>
          <a:prstGeom prst="rect">
            <a:avLst/>
          </a:prstGeom>
          <a:solidFill>
            <a:srgbClr val="F5C842"/>
          </a:solidFill>
          <a:ln w="12700">
            <a:solidFill>
              <a:srgbClr val="F5C842"/>
            </a:solidFill>
            <a:prstDash val="solid"/>
          </a:ln>
        </p:spPr>
      </p:sp>
      <p:sp>
        <p:nvSpPr>
          <p:cNvPr id="26" name="Text 19"/>
          <p:cNvSpPr/>
          <p:nvPr/>
        </p:nvSpPr>
        <p:spPr>
          <a:xfrm>
            <a:off x="3383280" y="1920240"/>
            <a:ext cx="685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80C1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中文</a:t>
            </a:r>
            <a:endParaRPr lang="en-US" sz="1300" dirty="0"/>
          </a:p>
        </p:txBody>
      </p:sp>
      <p:sp>
        <p:nvSpPr>
          <p:cNvPr id="27" name="Text 20"/>
          <p:cNvSpPr/>
          <p:nvPr/>
        </p:nvSpPr>
        <p:spPr>
          <a:xfrm>
            <a:off x="4142232" y="1901952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华语班</a:t>
            </a:r>
            <a:endParaRPr lang="en-US" sz="1400" dirty="0"/>
          </a:p>
        </p:txBody>
      </p:sp>
      <p:sp>
        <p:nvSpPr>
          <p:cNvPr id="28" name="Text 21"/>
          <p:cNvSpPr/>
          <p:nvPr/>
        </p:nvSpPr>
        <p:spPr>
          <a:xfrm>
            <a:off x="4142232" y="2258568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F5C8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Mandarin Track</a:t>
            </a:r>
            <a:endParaRPr lang="en-US" sz="900" dirty="0"/>
          </a:p>
        </p:txBody>
      </p:sp>
      <p:sp>
        <p:nvSpPr>
          <p:cNvPr id="29" name="Text 22"/>
          <p:cNvSpPr/>
          <p:nvPr/>
        </p:nvSpPr>
        <p:spPr>
          <a:xfrm>
            <a:off x="3383280" y="2542032"/>
            <a:ext cx="2468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0B4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全程华语教学，包括课件、作业和讨论。适合华小或独中背景的同学。</a:t>
            </a:r>
            <a:endParaRPr lang="en-US" sz="1050" dirty="0"/>
          </a:p>
        </p:txBody>
      </p:sp>
      <p:pic>
        <p:nvPicPr>
          <p:cNvPr id="3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83280" y="3584448"/>
            <a:ext cx="182880" cy="182880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3630168" y="3566160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Syllabus in your language</a:t>
            </a:r>
            <a:endParaRPr lang="en-US" sz="950" dirty="0"/>
          </a:p>
        </p:txBody>
      </p:sp>
      <p:pic>
        <p:nvPicPr>
          <p:cNvPr id="32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83280" y="3849624"/>
            <a:ext cx="182880" cy="182880"/>
          </a:xfrm>
          <a:prstGeom prst="rect">
            <a:avLst/>
          </a:prstGeom>
        </p:spPr>
      </p:pic>
      <p:sp>
        <p:nvSpPr>
          <p:cNvPr id="33" name="Text 24"/>
          <p:cNvSpPr/>
          <p:nvPr/>
        </p:nvSpPr>
        <p:spPr>
          <a:xfrm>
            <a:off x="3630168" y="3831336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Native-language instructor</a:t>
            </a:r>
            <a:endParaRPr lang="en-US" sz="950" dirty="0"/>
          </a:p>
        </p:txBody>
      </p:sp>
      <p:pic>
        <p:nvPicPr>
          <p:cNvPr id="34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383280" y="4114800"/>
            <a:ext cx="182880" cy="182880"/>
          </a:xfrm>
          <a:prstGeom prst="rect">
            <a:avLst/>
          </a:prstGeom>
        </p:spPr>
      </p:pic>
      <p:sp>
        <p:nvSpPr>
          <p:cNvPr id="35" name="Text 25"/>
          <p:cNvSpPr/>
          <p:nvPr/>
        </p:nvSpPr>
        <p:spPr>
          <a:xfrm>
            <a:off x="3630168" y="4096512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WhatsApp support group</a:t>
            </a:r>
            <a:endParaRPr lang="en-US" sz="950" dirty="0"/>
          </a:p>
        </p:txBody>
      </p:sp>
      <p:pic>
        <p:nvPicPr>
          <p:cNvPr id="36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383280" y="4379976"/>
            <a:ext cx="182880" cy="182880"/>
          </a:xfrm>
          <a:prstGeom prst="rect">
            <a:avLst/>
          </a:prstGeom>
        </p:spPr>
      </p:pic>
      <p:sp>
        <p:nvSpPr>
          <p:cNvPr id="37" name="Text 26"/>
          <p:cNvSpPr/>
          <p:nvPr/>
        </p:nvSpPr>
        <p:spPr>
          <a:xfrm>
            <a:off x="3630168" y="4361688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Certificate (bilingual)</a:t>
            </a:r>
            <a:endParaRPr lang="en-US" sz="950" dirty="0"/>
          </a:p>
        </p:txBody>
      </p:sp>
      <p:sp>
        <p:nvSpPr>
          <p:cNvPr id="38" name="Shape 27"/>
          <p:cNvSpPr/>
          <p:nvPr/>
        </p:nvSpPr>
        <p:spPr>
          <a:xfrm>
            <a:off x="6217920" y="1810512"/>
            <a:ext cx="2743200" cy="2852928"/>
          </a:xfrm>
          <a:prstGeom prst="rect">
            <a:avLst/>
          </a:prstGeom>
          <a:solidFill>
            <a:srgbClr val="0D1A2E"/>
          </a:solidFill>
          <a:ln w="25400">
            <a:solidFill>
              <a:srgbClr val="4FC3F7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39" name="Shape 28"/>
          <p:cNvSpPr/>
          <p:nvPr/>
        </p:nvSpPr>
        <p:spPr>
          <a:xfrm>
            <a:off x="6217920" y="1810512"/>
            <a:ext cx="2743200" cy="621792"/>
          </a:xfrm>
          <a:prstGeom prst="rect">
            <a:avLst/>
          </a:prstGeom>
          <a:solidFill>
            <a:srgbClr val="0D3A52"/>
          </a:solidFill>
          <a:ln w="12700">
            <a:solidFill>
              <a:srgbClr val="0D3A52"/>
            </a:solidFill>
            <a:prstDash val="solid"/>
          </a:ln>
        </p:spPr>
      </p:sp>
      <p:sp>
        <p:nvSpPr>
          <p:cNvPr id="40" name="Shape 29"/>
          <p:cNvSpPr/>
          <p:nvPr/>
        </p:nvSpPr>
        <p:spPr>
          <a:xfrm>
            <a:off x="6217920" y="1810512"/>
            <a:ext cx="2743200" cy="54864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41" name="Shape 30"/>
          <p:cNvSpPr/>
          <p:nvPr/>
        </p:nvSpPr>
        <p:spPr>
          <a:xfrm>
            <a:off x="6355080" y="1920240"/>
            <a:ext cx="685800" cy="347472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42" name="Text 31"/>
          <p:cNvSpPr/>
          <p:nvPr/>
        </p:nvSpPr>
        <p:spPr>
          <a:xfrm>
            <a:off x="6355080" y="1920240"/>
            <a:ext cx="685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80C1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BM</a:t>
            </a:r>
            <a:endParaRPr lang="en-US" sz="1300" dirty="0"/>
          </a:p>
        </p:txBody>
      </p:sp>
      <p:sp>
        <p:nvSpPr>
          <p:cNvPr id="43" name="Text 32"/>
          <p:cNvSpPr/>
          <p:nvPr/>
        </p:nvSpPr>
        <p:spPr>
          <a:xfrm>
            <a:off x="7114032" y="1901952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Kelas BM</a:t>
            </a:r>
            <a:endParaRPr lang="en-US" sz="1400" dirty="0"/>
          </a:p>
        </p:txBody>
      </p:sp>
      <p:sp>
        <p:nvSpPr>
          <p:cNvPr id="44" name="Text 33"/>
          <p:cNvSpPr/>
          <p:nvPr/>
        </p:nvSpPr>
        <p:spPr>
          <a:xfrm>
            <a:off x="7114032" y="2258568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4FC3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Bahasa Melayu</a:t>
            </a:r>
            <a:endParaRPr lang="en-US" sz="900" dirty="0"/>
          </a:p>
        </p:txBody>
      </p:sp>
      <p:sp>
        <p:nvSpPr>
          <p:cNvPr id="45" name="Text 34"/>
          <p:cNvSpPr/>
          <p:nvPr/>
        </p:nvSpPr>
        <p:spPr>
          <a:xfrm>
            <a:off x="6355080" y="2542032"/>
            <a:ext cx="2468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0B4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Pengajaran, nota, tugasan dan sokongan sepenuhnya dalam BM. Sesuai untuk pelajar sekolah kebangsaan.</a:t>
            </a:r>
            <a:endParaRPr lang="en-US" sz="1050" dirty="0"/>
          </a:p>
        </p:txBody>
      </p:sp>
      <p:pic>
        <p:nvPicPr>
          <p:cNvPr id="46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355080" y="3584448"/>
            <a:ext cx="182880" cy="182880"/>
          </a:xfrm>
          <a:prstGeom prst="rect">
            <a:avLst/>
          </a:prstGeom>
        </p:spPr>
      </p:pic>
      <p:sp>
        <p:nvSpPr>
          <p:cNvPr id="47" name="Text 35"/>
          <p:cNvSpPr/>
          <p:nvPr/>
        </p:nvSpPr>
        <p:spPr>
          <a:xfrm>
            <a:off x="6601968" y="3566160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Syllabus in your language</a:t>
            </a:r>
            <a:endParaRPr lang="en-US" sz="950" dirty="0"/>
          </a:p>
        </p:txBody>
      </p:sp>
      <p:pic>
        <p:nvPicPr>
          <p:cNvPr id="48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355080" y="3849624"/>
            <a:ext cx="182880" cy="182880"/>
          </a:xfrm>
          <a:prstGeom prst="rect">
            <a:avLst/>
          </a:prstGeom>
        </p:spPr>
      </p:pic>
      <p:sp>
        <p:nvSpPr>
          <p:cNvPr id="49" name="Text 36"/>
          <p:cNvSpPr/>
          <p:nvPr/>
        </p:nvSpPr>
        <p:spPr>
          <a:xfrm>
            <a:off x="6601968" y="3831336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Native-language instructor</a:t>
            </a:r>
            <a:endParaRPr lang="en-US" sz="950" dirty="0"/>
          </a:p>
        </p:txBody>
      </p:sp>
      <p:pic>
        <p:nvPicPr>
          <p:cNvPr id="50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355080" y="4114800"/>
            <a:ext cx="182880" cy="182880"/>
          </a:xfrm>
          <a:prstGeom prst="rect">
            <a:avLst/>
          </a:prstGeom>
        </p:spPr>
      </p:pic>
      <p:sp>
        <p:nvSpPr>
          <p:cNvPr id="51" name="Text 37"/>
          <p:cNvSpPr/>
          <p:nvPr/>
        </p:nvSpPr>
        <p:spPr>
          <a:xfrm>
            <a:off x="6601968" y="4096512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WhatsApp support group</a:t>
            </a:r>
            <a:endParaRPr lang="en-US" sz="950" dirty="0"/>
          </a:p>
        </p:txBody>
      </p:sp>
      <p:pic>
        <p:nvPicPr>
          <p:cNvPr id="52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355080" y="4379976"/>
            <a:ext cx="182880" cy="182880"/>
          </a:xfrm>
          <a:prstGeom prst="rect">
            <a:avLst/>
          </a:prstGeom>
        </p:spPr>
      </p:pic>
      <p:sp>
        <p:nvSpPr>
          <p:cNvPr id="53" name="Text 38"/>
          <p:cNvSpPr/>
          <p:nvPr/>
        </p:nvSpPr>
        <p:spPr>
          <a:xfrm>
            <a:off x="6601968" y="4361688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Certificate (bilingual)</a:t>
            </a:r>
            <a:endParaRPr lang="en-US" sz="950" dirty="0"/>
          </a:p>
        </p:txBody>
      </p:sp>
      <p:sp>
        <p:nvSpPr>
          <p:cNvPr id="54" name="Shape 39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30608"/>
          </a:solidFill>
          <a:ln w="12700">
            <a:solidFill>
              <a:srgbClr val="030608"/>
            </a:solidFill>
            <a:prstDash val="solid"/>
          </a:ln>
        </p:spPr>
      </p:sp>
      <p:sp>
        <p:nvSpPr>
          <p:cNvPr id="55" name="Shape 40"/>
          <p:cNvSpPr/>
          <p:nvPr/>
        </p:nvSpPr>
        <p:spPr>
          <a:xfrm>
            <a:off x="0" y="4800600"/>
            <a:ext cx="2011680" cy="34290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56" name="Text 41"/>
          <p:cNvSpPr/>
          <p:nvPr/>
        </p:nvSpPr>
        <p:spPr>
          <a:xfrm>
            <a:off x="182880" y="4809744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DC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codencode.my</a:t>
            </a:r>
            <a:endParaRPr lang="en-US" sz="900" dirty="0"/>
          </a:p>
        </p:txBody>
      </p:sp>
      <p:sp>
        <p:nvSpPr>
          <p:cNvPr id="57" name="Text 42"/>
          <p:cNvSpPr/>
          <p:nvPr/>
        </p:nvSpPr>
        <p:spPr>
          <a:xfrm>
            <a:off x="2194560" y="4809744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8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hello@codencode.my  |  +60 113 165 2854</a:t>
            </a:r>
            <a:endParaRPr lang="en-US" sz="800" dirty="0"/>
          </a:p>
        </p:txBody>
      </p:sp>
      <p:sp>
        <p:nvSpPr>
          <p:cNvPr id="58" name="Text 43"/>
          <p:cNvSpPr/>
          <p:nvPr/>
        </p:nvSpPr>
        <p:spPr>
          <a:xfrm>
            <a:off x="6766560" y="4809744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i="1" spc="100" kern="0" dirty="0">
                <a:solidFill>
                  <a:srgbClr val="A0B4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 • BUILD • ENCODE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80C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DCB4"/>
          </a:solidFill>
          <a:ln w="12700">
            <a:solidFill>
              <a:srgbClr val="00DCB4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164592"/>
            <a:ext cx="1554480" cy="43891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20040" y="749808"/>
            <a:ext cx="8503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Our Courses</a:t>
            </a:r>
            <a:endParaRPr lang="en-US" sz="3400" dirty="0"/>
          </a:p>
        </p:txBody>
      </p:sp>
      <p:sp>
        <p:nvSpPr>
          <p:cNvPr id="5" name="Text 2"/>
          <p:cNvSpPr/>
          <p:nvPr/>
        </p:nvSpPr>
        <p:spPr>
          <a:xfrm>
            <a:off x="320040" y="1344168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DC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Each course runs as three separate language tracks — EN  •  中文  •  BM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274320" y="1719072"/>
            <a:ext cx="4069080" cy="2999232"/>
          </a:xfrm>
          <a:prstGeom prst="rect">
            <a:avLst/>
          </a:prstGeom>
          <a:solidFill>
            <a:srgbClr val="0D1A2E"/>
          </a:solidFill>
          <a:ln w="12700">
            <a:solidFill>
              <a:srgbClr val="1A3A6B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274320" y="1719072"/>
            <a:ext cx="4069080" cy="54864"/>
          </a:xfrm>
          <a:prstGeom prst="rect">
            <a:avLst/>
          </a:prstGeom>
          <a:solidFill>
            <a:srgbClr val="00DCB4"/>
          </a:solidFill>
          <a:ln w="12700">
            <a:solidFill>
              <a:srgbClr val="00DCB4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847088"/>
            <a:ext cx="457200" cy="4572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051560" y="182880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Python for Beginners</a:t>
            </a:r>
            <a:endParaRPr lang="en-US" sz="1600" dirty="0"/>
          </a:p>
        </p:txBody>
      </p:sp>
      <p:sp>
        <p:nvSpPr>
          <p:cNvPr id="10" name="Shape 6"/>
          <p:cNvSpPr/>
          <p:nvPr/>
        </p:nvSpPr>
        <p:spPr>
          <a:xfrm>
            <a:off x="411480" y="2423160"/>
            <a:ext cx="658368" cy="256032"/>
          </a:xfrm>
          <a:prstGeom prst="rect">
            <a:avLst/>
          </a:prstGeom>
          <a:solidFill>
            <a:srgbClr val="00DCB4"/>
          </a:solidFill>
          <a:ln w="12700">
            <a:solidFill>
              <a:srgbClr val="00DCB4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411480" y="2423160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80C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WEEKS</a:t>
            </a:r>
            <a:endParaRPr lang="en-US" sz="750" dirty="0"/>
          </a:p>
        </p:txBody>
      </p:sp>
      <p:sp>
        <p:nvSpPr>
          <p:cNvPr id="12" name="Shape 8"/>
          <p:cNvSpPr/>
          <p:nvPr/>
        </p:nvSpPr>
        <p:spPr>
          <a:xfrm>
            <a:off x="1170432" y="2423160"/>
            <a:ext cx="475488" cy="256032"/>
          </a:xfrm>
          <a:prstGeom prst="rect">
            <a:avLst/>
          </a:prstGeom>
          <a:solidFill>
            <a:srgbClr val="0A1628"/>
          </a:solidFill>
          <a:ln w="12700">
            <a:solidFill>
              <a:srgbClr val="00DCB4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1170432" y="2423160"/>
            <a:ext cx="4754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DC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</a:t>
            </a:r>
            <a:endParaRPr lang="en-US" sz="800" dirty="0"/>
          </a:p>
        </p:txBody>
      </p:sp>
      <p:sp>
        <p:nvSpPr>
          <p:cNvPr id="14" name="Shape 10"/>
          <p:cNvSpPr/>
          <p:nvPr/>
        </p:nvSpPr>
        <p:spPr>
          <a:xfrm>
            <a:off x="1737360" y="2423160"/>
            <a:ext cx="475488" cy="256032"/>
          </a:xfrm>
          <a:prstGeom prst="rect">
            <a:avLst/>
          </a:prstGeom>
          <a:solidFill>
            <a:srgbClr val="0A1628"/>
          </a:solidFill>
          <a:ln w="12700">
            <a:solidFill>
              <a:srgbClr val="F5C842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1737360" y="2423160"/>
            <a:ext cx="4754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5C8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中</a:t>
            </a:r>
            <a:endParaRPr lang="en-US" sz="800" dirty="0"/>
          </a:p>
        </p:txBody>
      </p:sp>
      <p:sp>
        <p:nvSpPr>
          <p:cNvPr id="16" name="Shape 12"/>
          <p:cNvSpPr/>
          <p:nvPr/>
        </p:nvSpPr>
        <p:spPr>
          <a:xfrm>
            <a:off x="2304288" y="2423160"/>
            <a:ext cx="475488" cy="256032"/>
          </a:xfrm>
          <a:prstGeom prst="rect">
            <a:avLst/>
          </a:prstGeom>
          <a:solidFill>
            <a:srgbClr val="0A1628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2304288" y="2423160"/>
            <a:ext cx="4754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4FC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BM</a:t>
            </a:r>
            <a:endParaRPr lang="en-US" sz="800" dirty="0"/>
          </a:p>
        </p:txBody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2816352"/>
            <a:ext cx="182880" cy="18288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58368" y="278892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0B4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Variables, data types &amp; logic</a:t>
            </a:r>
            <a:endParaRPr lang="en-US" sz="1050" dirty="0"/>
          </a:p>
        </p:txBody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480" y="3154680"/>
            <a:ext cx="182880" cy="18288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658368" y="312724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0B4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Loops, functions &amp; structures</a:t>
            </a:r>
            <a:endParaRPr lang="en-US" sz="1050" dirty="0"/>
          </a:p>
        </p:txBody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1480" y="3493008"/>
            <a:ext cx="182880" cy="182880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658368" y="3465576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0B4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File handling &amp; error control</a:t>
            </a:r>
            <a:endParaRPr lang="en-US" sz="1050" dirty="0"/>
          </a:p>
        </p:txBody>
      </p:sp>
      <p:pic>
        <p:nvPicPr>
          <p:cNvPr id="2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1480" y="3831336"/>
            <a:ext cx="182880" cy="18288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658368" y="3803904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0B4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Mini-project: Contact Book App</a:t>
            </a:r>
            <a:endParaRPr lang="en-US" sz="1050" dirty="0"/>
          </a:p>
        </p:txBody>
      </p:sp>
      <p:pic>
        <p:nvPicPr>
          <p:cNvPr id="26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11480" y="4169664"/>
            <a:ext cx="182880" cy="182880"/>
          </a:xfrm>
          <a:prstGeom prst="rect">
            <a:avLst/>
          </a:prstGeom>
        </p:spPr>
      </p:pic>
      <p:sp>
        <p:nvSpPr>
          <p:cNvPr id="27" name="Text 18"/>
          <p:cNvSpPr/>
          <p:nvPr/>
        </p:nvSpPr>
        <p:spPr>
          <a:xfrm>
            <a:off x="658368" y="414223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5C8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🎓 Certificate on completion</a:t>
            </a:r>
            <a:endParaRPr lang="en-US" sz="1050" dirty="0"/>
          </a:p>
        </p:txBody>
      </p:sp>
      <p:sp>
        <p:nvSpPr>
          <p:cNvPr id="28" name="Text 19"/>
          <p:cNvSpPr/>
          <p:nvPr/>
        </p:nvSpPr>
        <p:spPr>
          <a:xfrm>
            <a:off x="411480" y="440740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DC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RM 750</a:t>
            </a:r>
            <a:endParaRPr lang="en-US" sz="1300" dirty="0"/>
          </a:p>
        </p:txBody>
      </p:sp>
      <p:sp>
        <p:nvSpPr>
          <p:cNvPr id="29" name="Text 20"/>
          <p:cNvSpPr/>
          <p:nvPr/>
        </p:nvSpPr>
        <p:spPr>
          <a:xfrm>
            <a:off x="2176272" y="4407408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8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/student (group)</a:t>
            </a:r>
            <a:endParaRPr lang="en-US" sz="900" dirty="0"/>
          </a:p>
        </p:txBody>
      </p:sp>
      <p:sp>
        <p:nvSpPr>
          <p:cNvPr id="30" name="Shape 21"/>
          <p:cNvSpPr/>
          <p:nvPr/>
        </p:nvSpPr>
        <p:spPr>
          <a:xfrm>
            <a:off x="4800600" y="1719072"/>
            <a:ext cx="4069080" cy="2999232"/>
          </a:xfrm>
          <a:prstGeom prst="rect">
            <a:avLst/>
          </a:prstGeom>
          <a:solidFill>
            <a:srgbClr val="0D1A2E"/>
          </a:solidFill>
          <a:ln w="12700">
            <a:solidFill>
              <a:srgbClr val="1A3A6B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31" name="Shape 22"/>
          <p:cNvSpPr/>
          <p:nvPr/>
        </p:nvSpPr>
        <p:spPr>
          <a:xfrm>
            <a:off x="4800600" y="1719072"/>
            <a:ext cx="406908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pic>
        <p:nvPicPr>
          <p:cNvPr id="32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029200" y="1847088"/>
            <a:ext cx="457200" cy="457200"/>
          </a:xfrm>
          <a:prstGeom prst="rect">
            <a:avLst/>
          </a:prstGeom>
        </p:spPr>
      </p:pic>
      <p:sp>
        <p:nvSpPr>
          <p:cNvPr id="33" name="Text 23"/>
          <p:cNvSpPr/>
          <p:nvPr/>
        </p:nvSpPr>
        <p:spPr>
          <a:xfrm>
            <a:off x="5577840" y="182880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ML Fundamentals</a:t>
            </a:r>
            <a:endParaRPr lang="en-US" sz="1600" dirty="0"/>
          </a:p>
        </p:txBody>
      </p:sp>
      <p:sp>
        <p:nvSpPr>
          <p:cNvPr id="34" name="Shape 24"/>
          <p:cNvSpPr/>
          <p:nvPr/>
        </p:nvSpPr>
        <p:spPr>
          <a:xfrm>
            <a:off x="4937760" y="2423160"/>
            <a:ext cx="749808" cy="25603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5" name="Text 25"/>
          <p:cNvSpPr/>
          <p:nvPr/>
        </p:nvSpPr>
        <p:spPr>
          <a:xfrm>
            <a:off x="4937760" y="2423160"/>
            <a:ext cx="749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WEEKS</a:t>
            </a:r>
            <a:endParaRPr lang="en-US" sz="750" dirty="0"/>
          </a:p>
        </p:txBody>
      </p:sp>
      <p:sp>
        <p:nvSpPr>
          <p:cNvPr id="36" name="Shape 26"/>
          <p:cNvSpPr/>
          <p:nvPr/>
        </p:nvSpPr>
        <p:spPr>
          <a:xfrm>
            <a:off x="5779008" y="2423160"/>
            <a:ext cx="1097280" cy="256032"/>
          </a:xfrm>
          <a:prstGeom prst="rect">
            <a:avLst/>
          </a:prstGeom>
          <a:solidFill>
            <a:srgbClr val="1A1A2E"/>
          </a:solidFill>
          <a:ln w="12700">
            <a:solidFill>
              <a:srgbClr val="F5C842"/>
            </a:solidFill>
            <a:prstDash val="solid"/>
          </a:ln>
        </p:spPr>
      </p:sp>
      <p:sp>
        <p:nvSpPr>
          <p:cNvPr id="37" name="Text 27"/>
          <p:cNvSpPr/>
          <p:nvPr/>
        </p:nvSpPr>
        <p:spPr>
          <a:xfrm>
            <a:off x="5779008" y="242316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5C8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req.</a:t>
            </a:r>
            <a:endParaRPr lang="en-US" sz="800" dirty="0"/>
          </a:p>
        </p:txBody>
      </p:sp>
      <p:sp>
        <p:nvSpPr>
          <p:cNvPr id="38" name="Shape 28"/>
          <p:cNvSpPr/>
          <p:nvPr/>
        </p:nvSpPr>
        <p:spPr>
          <a:xfrm>
            <a:off x="6995160" y="2423160"/>
            <a:ext cx="475488" cy="256032"/>
          </a:xfrm>
          <a:prstGeom prst="rect">
            <a:avLst/>
          </a:prstGeom>
          <a:solidFill>
            <a:srgbClr val="0A1628"/>
          </a:solidFill>
          <a:ln w="12700">
            <a:solidFill>
              <a:srgbClr val="00DCB4"/>
            </a:solidFill>
            <a:prstDash val="solid"/>
          </a:ln>
        </p:spPr>
      </p:sp>
      <p:sp>
        <p:nvSpPr>
          <p:cNvPr id="39" name="Text 29"/>
          <p:cNvSpPr/>
          <p:nvPr/>
        </p:nvSpPr>
        <p:spPr>
          <a:xfrm>
            <a:off x="6995160" y="2423160"/>
            <a:ext cx="4754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DC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</a:t>
            </a:r>
            <a:endParaRPr lang="en-US" sz="800" dirty="0"/>
          </a:p>
        </p:txBody>
      </p:sp>
      <p:sp>
        <p:nvSpPr>
          <p:cNvPr id="40" name="Shape 30"/>
          <p:cNvSpPr/>
          <p:nvPr/>
        </p:nvSpPr>
        <p:spPr>
          <a:xfrm>
            <a:off x="7562088" y="2423160"/>
            <a:ext cx="475488" cy="256032"/>
          </a:xfrm>
          <a:prstGeom prst="rect">
            <a:avLst/>
          </a:prstGeom>
          <a:solidFill>
            <a:srgbClr val="0A1628"/>
          </a:solidFill>
          <a:ln w="12700">
            <a:solidFill>
              <a:srgbClr val="F5C842"/>
            </a:solidFill>
            <a:prstDash val="solid"/>
          </a:ln>
        </p:spPr>
      </p:sp>
      <p:sp>
        <p:nvSpPr>
          <p:cNvPr id="41" name="Text 31"/>
          <p:cNvSpPr/>
          <p:nvPr/>
        </p:nvSpPr>
        <p:spPr>
          <a:xfrm>
            <a:off x="7562088" y="2423160"/>
            <a:ext cx="4754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5C8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中</a:t>
            </a:r>
            <a:endParaRPr lang="en-US" sz="800" dirty="0"/>
          </a:p>
        </p:txBody>
      </p:sp>
      <p:sp>
        <p:nvSpPr>
          <p:cNvPr id="42" name="Shape 32"/>
          <p:cNvSpPr/>
          <p:nvPr/>
        </p:nvSpPr>
        <p:spPr>
          <a:xfrm>
            <a:off x="8129016" y="2423160"/>
            <a:ext cx="475488" cy="256032"/>
          </a:xfrm>
          <a:prstGeom prst="rect">
            <a:avLst/>
          </a:prstGeom>
          <a:solidFill>
            <a:srgbClr val="0A1628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43" name="Text 33"/>
          <p:cNvSpPr/>
          <p:nvPr/>
        </p:nvSpPr>
        <p:spPr>
          <a:xfrm>
            <a:off x="8129016" y="2423160"/>
            <a:ext cx="4754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4FC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BM</a:t>
            </a:r>
            <a:endParaRPr lang="en-US" sz="800" dirty="0"/>
          </a:p>
        </p:txBody>
      </p:sp>
      <p:pic>
        <p:nvPicPr>
          <p:cNvPr id="44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937760" y="2816352"/>
            <a:ext cx="182880" cy="182880"/>
          </a:xfrm>
          <a:prstGeom prst="rect">
            <a:avLst/>
          </a:prstGeom>
        </p:spPr>
      </p:pic>
      <p:sp>
        <p:nvSpPr>
          <p:cNvPr id="45" name="Text 34"/>
          <p:cNvSpPr/>
          <p:nvPr/>
        </p:nvSpPr>
        <p:spPr>
          <a:xfrm>
            <a:off x="5193792" y="278892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0B4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AI, ML &amp; Deep Learning</a:t>
            </a:r>
            <a:endParaRPr lang="en-US" sz="1050" dirty="0"/>
          </a:p>
        </p:txBody>
      </p:sp>
      <p:pic>
        <p:nvPicPr>
          <p:cNvPr id="46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937760" y="3154680"/>
            <a:ext cx="182880" cy="182880"/>
          </a:xfrm>
          <a:prstGeom prst="rect">
            <a:avLst/>
          </a:prstGeom>
        </p:spPr>
      </p:pic>
      <p:sp>
        <p:nvSpPr>
          <p:cNvPr id="47" name="Text 35"/>
          <p:cNvSpPr/>
          <p:nvPr/>
        </p:nvSpPr>
        <p:spPr>
          <a:xfrm>
            <a:off x="5193792" y="312724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0B4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NumPy, Pandas &amp; data analysis</a:t>
            </a:r>
            <a:endParaRPr lang="en-US" sz="1050" dirty="0"/>
          </a:p>
        </p:txBody>
      </p:sp>
      <p:pic>
        <p:nvPicPr>
          <p:cNvPr id="48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937760" y="3493008"/>
            <a:ext cx="182880" cy="182880"/>
          </a:xfrm>
          <a:prstGeom prst="rect">
            <a:avLst/>
          </a:prstGeom>
        </p:spPr>
      </p:pic>
      <p:sp>
        <p:nvSpPr>
          <p:cNvPr id="49" name="Text 36"/>
          <p:cNvSpPr/>
          <p:nvPr/>
        </p:nvSpPr>
        <p:spPr>
          <a:xfrm>
            <a:off x="5193792" y="3465576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0B4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Regression &amp; classification models</a:t>
            </a:r>
            <a:endParaRPr lang="en-US" sz="1050" dirty="0"/>
          </a:p>
        </p:txBody>
      </p:sp>
      <p:pic>
        <p:nvPicPr>
          <p:cNvPr id="50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937760" y="3831336"/>
            <a:ext cx="182880" cy="182880"/>
          </a:xfrm>
          <a:prstGeom prst="rect">
            <a:avLst/>
          </a:prstGeom>
        </p:spPr>
      </p:pic>
      <p:sp>
        <p:nvSpPr>
          <p:cNvPr id="51" name="Text 37"/>
          <p:cNvSpPr/>
          <p:nvPr/>
        </p:nvSpPr>
        <p:spPr>
          <a:xfrm>
            <a:off x="5193792" y="3803904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0B4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Neural networks with Keras</a:t>
            </a:r>
            <a:endParaRPr lang="en-US" sz="1050" dirty="0"/>
          </a:p>
        </p:txBody>
      </p:sp>
      <p:pic>
        <p:nvPicPr>
          <p:cNvPr id="52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937760" y="4169664"/>
            <a:ext cx="182880" cy="182880"/>
          </a:xfrm>
          <a:prstGeom prst="rect">
            <a:avLst/>
          </a:prstGeom>
        </p:spPr>
      </p:pic>
      <p:sp>
        <p:nvSpPr>
          <p:cNvPr id="53" name="Text 38"/>
          <p:cNvSpPr/>
          <p:nvPr/>
        </p:nvSpPr>
        <p:spPr>
          <a:xfrm>
            <a:off x="5193792" y="414223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5C8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🎓 Final project + Certificate</a:t>
            </a:r>
            <a:endParaRPr lang="en-US" sz="1050" dirty="0"/>
          </a:p>
        </p:txBody>
      </p:sp>
      <p:sp>
        <p:nvSpPr>
          <p:cNvPr id="54" name="Text 39"/>
          <p:cNvSpPr/>
          <p:nvPr/>
        </p:nvSpPr>
        <p:spPr>
          <a:xfrm>
            <a:off x="4937760" y="4407408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RM 1,000</a:t>
            </a:r>
            <a:endParaRPr lang="en-US" sz="1300" dirty="0"/>
          </a:p>
        </p:txBody>
      </p:sp>
      <p:sp>
        <p:nvSpPr>
          <p:cNvPr id="55" name="Text 40"/>
          <p:cNvSpPr/>
          <p:nvPr/>
        </p:nvSpPr>
        <p:spPr>
          <a:xfrm>
            <a:off x="6839712" y="4407408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8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/student (group)</a:t>
            </a:r>
            <a:endParaRPr lang="en-US" sz="900" dirty="0"/>
          </a:p>
        </p:txBody>
      </p:sp>
      <p:sp>
        <p:nvSpPr>
          <p:cNvPr id="56" name="Shape 41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30608"/>
          </a:solidFill>
          <a:ln w="12700">
            <a:solidFill>
              <a:srgbClr val="030608"/>
            </a:solidFill>
            <a:prstDash val="solid"/>
          </a:ln>
        </p:spPr>
      </p:sp>
      <p:sp>
        <p:nvSpPr>
          <p:cNvPr id="57" name="Shape 42"/>
          <p:cNvSpPr/>
          <p:nvPr/>
        </p:nvSpPr>
        <p:spPr>
          <a:xfrm>
            <a:off x="0" y="4800600"/>
            <a:ext cx="2011680" cy="34290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58" name="Text 43"/>
          <p:cNvSpPr/>
          <p:nvPr/>
        </p:nvSpPr>
        <p:spPr>
          <a:xfrm>
            <a:off x="182880" y="4809744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DC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codencode.my</a:t>
            </a:r>
            <a:endParaRPr lang="en-US" sz="900" dirty="0"/>
          </a:p>
        </p:txBody>
      </p:sp>
      <p:sp>
        <p:nvSpPr>
          <p:cNvPr id="59" name="Text 44"/>
          <p:cNvSpPr/>
          <p:nvPr/>
        </p:nvSpPr>
        <p:spPr>
          <a:xfrm>
            <a:off x="2194560" y="4809744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8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hello@codencode.my  |  +60 113 165 2854</a:t>
            </a:r>
            <a:endParaRPr lang="en-US" sz="800" dirty="0"/>
          </a:p>
        </p:txBody>
      </p:sp>
      <p:sp>
        <p:nvSpPr>
          <p:cNvPr id="60" name="Text 45"/>
          <p:cNvSpPr/>
          <p:nvPr/>
        </p:nvSpPr>
        <p:spPr>
          <a:xfrm>
            <a:off x="6766560" y="4809744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i="1" spc="100" kern="0" dirty="0">
                <a:solidFill>
                  <a:srgbClr val="A0B4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 • BUILD • ENCODE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80C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DCB4"/>
          </a:solidFill>
          <a:ln w="12700">
            <a:solidFill>
              <a:srgbClr val="00DCB4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164592"/>
            <a:ext cx="1554480" cy="43891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20040" y="749808"/>
            <a:ext cx="8503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2026 Cohort Schedule</a:t>
            </a:r>
            <a:endParaRPr lang="en-US" sz="3400" dirty="0"/>
          </a:p>
        </p:txBody>
      </p:sp>
      <p:sp>
        <p:nvSpPr>
          <p:cNvPr id="5" name="Text 2"/>
          <p:cNvSpPr/>
          <p:nvPr/>
        </p:nvSpPr>
        <p:spPr>
          <a:xfrm>
            <a:off x="320040" y="1344168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8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Saturdays 10–12pm  •  2 cohorts per year  •  Available in all 3 language tracks each cohort</a:t>
            </a:r>
            <a:endParaRPr lang="en-US" sz="1050" dirty="0"/>
          </a:p>
        </p:txBody>
      </p:sp>
      <p:sp>
        <p:nvSpPr>
          <p:cNvPr id="6" name="Shape 3"/>
          <p:cNvSpPr/>
          <p:nvPr/>
        </p:nvSpPr>
        <p:spPr>
          <a:xfrm>
            <a:off x="274320" y="1719072"/>
            <a:ext cx="8595360" cy="36576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274320" y="1719072"/>
            <a:ext cx="960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371600" y="1719072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Course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3840480" y="1719072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Dates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5029200" y="1719072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Duration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6172200" y="1719072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Language Tracks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7543800" y="1719072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Price (Group)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274320" y="2176272"/>
            <a:ext cx="8595360" cy="804672"/>
          </a:xfrm>
          <a:prstGeom prst="rect">
            <a:avLst/>
          </a:prstGeom>
          <a:solidFill>
            <a:srgbClr val="0D1A2E"/>
          </a:solidFill>
          <a:ln w="12700">
            <a:solidFill>
              <a:srgbClr val="00DCB4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274320" y="2176272"/>
            <a:ext cx="64008" cy="804672"/>
          </a:xfrm>
          <a:prstGeom prst="rect">
            <a:avLst/>
          </a:prstGeom>
          <a:solidFill>
            <a:srgbClr val="00DCB4"/>
          </a:solidFill>
          <a:ln w="12700">
            <a:solidFill>
              <a:srgbClr val="00DCB4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20040" y="2176272"/>
            <a:ext cx="9144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DC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C1</a:t>
            </a:r>
            <a:endParaRPr lang="en-US" sz="2000" dirty="0"/>
          </a:p>
        </p:txBody>
      </p:sp>
      <p:sp>
        <p:nvSpPr>
          <p:cNvPr id="16" name="Text 13"/>
          <p:cNvSpPr/>
          <p:nvPr/>
        </p:nvSpPr>
        <p:spPr>
          <a:xfrm>
            <a:off x="1371600" y="2249424"/>
            <a:ext cx="2286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🐍 Python for Beginners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3840480" y="2176272"/>
            <a:ext cx="107899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B4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 Apr –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A0B4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16 May 2026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5029200" y="2176272"/>
            <a:ext cx="10515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weeks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6199632" y="2423160"/>
            <a:ext cx="329184" cy="310896"/>
          </a:xfrm>
          <a:prstGeom prst="rect">
            <a:avLst/>
          </a:prstGeom>
          <a:solidFill>
            <a:srgbClr val="0A1628"/>
          </a:solidFill>
          <a:ln w="12700">
            <a:solidFill>
              <a:srgbClr val="00DCB4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199632" y="2423160"/>
            <a:ext cx="329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DC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</a:t>
            </a:r>
            <a:endParaRPr lang="en-US" sz="850" dirty="0"/>
          </a:p>
        </p:txBody>
      </p:sp>
      <p:sp>
        <p:nvSpPr>
          <p:cNvPr id="21" name="Shape 18"/>
          <p:cNvSpPr/>
          <p:nvPr/>
        </p:nvSpPr>
        <p:spPr>
          <a:xfrm>
            <a:off x="6601968" y="2423160"/>
            <a:ext cx="329184" cy="310896"/>
          </a:xfrm>
          <a:prstGeom prst="rect">
            <a:avLst/>
          </a:prstGeom>
          <a:solidFill>
            <a:srgbClr val="0A1628"/>
          </a:solidFill>
          <a:ln w="12700">
            <a:solidFill>
              <a:srgbClr val="F5C842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601968" y="2423160"/>
            <a:ext cx="329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5C8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中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7004304" y="2423160"/>
            <a:ext cx="329184" cy="310896"/>
          </a:xfrm>
          <a:prstGeom prst="rect">
            <a:avLst/>
          </a:prstGeom>
          <a:solidFill>
            <a:srgbClr val="0A1628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7004304" y="2423160"/>
            <a:ext cx="329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4FC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BM</a:t>
            </a:r>
            <a:endParaRPr lang="en-US" sz="850" dirty="0"/>
          </a:p>
        </p:txBody>
      </p:sp>
      <p:sp>
        <p:nvSpPr>
          <p:cNvPr id="25" name="Text 22"/>
          <p:cNvSpPr/>
          <p:nvPr/>
        </p:nvSpPr>
        <p:spPr>
          <a:xfrm>
            <a:off x="7543800" y="2176272"/>
            <a:ext cx="129844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DC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RM 750</a:t>
            </a:r>
            <a:endParaRPr lang="en-US" sz="1300" dirty="0"/>
          </a:p>
        </p:txBody>
      </p:sp>
      <p:sp>
        <p:nvSpPr>
          <p:cNvPr id="26" name="Shape 23"/>
          <p:cNvSpPr/>
          <p:nvPr/>
        </p:nvSpPr>
        <p:spPr>
          <a:xfrm>
            <a:off x="274320" y="3072384"/>
            <a:ext cx="8595360" cy="804672"/>
          </a:xfrm>
          <a:prstGeom prst="rect">
            <a:avLst/>
          </a:prstGeom>
          <a:solidFill>
            <a:srgbClr val="0D2235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274320" y="3072384"/>
            <a:ext cx="64008" cy="80467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320040" y="3072384"/>
            <a:ext cx="9144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B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C2</a:t>
            </a:r>
            <a:endParaRPr lang="en-US" sz="2000" dirty="0"/>
          </a:p>
        </p:txBody>
      </p:sp>
      <p:sp>
        <p:nvSpPr>
          <p:cNvPr id="29" name="Text 26"/>
          <p:cNvSpPr/>
          <p:nvPr/>
        </p:nvSpPr>
        <p:spPr>
          <a:xfrm>
            <a:off x="1371600" y="3145536"/>
            <a:ext cx="2286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🤖 ML Fundamentals</a:t>
            </a:r>
            <a:endParaRPr lang="en-US" sz="1200" dirty="0"/>
          </a:p>
        </p:txBody>
      </p:sp>
      <p:sp>
        <p:nvSpPr>
          <p:cNvPr id="30" name="Text 27"/>
          <p:cNvSpPr/>
          <p:nvPr/>
        </p:nvSpPr>
        <p:spPr>
          <a:xfrm>
            <a:off x="3840480" y="3072384"/>
            <a:ext cx="107899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B4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 Sep –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A0B4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 Nov 2026</a:t>
            </a:r>
            <a:endParaRPr lang="en-US" sz="1000" dirty="0"/>
          </a:p>
        </p:txBody>
      </p:sp>
      <p:sp>
        <p:nvSpPr>
          <p:cNvPr id="31" name="Text 28"/>
          <p:cNvSpPr/>
          <p:nvPr/>
        </p:nvSpPr>
        <p:spPr>
          <a:xfrm>
            <a:off x="5029200" y="3072384"/>
            <a:ext cx="10515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weeks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6199632" y="3319272"/>
            <a:ext cx="329184" cy="310896"/>
          </a:xfrm>
          <a:prstGeom prst="rect">
            <a:avLst/>
          </a:prstGeom>
          <a:solidFill>
            <a:srgbClr val="0A1628"/>
          </a:solidFill>
          <a:ln w="12700">
            <a:solidFill>
              <a:srgbClr val="00DCB4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6199632" y="3319272"/>
            <a:ext cx="329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DC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</a:t>
            </a:r>
            <a:endParaRPr lang="en-US" sz="850" dirty="0"/>
          </a:p>
        </p:txBody>
      </p:sp>
      <p:sp>
        <p:nvSpPr>
          <p:cNvPr id="34" name="Shape 31"/>
          <p:cNvSpPr/>
          <p:nvPr/>
        </p:nvSpPr>
        <p:spPr>
          <a:xfrm>
            <a:off x="6601968" y="3319272"/>
            <a:ext cx="329184" cy="310896"/>
          </a:xfrm>
          <a:prstGeom prst="rect">
            <a:avLst/>
          </a:prstGeom>
          <a:solidFill>
            <a:srgbClr val="0A1628"/>
          </a:solidFill>
          <a:ln w="12700">
            <a:solidFill>
              <a:srgbClr val="F5C842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6601968" y="3319272"/>
            <a:ext cx="329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5C8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中</a:t>
            </a:r>
            <a:endParaRPr lang="en-US" sz="850" dirty="0"/>
          </a:p>
        </p:txBody>
      </p:sp>
      <p:sp>
        <p:nvSpPr>
          <p:cNvPr id="36" name="Shape 33"/>
          <p:cNvSpPr/>
          <p:nvPr/>
        </p:nvSpPr>
        <p:spPr>
          <a:xfrm>
            <a:off x="7004304" y="3319272"/>
            <a:ext cx="329184" cy="310896"/>
          </a:xfrm>
          <a:prstGeom prst="rect">
            <a:avLst/>
          </a:prstGeom>
          <a:solidFill>
            <a:srgbClr val="0A1628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7004304" y="3319272"/>
            <a:ext cx="329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4FC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BM</a:t>
            </a:r>
            <a:endParaRPr lang="en-US" sz="850" dirty="0"/>
          </a:p>
        </p:txBody>
      </p:sp>
      <p:sp>
        <p:nvSpPr>
          <p:cNvPr id="38" name="Text 35"/>
          <p:cNvSpPr/>
          <p:nvPr/>
        </p:nvSpPr>
        <p:spPr>
          <a:xfrm>
            <a:off x="7543800" y="3072384"/>
            <a:ext cx="129844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B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RM 1,000</a:t>
            </a:r>
            <a:endParaRPr lang="en-US" sz="1300" dirty="0"/>
          </a:p>
        </p:txBody>
      </p:sp>
      <p:sp>
        <p:nvSpPr>
          <p:cNvPr id="39" name="Shape 36"/>
          <p:cNvSpPr/>
          <p:nvPr/>
        </p:nvSpPr>
        <p:spPr>
          <a:xfrm>
            <a:off x="274320" y="4041648"/>
            <a:ext cx="8595360" cy="320040"/>
          </a:xfrm>
          <a:prstGeom prst="rect">
            <a:avLst/>
          </a:prstGeom>
          <a:solidFill>
            <a:srgbClr val="0A0F18"/>
          </a:solidFill>
          <a:ln w="12700">
            <a:solidFill>
              <a:srgbClr val="0A0F18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411480" y="4059936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8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 Each cohort runs 3 concurrent language tracks. Students enrol into their preferred track. Same syllabus, different instruction language.</a:t>
            </a:r>
            <a:endParaRPr lang="en-US" sz="900" dirty="0"/>
          </a:p>
        </p:txBody>
      </p:sp>
      <p:sp>
        <p:nvSpPr>
          <p:cNvPr id="41" name="Shape 38"/>
          <p:cNvSpPr/>
          <p:nvPr/>
        </p:nvSpPr>
        <p:spPr>
          <a:xfrm>
            <a:off x="274320" y="4251960"/>
            <a:ext cx="8595360" cy="146304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42" name="Shape 39"/>
          <p:cNvSpPr/>
          <p:nvPr/>
        </p:nvSpPr>
        <p:spPr>
          <a:xfrm>
            <a:off x="1993392" y="4224528"/>
            <a:ext cx="1755648" cy="201168"/>
          </a:xfrm>
          <a:prstGeom prst="rect">
            <a:avLst/>
          </a:prstGeom>
          <a:solidFill>
            <a:srgbClr val="00DCB4"/>
          </a:solidFill>
          <a:ln w="12700">
            <a:solidFill>
              <a:srgbClr val="00DCB4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1993392" y="4224528"/>
            <a:ext cx="17556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80C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C1 Apr–May</a:t>
            </a:r>
            <a:endParaRPr lang="en-US" sz="750" dirty="0"/>
          </a:p>
        </p:txBody>
      </p:sp>
      <p:sp>
        <p:nvSpPr>
          <p:cNvPr id="44" name="Shape 41"/>
          <p:cNvSpPr/>
          <p:nvPr/>
        </p:nvSpPr>
        <p:spPr>
          <a:xfrm>
            <a:off x="5532120" y="4224528"/>
            <a:ext cx="2359152" cy="20116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5532120" y="4224528"/>
            <a:ext cx="23591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C2 Sep–Nov</a:t>
            </a:r>
            <a:endParaRPr lang="en-US" sz="750" dirty="0"/>
          </a:p>
        </p:txBody>
      </p:sp>
      <p:sp>
        <p:nvSpPr>
          <p:cNvPr id="46" name="Text 43"/>
          <p:cNvSpPr/>
          <p:nvPr/>
        </p:nvSpPr>
        <p:spPr>
          <a:xfrm>
            <a:off x="320040" y="4453128"/>
            <a:ext cx="67665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6B8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Jan</a:t>
            </a:r>
            <a:endParaRPr lang="en-US" sz="650" dirty="0"/>
          </a:p>
        </p:txBody>
      </p:sp>
      <p:sp>
        <p:nvSpPr>
          <p:cNvPr id="47" name="Text 44"/>
          <p:cNvSpPr/>
          <p:nvPr/>
        </p:nvSpPr>
        <p:spPr>
          <a:xfrm>
            <a:off x="1028700" y="4453128"/>
            <a:ext cx="67665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6B8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Feb</a:t>
            </a:r>
            <a:endParaRPr lang="en-US" sz="650" dirty="0"/>
          </a:p>
        </p:txBody>
      </p:sp>
      <p:sp>
        <p:nvSpPr>
          <p:cNvPr id="48" name="Text 45"/>
          <p:cNvSpPr/>
          <p:nvPr/>
        </p:nvSpPr>
        <p:spPr>
          <a:xfrm>
            <a:off x="1737360" y="4453128"/>
            <a:ext cx="67665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6B8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</a:t>
            </a:r>
            <a:endParaRPr lang="en-US" sz="650" dirty="0"/>
          </a:p>
        </p:txBody>
      </p:sp>
      <p:sp>
        <p:nvSpPr>
          <p:cNvPr id="49" name="Text 46"/>
          <p:cNvSpPr/>
          <p:nvPr/>
        </p:nvSpPr>
        <p:spPr>
          <a:xfrm>
            <a:off x="2446020" y="4453128"/>
            <a:ext cx="67665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6B8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Apr</a:t>
            </a:r>
            <a:endParaRPr lang="en-US" sz="650" dirty="0"/>
          </a:p>
        </p:txBody>
      </p:sp>
      <p:sp>
        <p:nvSpPr>
          <p:cNvPr id="50" name="Text 47"/>
          <p:cNvSpPr/>
          <p:nvPr/>
        </p:nvSpPr>
        <p:spPr>
          <a:xfrm>
            <a:off x="3154680" y="4453128"/>
            <a:ext cx="67665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6B8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May</a:t>
            </a:r>
            <a:endParaRPr lang="en-US" sz="650" dirty="0"/>
          </a:p>
        </p:txBody>
      </p:sp>
      <p:sp>
        <p:nvSpPr>
          <p:cNvPr id="51" name="Text 48"/>
          <p:cNvSpPr/>
          <p:nvPr/>
        </p:nvSpPr>
        <p:spPr>
          <a:xfrm>
            <a:off x="3863340" y="4453128"/>
            <a:ext cx="67665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6B8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Jun</a:t>
            </a:r>
            <a:endParaRPr lang="en-US" sz="650" dirty="0"/>
          </a:p>
        </p:txBody>
      </p:sp>
      <p:sp>
        <p:nvSpPr>
          <p:cNvPr id="52" name="Text 49"/>
          <p:cNvSpPr/>
          <p:nvPr/>
        </p:nvSpPr>
        <p:spPr>
          <a:xfrm>
            <a:off x="4572000" y="4453128"/>
            <a:ext cx="67665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6B8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Jul</a:t>
            </a:r>
            <a:endParaRPr lang="en-US" sz="650" dirty="0"/>
          </a:p>
        </p:txBody>
      </p:sp>
      <p:sp>
        <p:nvSpPr>
          <p:cNvPr id="53" name="Text 50"/>
          <p:cNvSpPr/>
          <p:nvPr/>
        </p:nvSpPr>
        <p:spPr>
          <a:xfrm>
            <a:off x="5280660" y="4453128"/>
            <a:ext cx="67665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6B8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Aug</a:t>
            </a:r>
            <a:endParaRPr lang="en-US" sz="650" dirty="0"/>
          </a:p>
        </p:txBody>
      </p:sp>
      <p:sp>
        <p:nvSpPr>
          <p:cNvPr id="54" name="Text 51"/>
          <p:cNvSpPr/>
          <p:nvPr/>
        </p:nvSpPr>
        <p:spPr>
          <a:xfrm>
            <a:off x="5989320" y="4453128"/>
            <a:ext cx="67665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6B8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Sep</a:t>
            </a:r>
            <a:endParaRPr lang="en-US" sz="650" dirty="0"/>
          </a:p>
        </p:txBody>
      </p:sp>
      <p:sp>
        <p:nvSpPr>
          <p:cNvPr id="55" name="Text 52"/>
          <p:cNvSpPr/>
          <p:nvPr/>
        </p:nvSpPr>
        <p:spPr>
          <a:xfrm>
            <a:off x="6697980" y="4453128"/>
            <a:ext cx="67665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6B8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Oct</a:t>
            </a:r>
            <a:endParaRPr lang="en-US" sz="650" dirty="0"/>
          </a:p>
        </p:txBody>
      </p:sp>
      <p:sp>
        <p:nvSpPr>
          <p:cNvPr id="56" name="Text 53"/>
          <p:cNvSpPr/>
          <p:nvPr/>
        </p:nvSpPr>
        <p:spPr>
          <a:xfrm>
            <a:off x="7406640" y="4453128"/>
            <a:ext cx="67665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6B8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Nov</a:t>
            </a:r>
            <a:endParaRPr lang="en-US" sz="650" dirty="0"/>
          </a:p>
        </p:txBody>
      </p:sp>
      <p:sp>
        <p:nvSpPr>
          <p:cNvPr id="57" name="Text 54"/>
          <p:cNvSpPr/>
          <p:nvPr/>
        </p:nvSpPr>
        <p:spPr>
          <a:xfrm>
            <a:off x="8115300" y="4453128"/>
            <a:ext cx="67665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6B8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</a:t>
            </a:r>
            <a:endParaRPr lang="en-US" sz="650" dirty="0"/>
          </a:p>
        </p:txBody>
      </p:sp>
      <p:sp>
        <p:nvSpPr>
          <p:cNvPr id="58" name="Shape 55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30608"/>
          </a:solidFill>
          <a:ln w="12700">
            <a:solidFill>
              <a:srgbClr val="030608"/>
            </a:solidFill>
            <a:prstDash val="solid"/>
          </a:ln>
        </p:spPr>
      </p:sp>
      <p:sp>
        <p:nvSpPr>
          <p:cNvPr id="59" name="Shape 56"/>
          <p:cNvSpPr/>
          <p:nvPr/>
        </p:nvSpPr>
        <p:spPr>
          <a:xfrm>
            <a:off x="0" y="4800600"/>
            <a:ext cx="2011680" cy="34290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60" name="Text 57"/>
          <p:cNvSpPr/>
          <p:nvPr/>
        </p:nvSpPr>
        <p:spPr>
          <a:xfrm>
            <a:off x="182880" y="4809744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DC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codencode.my</a:t>
            </a:r>
            <a:endParaRPr lang="en-US" sz="900" dirty="0"/>
          </a:p>
        </p:txBody>
      </p:sp>
      <p:sp>
        <p:nvSpPr>
          <p:cNvPr id="61" name="Text 58"/>
          <p:cNvSpPr/>
          <p:nvPr/>
        </p:nvSpPr>
        <p:spPr>
          <a:xfrm>
            <a:off x="2194560" y="4809744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8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hello@codencode.my  |  +60 113 165 2854</a:t>
            </a:r>
            <a:endParaRPr lang="en-US" sz="800" dirty="0"/>
          </a:p>
        </p:txBody>
      </p:sp>
      <p:sp>
        <p:nvSpPr>
          <p:cNvPr id="62" name="Text 59"/>
          <p:cNvSpPr/>
          <p:nvPr/>
        </p:nvSpPr>
        <p:spPr>
          <a:xfrm>
            <a:off x="6766560" y="4809744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i="1" spc="100" kern="0" dirty="0">
                <a:solidFill>
                  <a:srgbClr val="A0B4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 • BUILD • ENCODE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80C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DCB4"/>
          </a:solidFill>
          <a:ln w="12700">
            <a:solidFill>
              <a:srgbClr val="00DCB4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164592"/>
            <a:ext cx="1554480" cy="43891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20040" y="749808"/>
            <a:ext cx="8503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Pricing</a:t>
            </a:r>
            <a:endParaRPr lang="en-US" sz="3400" dirty="0"/>
          </a:p>
        </p:txBody>
      </p:sp>
      <p:sp>
        <p:nvSpPr>
          <p:cNvPr id="5" name="Text 2"/>
          <p:cNvSpPr/>
          <p:nvPr/>
        </p:nvSpPr>
        <p:spPr>
          <a:xfrm>
            <a:off x="320040" y="1344168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DC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Same price across all three language tracks — EN  •  中文  •  BM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274320" y="1719072"/>
            <a:ext cx="2743200" cy="2999232"/>
          </a:xfrm>
          <a:prstGeom prst="rect">
            <a:avLst/>
          </a:prstGeom>
          <a:solidFill>
            <a:srgbClr val="0D1A2E"/>
          </a:solidFill>
          <a:ln w="12700">
            <a:solidFill>
              <a:srgbClr val="F5C842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274320" y="1719072"/>
            <a:ext cx="2743200" cy="365760"/>
          </a:xfrm>
          <a:prstGeom prst="rect">
            <a:avLst/>
          </a:prstGeom>
          <a:solidFill>
            <a:srgbClr val="F5C842"/>
          </a:solidFill>
          <a:ln w="12700">
            <a:solidFill>
              <a:srgbClr val="F5C842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74320" y="171907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80C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Value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365760" y="2157984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Group</a:t>
            </a:r>
            <a:endParaRPr lang="en-US" sz="2400" dirty="0"/>
          </a:p>
        </p:txBody>
      </p:sp>
      <p:sp>
        <p:nvSpPr>
          <p:cNvPr id="10" name="Text 7"/>
          <p:cNvSpPr/>
          <p:nvPr/>
        </p:nvSpPr>
        <p:spPr>
          <a:xfrm>
            <a:off x="365760" y="2670048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6B8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instructor : 5 students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548640" y="2980944"/>
            <a:ext cx="2194560" cy="18288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548640" y="3063240"/>
            <a:ext cx="594360" cy="256032"/>
          </a:xfrm>
          <a:prstGeom prst="rect">
            <a:avLst/>
          </a:prstGeom>
          <a:solidFill>
            <a:srgbClr val="0A1628"/>
          </a:solidFill>
          <a:ln w="12700">
            <a:solidFill>
              <a:srgbClr val="00DCB4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48640" y="3063240"/>
            <a:ext cx="594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DC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1280160" y="3063240"/>
            <a:ext cx="594360" cy="256032"/>
          </a:xfrm>
          <a:prstGeom prst="rect">
            <a:avLst/>
          </a:prstGeom>
          <a:solidFill>
            <a:srgbClr val="0A1628"/>
          </a:solidFill>
          <a:ln w="12700">
            <a:solidFill>
              <a:srgbClr val="F5C842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280160" y="3063240"/>
            <a:ext cx="594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5C8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中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2011680" y="3063240"/>
            <a:ext cx="594360" cy="256032"/>
          </a:xfrm>
          <a:prstGeom prst="rect">
            <a:avLst/>
          </a:prstGeom>
          <a:solidFill>
            <a:srgbClr val="0A1628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2011680" y="3063240"/>
            <a:ext cx="594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FC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BM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365760" y="3429000"/>
            <a:ext cx="25603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B4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(6 wks)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365760" y="3675888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5C8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RM 750</a:t>
            </a:r>
            <a:endParaRPr lang="en-US" sz="2000" dirty="0"/>
          </a:p>
        </p:txBody>
      </p:sp>
      <p:sp>
        <p:nvSpPr>
          <p:cNvPr id="20" name="Text 17"/>
          <p:cNvSpPr/>
          <p:nvPr/>
        </p:nvSpPr>
        <p:spPr>
          <a:xfrm>
            <a:off x="365760" y="4096512"/>
            <a:ext cx="25603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B4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 Fundamentals (10 wks)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365760" y="434340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5C8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RM 1,000</a:t>
            </a:r>
            <a:endParaRPr lang="en-US" sz="2000" dirty="0"/>
          </a:p>
        </p:txBody>
      </p:sp>
      <p:sp>
        <p:nvSpPr>
          <p:cNvPr id="22" name="Shape 19"/>
          <p:cNvSpPr/>
          <p:nvPr/>
        </p:nvSpPr>
        <p:spPr>
          <a:xfrm>
            <a:off x="3246120" y="1719072"/>
            <a:ext cx="2743200" cy="2999232"/>
          </a:xfrm>
          <a:prstGeom prst="rect">
            <a:avLst/>
          </a:prstGeom>
          <a:solidFill>
            <a:srgbClr val="0D1A2E"/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3246120" y="1719072"/>
            <a:ext cx="2743200" cy="36576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3246120" y="171907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80C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Popular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3337560" y="2157984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Duo</a:t>
            </a:r>
            <a:endParaRPr lang="en-US" sz="2400" dirty="0"/>
          </a:p>
        </p:txBody>
      </p:sp>
      <p:sp>
        <p:nvSpPr>
          <p:cNvPr id="26" name="Text 23"/>
          <p:cNvSpPr/>
          <p:nvPr/>
        </p:nvSpPr>
        <p:spPr>
          <a:xfrm>
            <a:off x="3337560" y="2670048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6B8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instructor : 2 students</a:t>
            </a:r>
            <a:endParaRPr lang="en-US" sz="950" dirty="0"/>
          </a:p>
        </p:txBody>
      </p:sp>
      <p:sp>
        <p:nvSpPr>
          <p:cNvPr id="27" name="Shape 24"/>
          <p:cNvSpPr/>
          <p:nvPr/>
        </p:nvSpPr>
        <p:spPr>
          <a:xfrm>
            <a:off x="3520440" y="2980944"/>
            <a:ext cx="2194560" cy="18288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3520440" y="3063240"/>
            <a:ext cx="594360" cy="256032"/>
          </a:xfrm>
          <a:prstGeom prst="rect">
            <a:avLst/>
          </a:prstGeom>
          <a:solidFill>
            <a:srgbClr val="0A1628"/>
          </a:solidFill>
          <a:ln w="12700">
            <a:solidFill>
              <a:srgbClr val="00DCB4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3520440" y="3063240"/>
            <a:ext cx="594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DC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</a:t>
            </a:r>
            <a:endParaRPr lang="en-US" sz="900" dirty="0"/>
          </a:p>
        </p:txBody>
      </p:sp>
      <p:sp>
        <p:nvSpPr>
          <p:cNvPr id="30" name="Shape 27"/>
          <p:cNvSpPr/>
          <p:nvPr/>
        </p:nvSpPr>
        <p:spPr>
          <a:xfrm>
            <a:off x="4251960" y="3063240"/>
            <a:ext cx="594360" cy="256032"/>
          </a:xfrm>
          <a:prstGeom prst="rect">
            <a:avLst/>
          </a:prstGeom>
          <a:solidFill>
            <a:srgbClr val="0A1628"/>
          </a:solidFill>
          <a:ln w="12700">
            <a:solidFill>
              <a:srgbClr val="F5C842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4251960" y="3063240"/>
            <a:ext cx="594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5C8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中</a:t>
            </a:r>
            <a:endParaRPr lang="en-US" sz="900" dirty="0"/>
          </a:p>
        </p:txBody>
      </p:sp>
      <p:sp>
        <p:nvSpPr>
          <p:cNvPr id="32" name="Shape 29"/>
          <p:cNvSpPr/>
          <p:nvPr/>
        </p:nvSpPr>
        <p:spPr>
          <a:xfrm>
            <a:off x="4983480" y="3063240"/>
            <a:ext cx="594360" cy="256032"/>
          </a:xfrm>
          <a:prstGeom prst="rect">
            <a:avLst/>
          </a:prstGeom>
          <a:solidFill>
            <a:srgbClr val="0A1628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4983480" y="3063240"/>
            <a:ext cx="594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FC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BM</a:t>
            </a:r>
            <a:endParaRPr lang="en-US" sz="900" dirty="0"/>
          </a:p>
        </p:txBody>
      </p:sp>
      <p:sp>
        <p:nvSpPr>
          <p:cNvPr id="34" name="Text 31"/>
          <p:cNvSpPr/>
          <p:nvPr/>
        </p:nvSpPr>
        <p:spPr>
          <a:xfrm>
            <a:off x="3337560" y="3429000"/>
            <a:ext cx="25603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B4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(6 wks)</a:t>
            </a:r>
            <a:endParaRPr lang="en-US" sz="1000" dirty="0"/>
          </a:p>
        </p:txBody>
      </p:sp>
      <p:sp>
        <p:nvSpPr>
          <p:cNvPr id="35" name="Text 32"/>
          <p:cNvSpPr/>
          <p:nvPr/>
        </p:nvSpPr>
        <p:spPr>
          <a:xfrm>
            <a:off x="3337560" y="3675888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B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RM 1,100</a:t>
            </a:r>
            <a:endParaRPr lang="en-US" sz="2000" dirty="0"/>
          </a:p>
        </p:txBody>
      </p:sp>
      <p:sp>
        <p:nvSpPr>
          <p:cNvPr id="36" name="Text 33"/>
          <p:cNvSpPr/>
          <p:nvPr/>
        </p:nvSpPr>
        <p:spPr>
          <a:xfrm>
            <a:off x="3337560" y="4096512"/>
            <a:ext cx="25603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B4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 Fundamentals (10 wks)</a:t>
            </a:r>
            <a:endParaRPr lang="en-US" sz="1000" dirty="0"/>
          </a:p>
        </p:txBody>
      </p:sp>
      <p:sp>
        <p:nvSpPr>
          <p:cNvPr id="37" name="Text 34"/>
          <p:cNvSpPr/>
          <p:nvPr/>
        </p:nvSpPr>
        <p:spPr>
          <a:xfrm>
            <a:off x="3337560" y="434340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B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RM 1,500</a:t>
            </a:r>
            <a:endParaRPr lang="en-US" sz="2000" dirty="0"/>
          </a:p>
        </p:txBody>
      </p:sp>
      <p:sp>
        <p:nvSpPr>
          <p:cNvPr id="38" name="Shape 35"/>
          <p:cNvSpPr/>
          <p:nvPr/>
        </p:nvSpPr>
        <p:spPr>
          <a:xfrm>
            <a:off x="6217920" y="1719072"/>
            <a:ext cx="2743200" cy="2999232"/>
          </a:xfrm>
          <a:prstGeom prst="rect">
            <a:avLst/>
          </a:prstGeom>
          <a:solidFill>
            <a:srgbClr val="0D1A2E"/>
          </a:solidFill>
          <a:ln w="12700">
            <a:solidFill>
              <a:srgbClr val="00DCB4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39" name="Shape 36"/>
          <p:cNvSpPr/>
          <p:nvPr/>
        </p:nvSpPr>
        <p:spPr>
          <a:xfrm>
            <a:off x="6217920" y="1719072"/>
            <a:ext cx="2743200" cy="365760"/>
          </a:xfrm>
          <a:prstGeom prst="rect">
            <a:avLst/>
          </a:prstGeom>
          <a:solidFill>
            <a:srgbClr val="00DCB4"/>
          </a:solidFill>
          <a:ln w="12700">
            <a:solidFill>
              <a:srgbClr val="00DCB4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6217920" y="171907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80C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Most Intensive</a:t>
            </a:r>
            <a:endParaRPr lang="en-US" sz="1000" dirty="0"/>
          </a:p>
        </p:txBody>
      </p:sp>
      <p:sp>
        <p:nvSpPr>
          <p:cNvPr id="41" name="Text 38"/>
          <p:cNvSpPr/>
          <p:nvPr/>
        </p:nvSpPr>
        <p:spPr>
          <a:xfrm>
            <a:off x="6309360" y="2157984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1-on-1</a:t>
            </a:r>
            <a:endParaRPr lang="en-US" sz="2400" dirty="0"/>
          </a:p>
        </p:txBody>
      </p:sp>
      <p:sp>
        <p:nvSpPr>
          <p:cNvPr id="42" name="Text 39"/>
          <p:cNvSpPr/>
          <p:nvPr/>
        </p:nvSpPr>
        <p:spPr>
          <a:xfrm>
            <a:off x="6309360" y="2670048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6B8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Private personalised class</a:t>
            </a:r>
            <a:endParaRPr lang="en-US" sz="950" dirty="0"/>
          </a:p>
        </p:txBody>
      </p:sp>
      <p:sp>
        <p:nvSpPr>
          <p:cNvPr id="43" name="Shape 40"/>
          <p:cNvSpPr/>
          <p:nvPr/>
        </p:nvSpPr>
        <p:spPr>
          <a:xfrm>
            <a:off x="6492240" y="2980944"/>
            <a:ext cx="2194560" cy="18288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44" name="Shape 41"/>
          <p:cNvSpPr/>
          <p:nvPr/>
        </p:nvSpPr>
        <p:spPr>
          <a:xfrm>
            <a:off x="6492240" y="3063240"/>
            <a:ext cx="594360" cy="256032"/>
          </a:xfrm>
          <a:prstGeom prst="rect">
            <a:avLst/>
          </a:prstGeom>
          <a:solidFill>
            <a:srgbClr val="0A1628"/>
          </a:solidFill>
          <a:ln w="12700">
            <a:solidFill>
              <a:srgbClr val="00DCB4"/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6492240" y="3063240"/>
            <a:ext cx="594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DC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</a:t>
            </a:r>
            <a:endParaRPr lang="en-US" sz="900" dirty="0"/>
          </a:p>
        </p:txBody>
      </p:sp>
      <p:sp>
        <p:nvSpPr>
          <p:cNvPr id="46" name="Shape 43"/>
          <p:cNvSpPr/>
          <p:nvPr/>
        </p:nvSpPr>
        <p:spPr>
          <a:xfrm>
            <a:off x="7223760" y="3063240"/>
            <a:ext cx="594360" cy="256032"/>
          </a:xfrm>
          <a:prstGeom prst="rect">
            <a:avLst/>
          </a:prstGeom>
          <a:solidFill>
            <a:srgbClr val="0A1628"/>
          </a:solidFill>
          <a:ln w="12700">
            <a:solidFill>
              <a:srgbClr val="F5C842"/>
            </a:solidFill>
            <a:prstDash val="solid"/>
          </a:ln>
        </p:spPr>
      </p:sp>
      <p:sp>
        <p:nvSpPr>
          <p:cNvPr id="47" name="Text 44"/>
          <p:cNvSpPr/>
          <p:nvPr/>
        </p:nvSpPr>
        <p:spPr>
          <a:xfrm>
            <a:off x="7223760" y="3063240"/>
            <a:ext cx="594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5C8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中</a:t>
            </a:r>
            <a:endParaRPr lang="en-US" sz="900" dirty="0"/>
          </a:p>
        </p:txBody>
      </p:sp>
      <p:sp>
        <p:nvSpPr>
          <p:cNvPr id="48" name="Shape 45"/>
          <p:cNvSpPr/>
          <p:nvPr/>
        </p:nvSpPr>
        <p:spPr>
          <a:xfrm>
            <a:off x="7955280" y="3063240"/>
            <a:ext cx="594360" cy="256032"/>
          </a:xfrm>
          <a:prstGeom prst="rect">
            <a:avLst/>
          </a:prstGeom>
          <a:solidFill>
            <a:srgbClr val="0A1628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49" name="Text 46"/>
          <p:cNvSpPr/>
          <p:nvPr/>
        </p:nvSpPr>
        <p:spPr>
          <a:xfrm>
            <a:off x="7955280" y="3063240"/>
            <a:ext cx="594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FC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BM</a:t>
            </a:r>
            <a:endParaRPr lang="en-US" sz="900" dirty="0"/>
          </a:p>
        </p:txBody>
      </p:sp>
      <p:sp>
        <p:nvSpPr>
          <p:cNvPr id="50" name="Text 47"/>
          <p:cNvSpPr/>
          <p:nvPr/>
        </p:nvSpPr>
        <p:spPr>
          <a:xfrm>
            <a:off x="6309360" y="3429000"/>
            <a:ext cx="25603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B4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(6 wks)</a:t>
            </a:r>
            <a:endParaRPr lang="en-US" sz="1000" dirty="0"/>
          </a:p>
        </p:txBody>
      </p:sp>
      <p:sp>
        <p:nvSpPr>
          <p:cNvPr id="51" name="Text 48"/>
          <p:cNvSpPr/>
          <p:nvPr/>
        </p:nvSpPr>
        <p:spPr>
          <a:xfrm>
            <a:off x="6309360" y="3675888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DC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RM 1,500</a:t>
            </a:r>
            <a:endParaRPr lang="en-US" sz="2000" dirty="0"/>
          </a:p>
        </p:txBody>
      </p:sp>
      <p:sp>
        <p:nvSpPr>
          <p:cNvPr id="52" name="Text 49"/>
          <p:cNvSpPr/>
          <p:nvPr/>
        </p:nvSpPr>
        <p:spPr>
          <a:xfrm>
            <a:off x="6309360" y="4096512"/>
            <a:ext cx="25603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B4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 Fundamentals (10 wks)</a:t>
            </a:r>
            <a:endParaRPr lang="en-US" sz="1000" dirty="0"/>
          </a:p>
        </p:txBody>
      </p:sp>
      <p:sp>
        <p:nvSpPr>
          <p:cNvPr id="53" name="Text 50"/>
          <p:cNvSpPr/>
          <p:nvPr/>
        </p:nvSpPr>
        <p:spPr>
          <a:xfrm>
            <a:off x="6309360" y="434340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DC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RM 2,000</a:t>
            </a:r>
            <a:endParaRPr lang="en-US" sz="2000" dirty="0"/>
          </a:p>
        </p:txBody>
      </p:sp>
      <p:sp>
        <p:nvSpPr>
          <p:cNvPr id="54" name="Text 51"/>
          <p:cNvSpPr/>
          <p:nvPr/>
        </p:nvSpPr>
        <p:spPr>
          <a:xfrm>
            <a:off x="320040" y="4800600"/>
            <a:ext cx="8503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6B8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prices per student per cohort  •  Certificate included  •  Available in EN / 中文 / BM</a:t>
            </a:r>
            <a:endParaRPr lang="en-US" sz="850" dirty="0"/>
          </a:p>
        </p:txBody>
      </p:sp>
      <p:sp>
        <p:nvSpPr>
          <p:cNvPr id="55" name="Shape 52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30608"/>
          </a:solidFill>
          <a:ln w="12700">
            <a:solidFill>
              <a:srgbClr val="030608"/>
            </a:solidFill>
            <a:prstDash val="solid"/>
          </a:ln>
        </p:spPr>
      </p:sp>
      <p:sp>
        <p:nvSpPr>
          <p:cNvPr id="56" name="Shape 53"/>
          <p:cNvSpPr/>
          <p:nvPr/>
        </p:nvSpPr>
        <p:spPr>
          <a:xfrm>
            <a:off x="0" y="4800600"/>
            <a:ext cx="2011680" cy="34290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57" name="Text 54"/>
          <p:cNvSpPr/>
          <p:nvPr/>
        </p:nvSpPr>
        <p:spPr>
          <a:xfrm>
            <a:off x="182880" y="4809744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DC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codencode.my</a:t>
            </a:r>
            <a:endParaRPr lang="en-US" sz="900" dirty="0"/>
          </a:p>
        </p:txBody>
      </p:sp>
      <p:sp>
        <p:nvSpPr>
          <p:cNvPr id="58" name="Text 55"/>
          <p:cNvSpPr/>
          <p:nvPr/>
        </p:nvSpPr>
        <p:spPr>
          <a:xfrm>
            <a:off x="2194560" y="4809744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8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hello@codencode.my  |  +60 113 165 2854</a:t>
            </a:r>
            <a:endParaRPr lang="en-US" sz="800" dirty="0"/>
          </a:p>
        </p:txBody>
      </p:sp>
      <p:sp>
        <p:nvSpPr>
          <p:cNvPr id="59" name="Text 56"/>
          <p:cNvSpPr/>
          <p:nvPr/>
        </p:nvSpPr>
        <p:spPr>
          <a:xfrm>
            <a:off x="6766560" y="4809744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i="1" spc="100" kern="0" dirty="0">
                <a:solidFill>
                  <a:srgbClr val="A0B4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 • BUILD • ENCODE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80C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DCB4"/>
          </a:solidFill>
          <a:ln w="12700">
            <a:solidFill>
              <a:srgbClr val="00DCB4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164592"/>
            <a:ext cx="1554480" cy="43891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20040" y="749808"/>
            <a:ext cx="8503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codencode?</a:t>
            </a:r>
            <a:endParaRPr lang="en-US" sz="3400" dirty="0"/>
          </a:p>
        </p:txBody>
      </p:sp>
      <p:sp>
        <p:nvSpPr>
          <p:cNvPr id="5" name="Shape 2"/>
          <p:cNvSpPr/>
          <p:nvPr/>
        </p:nvSpPr>
        <p:spPr>
          <a:xfrm>
            <a:off x="274320" y="1463040"/>
            <a:ext cx="2743200" cy="1389888"/>
          </a:xfrm>
          <a:prstGeom prst="rect">
            <a:avLst/>
          </a:prstGeom>
          <a:solidFill>
            <a:srgbClr val="0D1A2E"/>
          </a:solidFill>
          <a:ln w="12700">
            <a:solidFill>
              <a:srgbClr val="00DCB4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274320" y="1463040"/>
            <a:ext cx="54864" cy="1389888"/>
          </a:xfrm>
          <a:prstGeom prst="rect">
            <a:avLst/>
          </a:prstGeom>
          <a:solidFill>
            <a:srgbClr val="F5C842"/>
          </a:solidFill>
          <a:ln w="12700">
            <a:solidFill>
              <a:srgbClr val="F5C842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274320" y="1463040"/>
            <a:ext cx="2743200" cy="1389888"/>
          </a:xfrm>
          <a:prstGeom prst="rect">
            <a:avLst/>
          </a:prstGeom>
          <a:solidFill>
            <a:srgbClr val="1A1200"/>
          </a:solidFill>
          <a:ln w="25400">
            <a:solidFill>
              <a:srgbClr val="F5C842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274320" y="1463040"/>
            <a:ext cx="54864" cy="1389888"/>
          </a:xfrm>
          <a:prstGeom prst="rect">
            <a:avLst/>
          </a:prstGeom>
          <a:solidFill>
            <a:srgbClr val="F5C842"/>
          </a:solidFill>
          <a:ln w="12700">
            <a:solidFill>
              <a:srgbClr val="F5C842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912" y="1609344"/>
            <a:ext cx="347472" cy="34747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38912" y="202996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C8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Truly Trilingual</a:t>
            </a:r>
            <a:endParaRPr lang="en-US" sz="1200" dirty="0"/>
          </a:p>
        </p:txBody>
      </p:sp>
      <p:sp>
        <p:nvSpPr>
          <p:cNvPr id="11" name="Text 7"/>
          <p:cNvSpPr/>
          <p:nvPr/>
        </p:nvSpPr>
        <p:spPr>
          <a:xfrm>
            <a:off x="438912" y="2322576"/>
            <a:ext cx="2468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8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only JB coding academy with separate EN, 中文 and BM class tracks. Learn in the language you think in.</a:t>
            </a:r>
            <a:endParaRPr lang="en-US" sz="900" dirty="0"/>
          </a:p>
        </p:txBody>
      </p:sp>
      <p:sp>
        <p:nvSpPr>
          <p:cNvPr id="12" name="Shape 8"/>
          <p:cNvSpPr/>
          <p:nvPr/>
        </p:nvSpPr>
        <p:spPr>
          <a:xfrm>
            <a:off x="3218688" y="1463040"/>
            <a:ext cx="2743200" cy="1389888"/>
          </a:xfrm>
          <a:prstGeom prst="rect">
            <a:avLst/>
          </a:prstGeom>
          <a:solidFill>
            <a:srgbClr val="0D1A2E"/>
          </a:solidFill>
          <a:ln w="12700">
            <a:solidFill>
              <a:srgbClr val="1A3A6B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3218688" y="1463040"/>
            <a:ext cx="54864" cy="1389888"/>
          </a:xfrm>
          <a:prstGeom prst="rect">
            <a:avLst/>
          </a:prstGeom>
          <a:solidFill>
            <a:srgbClr val="00DCB4"/>
          </a:solidFill>
          <a:ln w="12700">
            <a:solidFill>
              <a:srgbClr val="00DCB4"/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83280" y="1609344"/>
            <a:ext cx="347472" cy="347472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3383280" y="202996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Expert-Led</a:t>
            </a:r>
            <a:endParaRPr lang="en-US" sz="1200" dirty="0"/>
          </a:p>
        </p:txBody>
      </p:sp>
      <p:sp>
        <p:nvSpPr>
          <p:cNvPr id="16" name="Text 11"/>
          <p:cNvSpPr/>
          <p:nvPr/>
        </p:nvSpPr>
        <p:spPr>
          <a:xfrm>
            <a:off x="3383280" y="2322576"/>
            <a:ext cx="2468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8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Industry professionals with real-world Python &amp; AI experience — not fresh graduates reading slides.</a:t>
            </a:r>
            <a:endParaRPr lang="en-US" sz="900" dirty="0"/>
          </a:p>
        </p:txBody>
      </p:sp>
      <p:sp>
        <p:nvSpPr>
          <p:cNvPr id="17" name="Shape 12"/>
          <p:cNvSpPr/>
          <p:nvPr/>
        </p:nvSpPr>
        <p:spPr>
          <a:xfrm>
            <a:off x="6163056" y="1463040"/>
            <a:ext cx="2743200" cy="1389888"/>
          </a:xfrm>
          <a:prstGeom prst="rect">
            <a:avLst/>
          </a:prstGeom>
          <a:solidFill>
            <a:srgbClr val="0D1A2E"/>
          </a:solidFill>
          <a:ln w="12700">
            <a:solidFill>
              <a:srgbClr val="1A3A6B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6163056" y="1463040"/>
            <a:ext cx="54864" cy="1389888"/>
          </a:xfrm>
          <a:prstGeom prst="rect">
            <a:avLst/>
          </a:prstGeom>
          <a:solidFill>
            <a:srgbClr val="00DCB4"/>
          </a:solidFill>
          <a:ln w="12700">
            <a:solidFill>
              <a:srgbClr val="00DCB4"/>
            </a:solidFill>
            <a:prstDash val="solid"/>
          </a:ln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27648" y="1609344"/>
            <a:ext cx="347472" cy="347472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6327648" y="202996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Small Batches</a:t>
            </a:r>
            <a:endParaRPr lang="en-US" sz="1200" dirty="0"/>
          </a:p>
        </p:txBody>
      </p:sp>
      <p:sp>
        <p:nvSpPr>
          <p:cNvPr id="21" name="Text 15"/>
          <p:cNvSpPr/>
          <p:nvPr/>
        </p:nvSpPr>
        <p:spPr>
          <a:xfrm>
            <a:off x="6327648" y="2322576"/>
            <a:ext cx="2468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8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Max 5 students per group. More Q&amp;A time, faster progress, and actual individual attention.</a:t>
            </a:r>
            <a:endParaRPr lang="en-US" sz="900" dirty="0"/>
          </a:p>
        </p:txBody>
      </p:sp>
      <p:sp>
        <p:nvSpPr>
          <p:cNvPr id="22" name="Shape 16"/>
          <p:cNvSpPr/>
          <p:nvPr/>
        </p:nvSpPr>
        <p:spPr>
          <a:xfrm>
            <a:off x="274320" y="2999232"/>
            <a:ext cx="2743200" cy="1389888"/>
          </a:xfrm>
          <a:prstGeom prst="rect">
            <a:avLst/>
          </a:prstGeom>
          <a:solidFill>
            <a:srgbClr val="0D1A2E"/>
          </a:solidFill>
          <a:ln w="12700">
            <a:solidFill>
              <a:srgbClr val="1A3A6B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23" name="Shape 17"/>
          <p:cNvSpPr/>
          <p:nvPr/>
        </p:nvSpPr>
        <p:spPr>
          <a:xfrm>
            <a:off x="274320" y="2999232"/>
            <a:ext cx="54864" cy="1389888"/>
          </a:xfrm>
          <a:prstGeom prst="rect">
            <a:avLst/>
          </a:prstGeom>
          <a:solidFill>
            <a:srgbClr val="00DCB4"/>
          </a:solidFill>
          <a:ln w="12700">
            <a:solidFill>
              <a:srgbClr val="00DCB4"/>
            </a:solidFill>
            <a:prstDash val="solid"/>
          </a:ln>
        </p:spPr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8912" y="3145536"/>
            <a:ext cx="347472" cy="347472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438912" y="356616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Project-Based</a:t>
            </a:r>
            <a:endParaRPr lang="en-US" sz="1200" dirty="0"/>
          </a:p>
        </p:txBody>
      </p:sp>
      <p:sp>
        <p:nvSpPr>
          <p:cNvPr id="26" name="Text 19"/>
          <p:cNvSpPr/>
          <p:nvPr/>
        </p:nvSpPr>
        <p:spPr>
          <a:xfrm>
            <a:off x="438912" y="3858768"/>
            <a:ext cx="2468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8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cohort ends with a real project you can show in a portfolio or school presentation.</a:t>
            </a:r>
            <a:endParaRPr lang="en-US" sz="900" dirty="0"/>
          </a:p>
        </p:txBody>
      </p:sp>
      <p:sp>
        <p:nvSpPr>
          <p:cNvPr id="27" name="Shape 20"/>
          <p:cNvSpPr/>
          <p:nvPr/>
        </p:nvSpPr>
        <p:spPr>
          <a:xfrm>
            <a:off x="3218688" y="2999232"/>
            <a:ext cx="2743200" cy="1389888"/>
          </a:xfrm>
          <a:prstGeom prst="rect">
            <a:avLst/>
          </a:prstGeom>
          <a:solidFill>
            <a:srgbClr val="0D1A2E"/>
          </a:solidFill>
          <a:ln w="12700">
            <a:solidFill>
              <a:srgbClr val="1A3A6B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28" name="Shape 21"/>
          <p:cNvSpPr/>
          <p:nvPr/>
        </p:nvSpPr>
        <p:spPr>
          <a:xfrm>
            <a:off x="3218688" y="2999232"/>
            <a:ext cx="54864" cy="1389888"/>
          </a:xfrm>
          <a:prstGeom prst="rect">
            <a:avLst/>
          </a:prstGeom>
          <a:solidFill>
            <a:srgbClr val="00DCB4"/>
          </a:solidFill>
          <a:ln w="12700">
            <a:solidFill>
              <a:srgbClr val="00DCB4"/>
            </a:solidFill>
            <a:prstDash val="solid"/>
          </a:ln>
        </p:spPr>
      </p:sp>
      <p:pic>
        <p:nvPicPr>
          <p:cNvPr id="2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83280" y="3145536"/>
            <a:ext cx="347472" cy="347472"/>
          </a:xfrm>
          <a:prstGeom prst="rect">
            <a:avLst/>
          </a:prstGeom>
        </p:spPr>
      </p:pic>
      <p:sp>
        <p:nvSpPr>
          <p:cNvPr id="30" name="Text 22"/>
          <p:cNvSpPr/>
          <p:nvPr/>
        </p:nvSpPr>
        <p:spPr>
          <a:xfrm>
            <a:off x="3383280" y="356616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Certificates</a:t>
            </a:r>
            <a:endParaRPr lang="en-US" sz="1200" dirty="0"/>
          </a:p>
        </p:txBody>
      </p:sp>
      <p:sp>
        <p:nvSpPr>
          <p:cNvPr id="31" name="Text 23"/>
          <p:cNvSpPr/>
          <p:nvPr/>
        </p:nvSpPr>
        <p:spPr>
          <a:xfrm>
            <a:off x="3383280" y="3858768"/>
            <a:ext cx="2468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8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Bilingual certificates (EN + 中文 or BM) issued on course completion. Recognized for school portfolios.</a:t>
            </a:r>
            <a:endParaRPr lang="en-US" sz="900" dirty="0"/>
          </a:p>
        </p:txBody>
      </p:sp>
      <p:sp>
        <p:nvSpPr>
          <p:cNvPr id="32" name="Shape 24"/>
          <p:cNvSpPr/>
          <p:nvPr/>
        </p:nvSpPr>
        <p:spPr>
          <a:xfrm>
            <a:off x="6163056" y="2999232"/>
            <a:ext cx="2743200" cy="1389888"/>
          </a:xfrm>
          <a:prstGeom prst="rect">
            <a:avLst/>
          </a:prstGeom>
          <a:solidFill>
            <a:srgbClr val="0D1A2E"/>
          </a:solidFill>
          <a:ln w="12700">
            <a:solidFill>
              <a:srgbClr val="1A3A6B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33" name="Shape 25"/>
          <p:cNvSpPr/>
          <p:nvPr/>
        </p:nvSpPr>
        <p:spPr>
          <a:xfrm>
            <a:off x="6163056" y="2999232"/>
            <a:ext cx="54864" cy="1389888"/>
          </a:xfrm>
          <a:prstGeom prst="rect">
            <a:avLst/>
          </a:prstGeom>
          <a:solidFill>
            <a:srgbClr val="00DCB4"/>
          </a:solidFill>
          <a:ln w="12700">
            <a:solidFill>
              <a:srgbClr val="00DCB4"/>
            </a:solidFill>
            <a:prstDash val="solid"/>
          </a:ln>
        </p:spPr>
      </p:sp>
      <p:pic>
        <p:nvPicPr>
          <p:cNvPr id="34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27648" y="3145536"/>
            <a:ext cx="347472" cy="347472"/>
          </a:xfrm>
          <a:prstGeom prst="rect">
            <a:avLst/>
          </a:prstGeom>
        </p:spPr>
      </p:pic>
      <p:sp>
        <p:nvSpPr>
          <p:cNvPr id="35" name="Text 26"/>
          <p:cNvSpPr/>
          <p:nvPr/>
        </p:nvSpPr>
        <p:spPr>
          <a:xfrm>
            <a:off x="6327648" y="356616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Alumni Community</a:t>
            </a:r>
            <a:endParaRPr lang="en-US" sz="1200" dirty="0"/>
          </a:p>
        </p:txBody>
      </p:sp>
      <p:sp>
        <p:nvSpPr>
          <p:cNvPr id="36" name="Text 27"/>
          <p:cNvSpPr/>
          <p:nvPr/>
        </p:nvSpPr>
        <p:spPr>
          <a:xfrm>
            <a:off x="6327648" y="3858768"/>
            <a:ext cx="2468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8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Join our trilingual WhatsApp alumni network after graduating — ongoing Q&amp;A and peer support.</a:t>
            </a:r>
            <a:endParaRPr lang="en-US" sz="900" dirty="0"/>
          </a:p>
        </p:txBody>
      </p:sp>
      <p:sp>
        <p:nvSpPr>
          <p:cNvPr id="37" name="Shape 28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30608"/>
          </a:solidFill>
          <a:ln w="12700">
            <a:solidFill>
              <a:srgbClr val="030608"/>
            </a:solidFill>
            <a:prstDash val="solid"/>
          </a:ln>
        </p:spPr>
      </p:sp>
      <p:sp>
        <p:nvSpPr>
          <p:cNvPr id="38" name="Shape 29"/>
          <p:cNvSpPr/>
          <p:nvPr/>
        </p:nvSpPr>
        <p:spPr>
          <a:xfrm>
            <a:off x="0" y="4800600"/>
            <a:ext cx="2011680" cy="34290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39" name="Text 30"/>
          <p:cNvSpPr/>
          <p:nvPr/>
        </p:nvSpPr>
        <p:spPr>
          <a:xfrm>
            <a:off x="182880" y="4809744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DC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codencode.my</a:t>
            </a:r>
            <a:endParaRPr lang="en-US" sz="900" dirty="0"/>
          </a:p>
        </p:txBody>
      </p:sp>
      <p:sp>
        <p:nvSpPr>
          <p:cNvPr id="40" name="Text 31"/>
          <p:cNvSpPr/>
          <p:nvPr/>
        </p:nvSpPr>
        <p:spPr>
          <a:xfrm>
            <a:off x="2194560" y="4809744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8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hello@codencode.my  |  +60 113 165 2854</a:t>
            </a:r>
            <a:endParaRPr lang="en-US" sz="800" dirty="0"/>
          </a:p>
        </p:txBody>
      </p:sp>
      <p:sp>
        <p:nvSpPr>
          <p:cNvPr id="41" name="Text 32"/>
          <p:cNvSpPr/>
          <p:nvPr/>
        </p:nvSpPr>
        <p:spPr>
          <a:xfrm>
            <a:off x="6766560" y="4809744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i="1" spc="100" kern="0" dirty="0">
                <a:solidFill>
                  <a:srgbClr val="A0B4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 • BUILD • ENCODE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80C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0" cy="5143500"/>
          </a:xfrm>
          <a:prstGeom prst="rect">
            <a:avLst/>
          </a:prstGeom>
          <a:solidFill>
            <a:srgbClr val="0D1A2E"/>
          </a:solidFill>
          <a:ln w="12700">
            <a:solidFill>
              <a:srgbClr val="0D1A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096512" y="0"/>
            <a:ext cx="36576" cy="5143500"/>
          </a:xfrm>
          <a:prstGeom prst="rect">
            <a:avLst/>
          </a:prstGeom>
          <a:solidFill>
            <a:srgbClr val="00DCB4"/>
          </a:solidFill>
          <a:ln w="12700">
            <a:solidFill>
              <a:srgbClr val="00DCB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36499" y="427939"/>
            <a:ext cx="58522" cy="58522"/>
          </a:xfrm>
          <a:prstGeom prst="ellipse">
            <a:avLst/>
          </a:prstGeom>
          <a:solidFill>
            <a:srgbClr val="00DCB4">
              <a:alpha val="20000"/>
            </a:srgbClr>
          </a:solidFill>
          <a:ln w="12700">
            <a:solidFill>
              <a:srgbClr val="00DCB4">
                <a:alpha val="2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68019" y="427939"/>
            <a:ext cx="58522" cy="58522"/>
          </a:xfrm>
          <a:prstGeom prst="ellipse">
            <a:avLst/>
          </a:prstGeom>
          <a:solidFill>
            <a:srgbClr val="00DCB4">
              <a:alpha val="20000"/>
            </a:srgbClr>
          </a:solidFill>
          <a:ln w="12700">
            <a:solidFill>
              <a:srgbClr val="00DCB4">
                <a:alpha val="2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799539" y="427939"/>
            <a:ext cx="58522" cy="58522"/>
          </a:xfrm>
          <a:prstGeom prst="ellipse">
            <a:avLst/>
          </a:prstGeom>
          <a:solidFill>
            <a:srgbClr val="00DCB4">
              <a:alpha val="20000"/>
            </a:srgbClr>
          </a:solidFill>
          <a:ln w="12700">
            <a:solidFill>
              <a:srgbClr val="00DCB4">
                <a:alpha val="2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531059" y="427939"/>
            <a:ext cx="58522" cy="58522"/>
          </a:xfrm>
          <a:prstGeom prst="ellipse">
            <a:avLst/>
          </a:prstGeom>
          <a:solidFill>
            <a:srgbClr val="00DCB4">
              <a:alpha val="20000"/>
            </a:srgbClr>
          </a:solidFill>
          <a:ln w="12700">
            <a:solidFill>
              <a:srgbClr val="00DCB4">
                <a:alpha val="2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62579" y="427939"/>
            <a:ext cx="58522" cy="58522"/>
          </a:xfrm>
          <a:prstGeom prst="ellipse">
            <a:avLst/>
          </a:prstGeom>
          <a:solidFill>
            <a:srgbClr val="00DCB4">
              <a:alpha val="20000"/>
            </a:srgbClr>
          </a:solidFill>
          <a:ln w="12700">
            <a:solidFill>
              <a:srgbClr val="00DCB4">
                <a:alpha val="2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36499" y="1205179"/>
            <a:ext cx="58522" cy="58522"/>
          </a:xfrm>
          <a:prstGeom prst="ellipse">
            <a:avLst/>
          </a:prstGeom>
          <a:solidFill>
            <a:srgbClr val="00DCB4">
              <a:alpha val="20000"/>
            </a:srgbClr>
          </a:solidFill>
          <a:ln w="12700">
            <a:solidFill>
              <a:srgbClr val="00DCB4">
                <a:alpha val="2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68019" y="1205179"/>
            <a:ext cx="58522" cy="58522"/>
          </a:xfrm>
          <a:prstGeom prst="ellipse">
            <a:avLst/>
          </a:prstGeom>
          <a:solidFill>
            <a:srgbClr val="00DCB4">
              <a:alpha val="20000"/>
            </a:srgbClr>
          </a:solidFill>
          <a:ln w="12700">
            <a:solidFill>
              <a:srgbClr val="00DCB4">
                <a:alpha val="2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799539" y="1205179"/>
            <a:ext cx="58522" cy="58522"/>
          </a:xfrm>
          <a:prstGeom prst="ellipse">
            <a:avLst/>
          </a:prstGeom>
          <a:solidFill>
            <a:srgbClr val="00DCB4">
              <a:alpha val="20000"/>
            </a:srgbClr>
          </a:solidFill>
          <a:ln w="12700">
            <a:solidFill>
              <a:srgbClr val="00DCB4">
                <a:alpha val="2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531059" y="1205179"/>
            <a:ext cx="58522" cy="58522"/>
          </a:xfrm>
          <a:prstGeom prst="ellipse">
            <a:avLst/>
          </a:prstGeom>
          <a:solidFill>
            <a:srgbClr val="00DCB4">
              <a:alpha val="20000"/>
            </a:srgbClr>
          </a:solidFill>
          <a:ln w="12700">
            <a:solidFill>
              <a:srgbClr val="00DCB4">
                <a:alpha val="2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262579" y="1205179"/>
            <a:ext cx="58522" cy="58522"/>
          </a:xfrm>
          <a:prstGeom prst="ellipse">
            <a:avLst/>
          </a:prstGeom>
          <a:solidFill>
            <a:srgbClr val="00DCB4">
              <a:alpha val="20000"/>
            </a:srgbClr>
          </a:solidFill>
          <a:ln w="12700">
            <a:solidFill>
              <a:srgbClr val="00DCB4">
                <a:alpha val="2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36499" y="1982419"/>
            <a:ext cx="58522" cy="58522"/>
          </a:xfrm>
          <a:prstGeom prst="ellipse">
            <a:avLst/>
          </a:prstGeom>
          <a:solidFill>
            <a:srgbClr val="00DCB4">
              <a:alpha val="20000"/>
            </a:srgbClr>
          </a:solidFill>
          <a:ln w="12700">
            <a:solidFill>
              <a:srgbClr val="00DCB4">
                <a:alpha val="2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68019" y="1982419"/>
            <a:ext cx="58522" cy="58522"/>
          </a:xfrm>
          <a:prstGeom prst="ellipse">
            <a:avLst/>
          </a:prstGeom>
          <a:solidFill>
            <a:srgbClr val="00DCB4">
              <a:alpha val="20000"/>
            </a:srgbClr>
          </a:solidFill>
          <a:ln w="12700">
            <a:solidFill>
              <a:srgbClr val="00DCB4">
                <a:alpha val="2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799539" y="1982419"/>
            <a:ext cx="58522" cy="58522"/>
          </a:xfrm>
          <a:prstGeom prst="ellipse">
            <a:avLst/>
          </a:prstGeom>
          <a:solidFill>
            <a:srgbClr val="00DCB4">
              <a:alpha val="20000"/>
            </a:srgbClr>
          </a:solidFill>
          <a:ln w="12700">
            <a:solidFill>
              <a:srgbClr val="00DCB4">
                <a:alpha val="2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531059" y="1982419"/>
            <a:ext cx="58522" cy="58522"/>
          </a:xfrm>
          <a:prstGeom prst="ellipse">
            <a:avLst/>
          </a:prstGeom>
          <a:solidFill>
            <a:srgbClr val="00DCB4">
              <a:alpha val="20000"/>
            </a:srgbClr>
          </a:solidFill>
          <a:ln w="12700">
            <a:solidFill>
              <a:srgbClr val="00DCB4">
                <a:alpha val="2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262579" y="1982419"/>
            <a:ext cx="58522" cy="58522"/>
          </a:xfrm>
          <a:prstGeom prst="ellipse">
            <a:avLst/>
          </a:prstGeom>
          <a:solidFill>
            <a:srgbClr val="00DCB4">
              <a:alpha val="20000"/>
            </a:srgbClr>
          </a:solidFill>
          <a:ln w="12700">
            <a:solidFill>
              <a:srgbClr val="00DCB4">
                <a:alpha val="20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36499" y="2759659"/>
            <a:ext cx="58522" cy="58522"/>
          </a:xfrm>
          <a:prstGeom prst="ellipse">
            <a:avLst/>
          </a:prstGeom>
          <a:solidFill>
            <a:srgbClr val="00DCB4">
              <a:alpha val="20000"/>
            </a:srgbClr>
          </a:solidFill>
          <a:ln w="12700">
            <a:solidFill>
              <a:srgbClr val="00DCB4">
                <a:alpha val="20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68019" y="2759659"/>
            <a:ext cx="58522" cy="58522"/>
          </a:xfrm>
          <a:prstGeom prst="ellipse">
            <a:avLst/>
          </a:prstGeom>
          <a:solidFill>
            <a:srgbClr val="00DCB4">
              <a:alpha val="20000"/>
            </a:srgbClr>
          </a:solidFill>
          <a:ln w="12700">
            <a:solidFill>
              <a:srgbClr val="00DCB4">
                <a:alpha val="20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799539" y="2759659"/>
            <a:ext cx="58522" cy="58522"/>
          </a:xfrm>
          <a:prstGeom prst="ellipse">
            <a:avLst/>
          </a:prstGeom>
          <a:solidFill>
            <a:srgbClr val="00DCB4">
              <a:alpha val="20000"/>
            </a:srgbClr>
          </a:solidFill>
          <a:ln w="12700">
            <a:solidFill>
              <a:srgbClr val="00DCB4">
                <a:alpha val="20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531059" y="2759659"/>
            <a:ext cx="58522" cy="58522"/>
          </a:xfrm>
          <a:prstGeom prst="ellipse">
            <a:avLst/>
          </a:prstGeom>
          <a:solidFill>
            <a:srgbClr val="00DCB4">
              <a:alpha val="20000"/>
            </a:srgbClr>
          </a:solidFill>
          <a:ln w="12700">
            <a:solidFill>
              <a:srgbClr val="00DCB4">
                <a:alpha val="20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262579" y="2759659"/>
            <a:ext cx="58522" cy="58522"/>
          </a:xfrm>
          <a:prstGeom prst="ellipse">
            <a:avLst/>
          </a:prstGeom>
          <a:solidFill>
            <a:srgbClr val="00DCB4">
              <a:alpha val="20000"/>
            </a:srgbClr>
          </a:solidFill>
          <a:ln w="12700">
            <a:solidFill>
              <a:srgbClr val="00DCB4">
                <a:alpha val="20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36499" y="3536899"/>
            <a:ext cx="58522" cy="58522"/>
          </a:xfrm>
          <a:prstGeom prst="ellipse">
            <a:avLst/>
          </a:prstGeom>
          <a:solidFill>
            <a:srgbClr val="00DCB4">
              <a:alpha val="20000"/>
            </a:srgbClr>
          </a:solidFill>
          <a:ln w="12700">
            <a:solidFill>
              <a:srgbClr val="00DCB4">
                <a:alpha val="20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068019" y="3536899"/>
            <a:ext cx="58522" cy="58522"/>
          </a:xfrm>
          <a:prstGeom prst="ellipse">
            <a:avLst/>
          </a:prstGeom>
          <a:solidFill>
            <a:srgbClr val="00DCB4">
              <a:alpha val="20000"/>
            </a:srgbClr>
          </a:solidFill>
          <a:ln w="12700">
            <a:solidFill>
              <a:srgbClr val="00DCB4">
                <a:alpha val="20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799539" y="3536899"/>
            <a:ext cx="58522" cy="58522"/>
          </a:xfrm>
          <a:prstGeom prst="ellipse">
            <a:avLst/>
          </a:prstGeom>
          <a:solidFill>
            <a:srgbClr val="00DCB4">
              <a:alpha val="20000"/>
            </a:srgbClr>
          </a:solidFill>
          <a:ln w="12700">
            <a:solidFill>
              <a:srgbClr val="00DCB4">
                <a:alpha val="20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531059" y="3536899"/>
            <a:ext cx="58522" cy="58522"/>
          </a:xfrm>
          <a:prstGeom prst="ellipse">
            <a:avLst/>
          </a:prstGeom>
          <a:solidFill>
            <a:srgbClr val="00DCB4">
              <a:alpha val="20000"/>
            </a:srgbClr>
          </a:solidFill>
          <a:ln w="12700">
            <a:solidFill>
              <a:srgbClr val="00DCB4">
                <a:alpha val="20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262579" y="3536899"/>
            <a:ext cx="58522" cy="58522"/>
          </a:xfrm>
          <a:prstGeom prst="ellipse">
            <a:avLst/>
          </a:prstGeom>
          <a:solidFill>
            <a:srgbClr val="00DCB4">
              <a:alpha val="20000"/>
            </a:srgbClr>
          </a:solidFill>
          <a:ln w="12700">
            <a:solidFill>
              <a:srgbClr val="00DCB4">
                <a:alpha val="20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36499" y="4314139"/>
            <a:ext cx="58522" cy="58522"/>
          </a:xfrm>
          <a:prstGeom prst="ellipse">
            <a:avLst/>
          </a:prstGeom>
          <a:solidFill>
            <a:srgbClr val="00DCB4">
              <a:alpha val="20000"/>
            </a:srgbClr>
          </a:solidFill>
          <a:ln w="12700">
            <a:solidFill>
              <a:srgbClr val="00DCB4">
                <a:alpha val="20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068019" y="4314139"/>
            <a:ext cx="58522" cy="58522"/>
          </a:xfrm>
          <a:prstGeom prst="ellipse">
            <a:avLst/>
          </a:prstGeom>
          <a:solidFill>
            <a:srgbClr val="00DCB4">
              <a:alpha val="20000"/>
            </a:srgbClr>
          </a:solidFill>
          <a:ln w="12700">
            <a:solidFill>
              <a:srgbClr val="00DCB4">
                <a:alpha val="20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799539" y="4314139"/>
            <a:ext cx="58522" cy="58522"/>
          </a:xfrm>
          <a:prstGeom prst="ellipse">
            <a:avLst/>
          </a:prstGeom>
          <a:solidFill>
            <a:srgbClr val="00DCB4">
              <a:alpha val="20000"/>
            </a:srgbClr>
          </a:solidFill>
          <a:ln w="12700">
            <a:solidFill>
              <a:srgbClr val="00DCB4">
                <a:alpha val="20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531059" y="4314139"/>
            <a:ext cx="58522" cy="58522"/>
          </a:xfrm>
          <a:prstGeom prst="ellipse">
            <a:avLst/>
          </a:prstGeom>
          <a:solidFill>
            <a:srgbClr val="00DCB4">
              <a:alpha val="20000"/>
            </a:srgbClr>
          </a:solidFill>
          <a:ln w="12700">
            <a:solidFill>
              <a:srgbClr val="00DCB4">
                <a:alpha val="20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262579" y="4314139"/>
            <a:ext cx="58522" cy="58522"/>
          </a:xfrm>
          <a:prstGeom prst="ellipse">
            <a:avLst/>
          </a:prstGeom>
          <a:solidFill>
            <a:srgbClr val="00DCB4">
              <a:alpha val="20000"/>
            </a:srgbClr>
          </a:solidFill>
          <a:ln w="12700">
            <a:solidFill>
              <a:srgbClr val="00DCB4">
                <a:alpha val="20000"/>
              </a:srgbClr>
            </a:solidFill>
            <a:prstDash val="solid"/>
          </a:ln>
        </p:spPr>
      </p:sp>
      <p:pic>
        <p:nvPicPr>
          <p:cNvPr id="3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292608"/>
            <a:ext cx="2011680" cy="566928"/>
          </a:xfrm>
          <a:prstGeom prst="rect">
            <a:avLst/>
          </a:prstGeom>
        </p:spPr>
      </p:pic>
      <p:sp>
        <p:nvSpPr>
          <p:cNvPr id="35" name="Text 32"/>
          <p:cNvSpPr/>
          <p:nvPr/>
        </p:nvSpPr>
        <p:spPr>
          <a:xfrm>
            <a:off x="365760" y="1097280"/>
            <a:ext cx="3474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Start your</a:t>
            </a:r>
            <a:endParaRPr lang="en-US" sz="2800" dirty="0"/>
          </a:p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coding journey.</a:t>
            </a:r>
            <a:endParaRPr lang="en-US" sz="2800" dirty="0"/>
          </a:p>
        </p:txBody>
      </p:sp>
      <p:sp>
        <p:nvSpPr>
          <p:cNvPr id="36" name="Text 33"/>
          <p:cNvSpPr/>
          <p:nvPr/>
        </p:nvSpPr>
        <p:spPr>
          <a:xfrm>
            <a:off x="365760" y="246888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A0B4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Choose your language. Join the next cohort.</a:t>
            </a:r>
            <a:endParaRPr lang="en-US" sz="1150" dirty="0"/>
          </a:p>
        </p:txBody>
      </p:sp>
      <p:sp>
        <p:nvSpPr>
          <p:cNvPr id="37" name="Shape 34"/>
          <p:cNvSpPr/>
          <p:nvPr/>
        </p:nvSpPr>
        <p:spPr>
          <a:xfrm>
            <a:off x="365760" y="2999232"/>
            <a:ext cx="3291840" cy="402336"/>
          </a:xfrm>
          <a:prstGeom prst="rect">
            <a:avLst/>
          </a:prstGeom>
          <a:solidFill>
            <a:srgbClr val="004D3E"/>
          </a:solidFill>
          <a:ln w="12700">
            <a:solidFill>
              <a:srgbClr val="00DCB4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38" name="Shape 35"/>
          <p:cNvSpPr/>
          <p:nvPr/>
        </p:nvSpPr>
        <p:spPr>
          <a:xfrm>
            <a:off x="365760" y="2999232"/>
            <a:ext cx="457200" cy="402336"/>
          </a:xfrm>
          <a:prstGeom prst="rect">
            <a:avLst/>
          </a:prstGeom>
          <a:solidFill>
            <a:srgbClr val="00DCB4"/>
          </a:solidFill>
          <a:ln w="12700">
            <a:solidFill>
              <a:srgbClr val="00DCB4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365760" y="2999232"/>
            <a:ext cx="457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80C1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</a:t>
            </a:r>
            <a:endParaRPr lang="en-US" sz="1000" dirty="0"/>
          </a:p>
        </p:txBody>
      </p:sp>
      <p:sp>
        <p:nvSpPr>
          <p:cNvPr id="40" name="Text 37"/>
          <p:cNvSpPr/>
          <p:nvPr/>
        </p:nvSpPr>
        <p:spPr>
          <a:xfrm>
            <a:off x="896112" y="2999232"/>
            <a:ext cx="2651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 — English Track</a:t>
            </a:r>
            <a:endParaRPr lang="en-US" sz="1100" dirty="0"/>
          </a:p>
        </p:txBody>
      </p:sp>
      <p:sp>
        <p:nvSpPr>
          <p:cNvPr id="41" name="Shape 38"/>
          <p:cNvSpPr/>
          <p:nvPr/>
        </p:nvSpPr>
        <p:spPr>
          <a:xfrm>
            <a:off x="365760" y="3474720"/>
            <a:ext cx="3291840" cy="402336"/>
          </a:xfrm>
          <a:prstGeom prst="rect">
            <a:avLst/>
          </a:prstGeom>
          <a:solidFill>
            <a:srgbClr val="5A4400"/>
          </a:solidFill>
          <a:ln w="12700">
            <a:solidFill>
              <a:srgbClr val="F5C842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42" name="Shape 39"/>
          <p:cNvSpPr/>
          <p:nvPr/>
        </p:nvSpPr>
        <p:spPr>
          <a:xfrm>
            <a:off x="365760" y="3474720"/>
            <a:ext cx="457200" cy="402336"/>
          </a:xfrm>
          <a:prstGeom prst="rect">
            <a:avLst/>
          </a:prstGeom>
          <a:solidFill>
            <a:srgbClr val="F5C842"/>
          </a:solidFill>
          <a:ln w="12700">
            <a:solidFill>
              <a:srgbClr val="F5C842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365760" y="3474720"/>
            <a:ext cx="457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80C1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中文</a:t>
            </a:r>
            <a:endParaRPr lang="en-US" sz="1000" dirty="0"/>
          </a:p>
        </p:txBody>
      </p:sp>
      <p:sp>
        <p:nvSpPr>
          <p:cNvPr id="44" name="Text 41"/>
          <p:cNvSpPr/>
          <p:nvPr/>
        </p:nvSpPr>
        <p:spPr>
          <a:xfrm>
            <a:off x="896112" y="3474720"/>
            <a:ext cx="2651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报名 — 华语班</a:t>
            </a:r>
            <a:endParaRPr lang="en-US" sz="1100" dirty="0"/>
          </a:p>
        </p:txBody>
      </p:sp>
      <p:sp>
        <p:nvSpPr>
          <p:cNvPr id="45" name="Shape 42"/>
          <p:cNvSpPr/>
          <p:nvPr/>
        </p:nvSpPr>
        <p:spPr>
          <a:xfrm>
            <a:off x="365760" y="3950208"/>
            <a:ext cx="3291840" cy="402336"/>
          </a:xfrm>
          <a:prstGeom prst="rect">
            <a:avLst/>
          </a:prstGeom>
          <a:solidFill>
            <a:srgbClr val="0D3A52"/>
          </a:solidFill>
          <a:ln w="12700">
            <a:solidFill>
              <a:srgbClr val="4FC3F7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46" name="Shape 43"/>
          <p:cNvSpPr/>
          <p:nvPr/>
        </p:nvSpPr>
        <p:spPr>
          <a:xfrm>
            <a:off x="365760" y="3950208"/>
            <a:ext cx="457200" cy="402336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47" name="Text 44"/>
          <p:cNvSpPr/>
          <p:nvPr/>
        </p:nvSpPr>
        <p:spPr>
          <a:xfrm>
            <a:off x="365760" y="3950208"/>
            <a:ext cx="457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80C1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BM</a:t>
            </a:r>
            <a:endParaRPr lang="en-US" sz="1000" dirty="0"/>
          </a:p>
        </p:txBody>
      </p:sp>
      <p:sp>
        <p:nvSpPr>
          <p:cNvPr id="48" name="Text 45"/>
          <p:cNvSpPr/>
          <p:nvPr/>
        </p:nvSpPr>
        <p:spPr>
          <a:xfrm>
            <a:off x="896112" y="3950208"/>
            <a:ext cx="2651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Daftar — Kelas BM</a:t>
            </a:r>
            <a:endParaRPr lang="en-US" sz="1100" dirty="0"/>
          </a:p>
        </p:txBody>
      </p:sp>
      <p:pic>
        <p:nvPicPr>
          <p:cNvPr id="4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4005072"/>
            <a:ext cx="219456" cy="219456"/>
          </a:xfrm>
          <a:prstGeom prst="rect">
            <a:avLst/>
          </a:prstGeom>
        </p:spPr>
      </p:pic>
      <p:sp>
        <p:nvSpPr>
          <p:cNvPr id="50" name="Text 46"/>
          <p:cNvSpPr/>
          <p:nvPr/>
        </p:nvSpPr>
        <p:spPr>
          <a:xfrm>
            <a:off x="713232" y="39776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DC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codencode.my</a:t>
            </a:r>
            <a:endParaRPr lang="en-US" sz="1100" dirty="0"/>
          </a:p>
        </p:txBody>
      </p:sp>
      <p:sp>
        <p:nvSpPr>
          <p:cNvPr id="51" name="Text 47"/>
          <p:cNvSpPr/>
          <p:nvPr/>
        </p:nvSpPr>
        <p:spPr>
          <a:xfrm>
            <a:off x="4572000" y="777240"/>
            <a:ext cx="4206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Ready to</a:t>
            </a:r>
            <a:endParaRPr lang="en-US" sz="4400" dirty="0"/>
          </a:p>
        </p:txBody>
      </p:sp>
      <p:sp>
        <p:nvSpPr>
          <p:cNvPr id="52" name="Text 48"/>
          <p:cNvSpPr/>
          <p:nvPr/>
        </p:nvSpPr>
        <p:spPr>
          <a:xfrm>
            <a:off x="4572000" y="1463040"/>
            <a:ext cx="4206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200" b="1" dirty="0">
                <a:solidFill>
                  <a:srgbClr val="00DCB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encode?</a:t>
            </a:r>
            <a:endParaRPr lang="en-US" sz="5200" dirty="0"/>
          </a:p>
        </p:txBody>
      </p:sp>
      <p:sp>
        <p:nvSpPr>
          <p:cNvPr id="53" name="Text 49"/>
          <p:cNvSpPr/>
          <p:nvPr/>
        </p:nvSpPr>
        <p:spPr>
          <a:xfrm>
            <a:off x="4572000" y="2395728"/>
            <a:ext cx="4206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A0B4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Visit codencode.my to register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A0B4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your preferred language track.</a:t>
            </a:r>
            <a:endParaRPr lang="en-US" sz="1250" dirty="0"/>
          </a:p>
        </p:txBody>
      </p:sp>
      <p:sp>
        <p:nvSpPr>
          <p:cNvPr id="54" name="Shape 50"/>
          <p:cNvSpPr/>
          <p:nvPr/>
        </p:nvSpPr>
        <p:spPr>
          <a:xfrm>
            <a:off x="4572000" y="3218688"/>
            <a:ext cx="438912" cy="347472"/>
          </a:xfrm>
          <a:prstGeom prst="rect">
            <a:avLst/>
          </a:prstGeom>
          <a:solidFill>
            <a:srgbClr val="0A1628"/>
          </a:solidFill>
          <a:ln w="12700">
            <a:solidFill>
              <a:srgbClr val="00DCB4"/>
            </a:solidFill>
            <a:prstDash val="solid"/>
          </a:ln>
        </p:spPr>
      </p:sp>
      <p:sp>
        <p:nvSpPr>
          <p:cNvPr id="55" name="Text 51"/>
          <p:cNvSpPr/>
          <p:nvPr/>
        </p:nvSpPr>
        <p:spPr>
          <a:xfrm>
            <a:off x="4572000" y="3218688"/>
            <a:ext cx="4389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DC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</a:t>
            </a:r>
            <a:endParaRPr lang="en-US" sz="900" dirty="0"/>
          </a:p>
        </p:txBody>
      </p:sp>
      <p:sp>
        <p:nvSpPr>
          <p:cNvPr id="56" name="Text 52"/>
          <p:cNvSpPr/>
          <p:nvPr/>
        </p:nvSpPr>
        <p:spPr>
          <a:xfrm>
            <a:off x="5074920" y="3218688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English Track — Python &amp; ML</a:t>
            </a:r>
            <a:endParaRPr lang="en-US" sz="1100" dirty="0"/>
          </a:p>
        </p:txBody>
      </p:sp>
      <p:sp>
        <p:nvSpPr>
          <p:cNvPr id="57" name="Shape 53"/>
          <p:cNvSpPr/>
          <p:nvPr/>
        </p:nvSpPr>
        <p:spPr>
          <a:xfrm>
            <a:off x="4572000" y="3694176"/>
            <a:ext cx="438912" cy="347472"/>
          </a:xfrm>
          <a:prstGeom prst="rect">
            <a:avLst/>
          </a:prstGeom>
          <a:solidFill>
            <a:srgbClr val="0A1628"/>
          </a:solidFill>
          <a:ln w="12700">
            <a:solidFill>
              <a:srgbClr val="F5C842"/>
            </a:solidFill>
            <a:prstDash val="solid"/>
          </a:ln>
        </p:spPr>
      </p:sp>
      <p:sp>
        <p:nvSpPr>
          <p:cNvPr id="58" name="Text 54"/>
          <p:cNvSpPr/>
          <p:nvPr/>
        </p:nvSpPr>
        <p:spPr>
          <a:xfrm>
            <a:off x="4572000" y="3694176"/>
            <a:ext cx="4389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5C8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中</a:t>
            </a:r>
            <a:endParaRPr lang="en-US" sz="900" dirty="0"/>
          </a:p>
        </p:txBody>
      </p:sp>
      <p:sp>
        <p:nvSpPr>
          <p:cNvPr id="59" name="Text 55"/>
          <p:cNvSpPr/>
          <p:nvPr/>
        </p:nvSpPr>
        <p:spPr>
          <a:xfrm>
            <a:off x="5074920" y="3694176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华语班 — Python &amp; ML</a:t>
            </a:r>
            <a:endParaRPr lang="en-US" sz="1100" dirty="0"/>
          </a:p>
        </p:txBody>
      </p:sp>
      <p:sp>
        <p:nvSpPr>
          <p:cNvPr id="60" name="Shape 56"/>
          <p:cNvSpPr/>
          <p:nvPr/>
        </p:nvSpPr>
        <p:spPr>
          <a:xfrm>
            <a:off x="4572000" y="4169664"/>
            <a:ext cx="438912" cy="347472"/>
          </a:xfrm>
          <a:prstGeom prst="rect">
            <a:avLst/>
          </a:prstGeom>
          <a:solidFill>
            <a:srgbClr val="0A1628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61" name="Text 57"/>
          <p:cNvSpPr/>
          <p:nvPr/>
        </p:nvSpPr>
        <p:spPr>
          <a:xfrm>
            <a:off x="4572000" y="4169664"/>
            <a:ext cx="4389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FC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BM</a:t>
            </a:r>
            <a:endParaRPr lang="en-US" sz="900" dirty="0"/>
          </a:p>
        </p:txBody>
      </p:sp>
      <p:sp>
        <p:nvSpPr>
          <p:cNvPr id="62" name="Text 58"/>
          <p:cNvSpPr/>
          <p:nvPr/>
        </p:nvSpPr>
        <p:spPr>
          <a:xfrm>
            <a:off x="5074920" y="4169664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Kelas BM — Python &amp; ML</a:t>
            </a:r>
            <a:endParaRPr lang="en-US" sz="1100" dirty="0"/>
          </a:p>
        </p:txBody>
      </p:sp>
      <p:sp>
        <p:nvSpPr>
          <p:cNvPr id="63" name="Shape 59"/>
          <p:cNvSpPr/>
          <p:nvPr/>
        </p:nvSpPr>
        <p:spPr>
          <a:xfrm>
            <a:off x="4572000" y="4315968"/>
            <a:ext cx="2560320" cy="512064"/>
          </a:xfrm>
          <a:prstGeom prst="rect">
            <a:avLst/>
          </a:prstGeom>
          <a:solidFill>
            <a:srgbClr val="00DCB4"/>
          </a:solidFill>
          <a:ln w="12700">
            <a:solidFill>
              <a:srgbClr val="00DCB4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64" name="Text 60"/>
          <p:cNvSpPr/>
          <p:nvPr/>
        </p:nvSpPr>
        <p:spPr>
          <a:xfrm>
            <a:off x="4572000" y="4315968"/>
            <a:ext cx="2560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80C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codencode.my →</a:t>
            </a:r>
            <a:endParaRPr lang="en-US" sz="1300" dirty="0"/>
          </a:p>
        </p:txBody>
      </p:sp>
      <p:sp>
        <p:nvSpPr>
          <p:cNvPr id="65" name="Text 61"/>
          <p:cNvSpPr/>
          <p:nvPr/>
        </p:nvSpPr>
        <p:spPr>
          <a:xfrm>
            <a:off x="7269480" y="4315968"/>
            <a:ext cx="1645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8A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+60 113 165 2854</a:t>
            </a:r>
            <a:endParaRPr lang="en-US" sz="1100" dirty="0"/>
          </a:p>
        </p:txBody>
      </p:sp>
      <p:sp>
        <p:nvSpPr>
          <p:cNvPr id="66" name="Shape 62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30608"/>
          </a:solidFill>
          <a:ln w="12700">
            <a:solidFill>
              <a:srgbClr val="030608"/>
            </a:solidFill>
            <a:prstDash val="solid"/>
          </a:ln>
        </p:spPr>
      </p:sp>
      <p:sp>
        <p:nvSpPr>
          <p:cNvPr id="67" name="Shape 63"/>
          <p:cNvSpPr/>
          <p:nvPr/>
        </p:nvSpPr>
        <p:spPr>
          <a:xfrm>
            <a:off x="0" y="4800600"/>
            <a:ext cx="2011680" cy="34290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68" name="Text 64"/>
          <p:cNvSpPr/>
          <p:nvPr/>
        </p:nvSpPr>
        <p:spPr>
          <a:xfrm>
            <a:off x="182880" y="4809744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DC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codencode.my</a:t>
            </a:r>
            <a:endParaRPr lang="en-US" sz="900" dirty="0"/>
          </a:p>
        </p:txBody>
      </p:sp>
      <p:sp>
        <p:nvSpPr>
          <p:cNvPr id="69" name="Text 65"/>
          <p:cNvSpPr/>
          <p:nvPr/>
        </p:nvSpPr>
        <p:spPr>
          <a:xfrm>
            <a:off x="2194560" y="4809744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8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hello@codencode.my  |  +60 113 165 2854</a:t>
            </a:r>
            <a:endParaRPr lang="en-US" sz="800" dirty="0"/>
          </a:p>
        </p:txBody>
      </p:sp>
      <p:sp>
        <p:nvSpPr>
          <p:cNvPr id="70" name="Text 66"/>
          <p:cNvSpPr/>
          <p:nvPr/>
        </p:nvSpPr>
        <p:spPr>
          <a:xfrm>
            <a:off x="6766560" y="4809744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i="1" spc="100" kern="0" dirty="0">
                <a:solidFill>
                  <a:srgbClr val="A0B4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 • BUILD • ENCODE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codencode.my — Coding Academy</dc:title>
  <dc:subject>PptxGenJS Presentation</dc:subject>
  <dc:creator>PptxGenJS</dc:creator>
  <cp:lastModifiedBy>PptxGenJS</cp:lastModifiedBy>
  <cp:revision>1</cp:revision>
  <dcterms:created xsi:type="dcterms:W3CDTF">2026-03-09T06:25:09Z</dcterms:created>
  <dcterms:modified xsi:type="dcterms:W3CDTF">2026-03-09T06:25:09Z</dcterms:modified>
</cp:coreProperties>
</file>