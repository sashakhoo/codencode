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3720" y="0"/>
            <a:ext cx="2240280" cy="5143500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85432" y="0"/>
            <a:ext cx="4114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0" y="91440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00B4D8">
                    <a:alpha val="1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&lt;/&gt;</a:t>
            </a:r>
            <a:endParaRPr lang="en-US" sz="8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6032" y="65836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56032" y="65836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804672" y="658368"/>
            <a:ext cx="109728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6583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01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56032" y="10515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Mindset &amp; the 5-Step Workflow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256032" y="2121408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machine learning works and how to approach any ML problem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256032" y="2633472"/>
            <a:ext cx="6400800" cy="182880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6032" y="2633472"/>
            <a:ext cx="50292" cy="182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4048" y="269748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 you will be able to: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84048" y="303580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Explain the difference between AI, ML and traditional programming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84048" y="345643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Describe supervised vs unsupervised learning with real examples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84048" y="387705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Apply the 5-step ML workflow to any new problem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01 — ML Mindset &amp; the 5-Step Workflow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vs ML vs Deep Learning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1938528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84048" y="786384"/>
            <a:ext cx="402336" cy="402336"/>
          </a:xfrm>
          <a:prstGeom prst="rect">
            <a:avLst/>
          </a:prstGeom>
          <a:solidFill>
            <a:srgbClr val="00DCB4">
              <a:alpha val="22000"/>
            </a:srgbClr>
          </a:solidFill>
          <a:ln w="12700">
            <a:solidFill>
              <a:srgbClr val="00DCB4">
                <a:alpha val="22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786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77824" y="7863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Intelligence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84048" y="1261872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broad goal: build machines that perform tasks requiring human intelligence. AI is the umbrella term — the dream.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658368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658368"/>
            <a:ext cx="50292" cy="1938528"/>
          </a:xfrm>
          <a:prstGeom prst="rect">
            <a:avLst/>
          </a:prstGeom>
          <a:solidFill>
            <a:srgbClr val="FFCB6B"/>
          </a:solidFill>
          <a:ln w="12700">
            <a:solidFill>
              <a:srgbClr val="FFCB6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91456" y="786384"/>
            <a:ext cx="402336" cy="402336"/>
          </a:xfrm>
          <a:prstGeom prst="rect">
            <a:avLst/>
          </a:prstGeom>
          <a:solidFill>
            <a:srgbClr val="FFCB6B">
              <a:alpha val="22000"/>
            </a:srgbClr>
          </a:solidFill>
          <a:ln w="12700">
            <a:solidFill>
              <a:srgbClr val="FFCB6B">
                <a:alpha val="22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91456" y="786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285232" y="7863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791456" y="1261872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subset of AI. Instead of coding rules manually, we feed data and let the machine learn patterns automatically.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56032" y="2816352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56032" y="2816352"/>
            <a:ext cx="50292" cy="1938528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84048" y="2944368"/>
            <a:ext cx="402336" cy="402336"/>
          </a:xfrm>
          <a:prstGeom prst="rect">
            <a:avLst/>
          </a:prstGeom>
          <a:solidFill>
            <a:srgbClr val="C792EA">
              <a:alpha val="22000"/>
            </a:srgbClr>
          </a:solidFill>
          <a:ln w="12700">
            <a:solidFill>
              <a:srgbClr val="C792EA">
                <a:alpha val="22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4048" y="2944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DL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77824" y="294436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84048" y="3419856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subset of ML using neural networks with many layers. Powers image recognition, ChatGPT, voice assistants.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663440" y="2816352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663440" y="2816352"/>
            <a:ext cx="50292" cy="19385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791456" y="2944368"/>
            <a:ext cx="402336" cy="402336"/>
          </a:xfrm>
          <a:prstGeom prst="rect">
            <a:avLst/>
          </a:prstGeom>
          <a:solidFill>
            <a:srgbClr val="00B4D8">
              <a:alpha val="22000"/>
            </a:srgbClr>
          </a:solidFill>
          <a:ln w="12700">
            <a:solidFill>
              <a:srgbClr val="00B4D8">
                <a:alpha val="22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91456" y="2944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285232" y="294436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Science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791456" y="3419856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statistics, ML and programming to extract insights from data. Overlaps heavily with ML in practice.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01 — ML Mindset &amp; the 5-Step Workflow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 of Machine Learning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397764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How machines learn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52144"/>
            <a:ext cx="370332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are 3 main learning styles: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🏷️  Supervised Learning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give labelled examples. Model learns input→output.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 spam filter, price prediction, diagnosis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Unsupervised Learning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labels. Model finds hidden patterns itself.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 customer segments, anomaly detection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🎮  Reinforcement Learning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takes actions, gets rewards/penalties.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 game AI (AlphaGo), robotics, self-driving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658368"/>
            <a:ext cx="4407408" cy="3931920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658368"/>
            <a:ext cx="4407408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6864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64608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02352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6766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ml_types.py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90288" y="1060704"/>
            <a:ext cx="420624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Supervised — predicting house price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Input:  [size, bedrooms, location]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 price (you provide examples)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Unsupervised — grouping customers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Input:  [age, spend, frequency]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 cluster labels (no labels given)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Reinforcement — game agent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State:  game board position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Action: move left / right / jump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Reward: +1 for score, -1 for death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Most practical ML is supervised learning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(classification and regression)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01 — ML Mindset &amp; the 5-Step Workflow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ML Workflow — 6 Steps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ml_workflow.py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1: Define the problem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"Predict if a student will pass"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2: Collect data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study_hours = [1, 2, 3, 4, 5, 6, 7, 8]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passed      = [0, 0, 0, 1, 1, 1, 1, 1]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3: Prepare data (clean, split)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X_train, X_test, y_train, y_test = split(data)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4: Choose and train model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model = LogisticRegression()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model.fit(X_train, y_train)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5: Evaluate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accuracy = model.score(X_test, y_test)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6: Predict on new data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model.predict([[5.5]])  # → [1] = PASS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This 6-step process applies to ALL ML projects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ML project follows this same pipeline. This week we understand the big picture — from week 2 onwards we implement each step in Python.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01 — ML Mindset &amp; the 5-Step Workflow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in the Real World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397764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Applications you already use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52144"/>
            <a:ext cx="370332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is already part of your daily life: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Your phone: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Face ID → face recognition (DL)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Siri/Google → speech recognition (DL)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Photo categorisation → image classification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 Shopping &amp; streaming: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"Recommended for you" → collaborative filtering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Spam filter → text classification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Fraud detection → anomaly detection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 High-stakes applications: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Cancer detection from X-rays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Autonomous vehicles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Financial risk scoring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658368"/>
            <a:ext cx="4407408" cy="3931920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658368"/>
            <a:ext cx="4407408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6864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64608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02352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6766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ml_examples.py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90288" y="1060704"/>
            <a:ext cx="420624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Simple spam detector concept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emails = 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("Win a free prize now!!!", "spam"),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("Meeting at 3pm tomorrow", "not spam"),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("CLICK HERE to claim reward", "spam"),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("Your assignment feedback", "not spam"),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ML model learns: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"free","win","click" → spam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"meeting","assignment" → not spam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After training on thousands of examples,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it classifies new emails automatically.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This is supervised text classification 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 of the most common ML tasks.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01 — ML Mindset &amp; the 5-Step Workflow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ML Vocabulary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1938528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84048" y="786384"/>
            <a:ext cx="402336" cy="402336"/>
          </a:xfrm>
          <a:prstGeom prst="rect">
            <a:avLst/>
          </a:prstGeom>
          <a:solidFill>
            <a:srgbClr val="00DCB4">
              <a:alpha val="22000"/>
            </a:srgbClr>
          </a:solidFill>
          <a:ln w="12700">
            <a:solidFill>
              <a:srgbClr val="00DCB4">
                <a:alpha val="22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786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77824" y="7863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(X)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84048" y="1261872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input variables fed to the model. Also called attributes or predictors. Example: [age, salary, study_hours].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658368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658368"/>
            <a:ext cx="50292" cy="1938528"/>
          </a:xfrm>
          <a:prstGeom prst="rect">
            <a:avLst/>
          </a:prstGeom>
          <a:solidFill>
            <a:srgbClr val="FFCB6B"/>
          </a:solidFill>
          <a:ln w="12700">
            <a:solidFill>
              <a:srgbClr val="FFCB6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91456" y="786384"/>
            <a:ext cx="402336" cy="402336"/>
          </a:xfrm>
          <a:prstGeom prst="rect">
            <a:avLst/>
          </a:prstGeom>
          <a:solidFill>
            <a:srgbClr val="FFCB6B">
              <a:alpha val="22000"/>
            </a:srgbClr>
          </a:solidFill>
          <a:ln w="12700">
            <a:solidFill>
              <a:srgbClr val="FFCB6B">
                <a:alpha val="22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91456" y="786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labl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285232" y="7863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 (y)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791456" y="1261872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output we're trying to predict. Also called target variable. Example: passed/failed, price, spam/not spam.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56032" y="2816352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56032" y="2816352"/>
            <a:ext cx="50292" cy="1938528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84048" y="2944368"/>
            <a:ext cx="402336" cy="402336"/>
          </a:xfrm>
          <a:prstGeom prst="rect">
            <a:avLst/>
          </a:prstGeom>
          <a:solidFill>
            <a:srgbClr val="C792EA">
              <a:alpha val="22000"/>
            </a:srgbClr>
          </a:solidFill>
          <a:ln w="12700">
            <a:solidFill>
              <a:srgbClr val="C792EA">
                <a:alpha val="22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4048" y="2944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77824" y="294436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84048" y="3419856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Fitting the model on labelled data so it learns the relationship between features and labels. The model 'sees' this data.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663440" y="2816352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663440" y="2816352"/>
            <a:ext cx="50292" cy="19385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791456" y="2944368"/>
            <a:ext cx="402336" cy="402336"/>
          </a:xfrm>
          <a:prstGeom prst="rect">
            <a:avLst/>
          </a:prstGeom>
          <a:solidFill>
            <a:srgbClr val="00B4D8">
              <a:alpha val="22000"/>
            </a:srgbClr>
          </a:solidFill>
          <a:ln w="12700">
            <a:solidFill>
              <a:srgbClr val="00B4D8">
                <a:alpha val="22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91456" y="2944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285232" y="294436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791456" y="3419856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Evaluating on data the model has never seen — the only honest way to know if your model actually generalises.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01 — ML Mindset &amp; the 5-Step Workflow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 vs Regression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397764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Two flavours of supervised learning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52144"/>
            <a:ext cx="370332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learning splits into two main types based on what you're predicting: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Regression — predicting a continuous number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House price: RM 450,000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Temperature: 32.5°C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Exam score: 87.3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🏷️ Classification — predicting a category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Spam or not spam?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Disease: positive or negative?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Digit: 0 through 9?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the right type is your first decision in every ML project.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658368"/>
            <a:ext cx="4407408" cy="3931920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658368"/>
            <a:ext cx="4407408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6864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64608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02352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6766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reg_vs_class.py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90288" y="1060704"/>
            <a:ext cx="420624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LinearRegression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LogisticRegression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Regression — predicts a number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reg_model = LinearRegression()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reg_model.fit(X, y_continuous)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reg_model.predict([[5]])  → [85.3]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Classification — predicts a class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clf_model = LogisticRegression()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clf_model.fit(X, y_labels)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clf_model.predict([[5]])  → ['pass']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 type tells you which to use: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Number  → Regression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Category → Classification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01 — ML Mindset &amp; the 5-Step Workflow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 Quiz Time!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1024128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10241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8580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Q: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32688" y="713232"/>
            <a:ext cx="7818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music app learns your preferences and recommends songs — without you ever labelling what you like. Which type of ML is this?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56032" y="1883664"/>
            <a:ext cx="4160520" cy="1097280"/>
          </a:xfrm>
          <a:prstGeom prst="rect">
            <a:avLst/>
          </a:prstGeom>
          <a:solidFill>
            <a:srgbClr val="0D1A2E"/>
          </a:solidFill>
          <a:ln w="12700">
            <a:solidFill>
              <a:srgbClr val="00DCB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56032" y="1883664"/>
            <a:ext cx="621792" cy="1097280"/>
          </a:xfrm>
          <a:prstGeom prst="rect">
            <a:avLst/>
          </a:prstGeom>
          <a:solidFill>
            <a:srgbClr val="00DCB4">
              <a:alpha val="20000"/>
            </a:srgbClr>
          </a:solidFill>
          <a:ln w="12700">
            <a:solidFill>
              <a:srgbClr val="00DCB4">
                <a:alpha val="2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6032" y="1883664"/>
            <a:ext cx="621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C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50976" y="1883664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Learning — because it needs your listening history as input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690872" y="1883664"/>
            <a:ext cx="4160520" cy="1097280"/>
          </a:xfrm>
          <a:prstGeom prst="rect">
            <a:avLst/>
          </a:prstGeom>
          <a:solidFill>
            <a:srgbClr val="0D1A2E"/>
          </a:solidFill>
          <a:ln w="12700">
            <a:solidFill>
              <a:srgbClr val="C792E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90872" y="1883664"/>
            <a:ext cx="621792" cy="1097280"/>
          </a:xfrm>
          <a:prstGeom prst="rect">
            <a:avLst/>
          </a:prstGeom>
          <a:solidFill>
            <a:srgbClr val="C792EA">
              <a:alpha val="20000"/>
            </a:srgbClr>
          </a:solidFill>
          <a:ln w="12700">
            <a:solidFill>
              <a:srgbClr val="C792EA">
                <a:alpha val="2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90872" y="1883664"/>
            <a:ext cx="621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79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385816" y="1883664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Unsupervised Learning — it finds patterns in behaviour without labels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256032" y="3145536"/>
            <a:ext cx="4160520" cy="1097280"/>
          </a:xfrm>
          <a:prstGeom prst="rect">
            <a:avLst/>
          </a:prstGeom>
          <a:solidFill>
            <a:srgbClr val="0D1A2E"/>
          </a:solidFill>
          <a:ln w="12700">
            <a:solidFill>
              <a:srgbClr val="FFCB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56032" y="3145536"/>
            <a:ext cx="621792" cy="1097280"/>
          </a:xfrm>
          <a:prstGeom prst="rect">
            <a:avLst/>
          </a:prstGeom>
          <a:solidFill>
            <a:srgbClr val="FFCB6B">
              <a:alpha val="20000"/>
            </a:srgbClr>
          </a:solidFill>
          <a:ln w="12700">
            <a:solidFill>
              <a:srgbClr val="FFCB6B">
                <a:alpha val="2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56032" y="3145536"/>
            <a:ext cx="621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950976" y="3145536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Reinforcement Learning — the app gets rewarded when you listen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690872" y="3145536"/>
            <a:ext cx="4160520" cy="1097280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690872" y="3145536"/>
            <a:ext cx="621792" cy="1097280"/>
          </a:xfrm>
          <a:prstGeom prst="rect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90872" y="3145536"/>
            <a:ext cx="621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5385816" y="3145536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— because it uses a neural network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01 — ML Mindset &amp; the 5-Step Workflow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Setting Up Your ML Environment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397764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Tools we'll use this course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52144"/>
            <a:ext cx="370332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course uses Python with the standard data science stack.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libraries: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NumPy    — fast numerical arrays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Pandas   — data tables (DataFrames)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Matplotlib — charts and visualisations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Scikit-learn — ML algorithms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Keras/TF — neural networks (Week 8)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everything at once: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pip install numpy pandas matplotlib scikit-learn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We'll use Jupyter Notebook or VS Code. Test your setup with the code on the right.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658368"/>
            <a:ext cx="4407408" cy="3931920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658368"/>
            <a:ext cx="4407408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6864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64608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02352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6766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setup_test.py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90288" y="1060704"/>
            <a:ext cx="420624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LogisticRegression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print("NumPy:", np.__version__)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print("Pandas:", pd.__version__)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Quick sanity check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 = np.array([1, 2, 3, 4, 5])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print("Mean:", arr.mean())   # 3.0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print("Std:", arr.std())     # 1.414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If this runs without errors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your environment is ready! ✅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01 — ML Mindset &amp; the 5-Step Workflow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First ML Model — 10 Lines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first_model.py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LinearRegression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Study hours (features) and scores (labels)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np.array([[1],[2],[3],[4],[5],[6],[7],[8]])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np.array([35, 42, 55, 65, 72, 80, 88, 93])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Train the model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LinearRegression()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model.fit(X, y)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Make predictions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hours = np.array([[5.5], [9]])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predictions = model.predict(hours)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print(f"5.5 hours → {predictions[0]:.1f}")  # ~76.2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print(f"9.0 hours → {predictions[1]:.1f}")  # ~95.8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Model learned: score ≈ 8.6 × hours + 27.5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complete ML model in 10 lines. LinearRegression finds the best-fit line through the data. fit() trains it; predict() uses it. You've just built ML.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01 — ML Mindset &amp; the 5-Step Workflow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Understanding Overfitting &amp; Underfitting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fit_concepts.py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Underfitting — model too simple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(high training error, high test error)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line doesn't capture the pattern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Good fit — just right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(low training error, low test error)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Model generalises to new data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Overfitting — model too complex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(very low training error, HIGH test error)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Model memorised training data, can't generalise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How to detect: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 Train accuracy &gt;&gt; Test accuracy → overfit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 Both accuracies low → underfit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Solutions: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Overfitting:  get more data, simplify model,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    regularisation, cross-validation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Underfitting: use more complex model,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    add more features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print("Rule of thumb:")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print("Training acc &gt;&gt; Test acc → OVERFIT")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print("Both low → UNDERFIT")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Overfitting and underfitting are the two fundamental problems in ML. Every technique you learn this course is ultimately about finding the right balance.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01 — ML Mindset &amp; the 5-Step Workflow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ML Landscape — What's Coming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1938528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84048" y="786384"/>
            <a:ext cx="402336" cy="402336"/>
          </a:xfrm>
          <a:prstGeom prst="rect">
            <a:avLst/>
          </a:prstGeom>
          <a:solidFill>
            <a:srgbClr val="00DCB4">
              <a:alpha val="22000"/>
            </a:srgbClr>
          </a:solidFill>
          <a:ln w="12700">
            <a:solidFill>
              <a:srgbClr val="00DCB4">
                <a:alpha val="22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786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W2-4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77824" y="7863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Foundation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84048" y="1261872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 arrays, Pandas DataFrames, and Matplotlib/Seaborn visualisations. 70% of ML work is data preparation.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658368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658368"/>
            <a:ext cx="50292" cy="1938528"/>
          </a:xfrm>
          <a:prstGeom prst="rect">
            <a:avLst/>
          </a:prstGeom>
          <a:solidFill>
            <a:srgbClr val="FFCB6B"/>
          </a:solidFill>
          <a:ln w="12700">
            <a:solidFill>
              <a:srgbClr val="FFCB6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91456" y="786384"/>
            <a:ext cx="402336" cy="402336"/>
          </a:xfrm>
          <a:prstGeom prst="rect">
            <a:avLst/>
          </a:prstGeom>
          <a:solidFill>
            <a:srgbClr val="FFCB6B">
              <a:alpha val="22000"/>
            </a:srgbClr>
          </a:solidFill>
          <a:ln w="12700">
            <a:solidFill>
              <a:srgbClr val="FFCB6B">
                <a:alpha val="22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91456" y="786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W5-6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285232" y="7863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Algorithms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791456" y="1261872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Regression, Logistic Regression, Decision Trees, Random Forests, SVM — the most widely used ML models.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56032" y="2816352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56032" y="2816352"/>
            <a:ext cx="50292" cy="1938528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84048" y="2944368"/>
            <a:ext cx="402336" cy="402336"/>
          </a:xfrm>
          <a:prstGeom prst="rect">
            <a:avLst/>
          </a:prstGeom>
          <a:solidFill>
            <a:srgbClr val="C792EA">
              <a:alpha val="22000"/>
            </a:srgbClr>
          </a:solidFill>
          <a:ln w="12700">
            <a:solidFill>
              <a:srgbClr val="C792EA">
                <a:alpha val="22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4048" y="2944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W7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77824" y="294436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Evaluation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84048" y="3419856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Accuracy, precision, recall, F1, ROC curves, cross-validation and hyperparameter tuning — how to know if your model is good.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663440" y="2816352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663440" y="2816352"/>
            <a:ext cx="50292" cy="19385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791456" y="2944368"/>
            <a:ext cx="402336" cy="402336"/>
          </a:xfrm>
          <a:prstGeom prst="rect">
            <a:avLst/>
          </a:prstGeom>
          <a:solidFill>
            <a:srgbClr val="00B4D8">
              <a:alpha val="22000"/>
            </a:srgbClr>
          </a:solidFill>
          <a:ln w="12700">
            <a:solidFill>
              <a:srgbClr val="00B4D8">
                <a:alpha val="22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91456" y="2944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W8-9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285232" y="294436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791456" y="3419856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Keras, dense layers, CNNs — the foundation of deep learning. Used for image, text and sequential data problems.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01 — ML Mindset &amp; the 5-Step Workflow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⌨️  Try It Yourself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507492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ML Concept Map + Environment Setup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33856"/>
            <a:ext cx="480060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Install numpy, pandas, matplotlib, scikit-learn using pip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Run the setup_test.py code and confirm all libraries import successfully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Run the first_model.py code — predict a score for 10 study hours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Draw a concept map: AI → ML → Deep Learning, with 2 real examples each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Find 1 real-world ML application and identify: what are the features? what is the label?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Bonus: Read about one famous ML dataset (Iris, Titanic, MNIST) and describe it in 3 sentences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77840" y="658368"/>
            <a:ext cx="3310128" cy="1261872"/>
          </a:xfrm>
          <a:prstGeom prst="rect">
            <a:avLst/>
          </a:prstGeom>
          <a:solidFill>
            <a:srgbClr val="1A1200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687568" y="7315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 XP Reward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687568" y="104241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XP</a:t>
            </a:r>
            <a:endParaRPr lang="en-US" sz="3400" dirty="0"/>
          </a:p>
        </p:txBody>
      </p:sp>
      <p:sp>
        <p:nvSpPr>
          <p:cNvPr id="12" name="Shape 9"/>
          <p:cNvSpPr/>
          <p:nvPr/>
        </p:nvSpPr>
        <p:spPr>
          <a:xfrm>
            <a:off x="5577840" y="2084832"/>
            <a:ext cx="3310128" cy="987552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87568" y="21579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 Time Limit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687568" y="24505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min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5577840" y="3236976"/>
            <a:ext cx="3310128" cy="1353312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87568" y="33101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output: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87568" y="3621024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NumPy: 1.x.x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Pandas: 2.x.x ✅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hours → ~113 score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Concept map drawn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01 — ML Mindset &amp; the 5-Step Workflow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⌨️  Try It Yourself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507492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Classification vs Regression — Identify Each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33856"/>
            <a:ext cx="480060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For each scenario, write: Regression or Classification, and why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Scenario A: Predict tomorrow's temperature in Johor Bahru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Scenario B: Detect whether a bank transaction is fraudulent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Scenario C: Estimate the price of a used car given age and mileage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Scenario D: Classify a skin lesion photo as benign or malignant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Bonus: Think of 2 ML applications in Malaysia — classify each as supervised/unsupervised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77840" y="658368"/>
            <a:ext cx="3310128" cy="1261872"/>
          </a:xfrm>
          <a:prstGeom prst="rect">
            <a:avLst/>
          </a:prstGeom>
          <a:solidFill>
            <a:srgbClr val="1A1200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687568" y="7315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 XP Reward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687568" y="104241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XP</a:t>
            </a:r>
            <a:endParaRPr lang="en-US" sz="3400" dirty="0"/>
          </a:p>
        </p:txBody>
      </p:sp>
      <p:sp>
        <p:nvSpPr>
          <p:cNvPr id="12" name="Shape 9"/>
          <p:cNvSpPr/>
          <p:nvPr/>
        </p:nvSpPr>
        <p:spPr>
          <a:xfrm>
            <a:off x="5577840" y="2084832"/>
            <a:ext cx="3310128" cy="987552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87568" y="21579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 Time Limit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687568" y="24505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min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5577840" y="3236976"/>
            <a:ext cx="3310128" cy="1353312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87568" y="33101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output: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87568" y="3621024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A: Regression (continuous temp)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B: Classification (fraud/not)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 Regression (continuous price)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D: Classification (2 categories)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01 — ML Mindset &amp; the 5-Step Workflow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Summary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5440680" cy="2834640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2834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498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What we learned today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5214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AI is the goal; ML is the method; Deep Learning is a powerful technique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84048" y="15727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Supervised: labelled data → predict output. Unsupervised: find patterns without labels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84048" y="19933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Regression predicts numbers; Classification predicts categories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84048" y="241401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The 6-step ML pipeline applies to every project — data to deployment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84048" y="2834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Our stack: NumPy, Pandas, Matplotlib, Scikit-learn, Keras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943600" y="658368"/>
            <a:ext cx="2944368" cy="283464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053328" y="74980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Next Week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053328" y="1133856"/>
            <a:ext cx="265176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2: NumPy for Data Science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We'll master NumPy arrays — the foundation of all ML in Python. Fast, powerful, and essential for every calculation.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256032" y="3639312"/>
            <a:ext cx="8631936" cy="987552"/>
          </a:xfrm>
          <a:prstGeom prst="rect">
            <a:avLst/>
          </a:prstGeom>
          <a:solidFill>
            <a:srgbClr val="1A1200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56032" y="3639312"/>
            <a:ext cx="50292" cy="98755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4048" y="369417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 This Week's Assignment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384048" y="4023360"/>
            <a:ext cx="6766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your ML environment. Run setup_test.py and first_model.py. Write a 1-page summary of one real-world ML app: what data it uses, what it predicts, and why it matters.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662672" y="3712464"/>
            <a:ext cx="1115568" cy="804672"/>
          </a:xfrm>
          <a:prstGeom prst="rect">
            <a:avLst/>
          </a:prstGeom>
          <a:solidFill>
            <a:srgbClr val="1A3A6B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62672" y="3712464"/>
            <a:ext cx="11155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 XP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01 — ML Mindset &amp; the 5-Step Workflow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Fundamentals — Week 1</dc:title>
  <dc:subject>PptxGenJS Presentation</dc:subject>
  <dc:creator>PptxGenJS</dc:creator>
  <cp:lastModifiedBy>PptxGenJS</cp:lastModifiedBy>
  <cp:revision>1</cp:revision>
  <dcterms:created xsi:type="dcterms:W3CDTF">2026-03-11T14:30:53Z</dcterms:created>
  <dcterms:modified xsi:type="dcterms:W3CDTF">2026-03-11T14:30:53Z</dcterms:modified>
</cp:coreProperties>
</file>