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0"/>
            <a:ext cx="2240280" cy="5143500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85432" y="0"/>
            <a:ext cx="4114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0" y="91440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00B4D8">
                    <a:alpha val="1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8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65836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56032" y="65836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804672" y="658368"/>
            <a:ext cx="109728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658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06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56032" y="10515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 Models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256032" y="2121408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Regression, Decision Trees &amp; Random Forests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56032" y="2633472"/>
            <a:ext cx="6400800" cy="182880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6032" y="2633472"/>
            <a:ext cx="50292" cy="182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48" y="269748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 you will be able to: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84048" y="303580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Build classifiers using Logistic Regression and Decision Trees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84048" y="345643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Understand how Random Forests improve on single trees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84048" y="387705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Evaluate classifiers with accuracy, precision, recall and F1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06 — Classification Models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Classification?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397764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Predicting a category label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3703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predicts which category an input belongs to.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classification (2 classes):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Spam / Not spam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Pass / Fail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Fraud / Legitimate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Multi-class classification (3+ classes):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Cat / Dog / Bird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Digit 0–9 (MNIST)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Disease A / B / C / Healthy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 is a discrete label, not a number.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also gives a confidence probability (0–1).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658368"/>
            <a:ext cx="4407408" cy="3931920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658368"/>
            <a:ext cx="4407408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64608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02352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676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classification_intro.py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90288" y="1060704"/>
            <a:ext cx="42062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LogisticRegression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Features: [study_hours, sleep_hours]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np.array([[1,5],[2,6],[3,6],[4,7],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[5,7],[6,8],[7,8],[8,9]])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Labels: 0=Fail, 1=Pass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np.array([0, 0, 0, 1, 1, 1, 1, 1])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LogisticRegression()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model.fit(X, y)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Predict class and probability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print(model.predict([[3.5, 6.5]]))    # [0] or [1]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print(model.predict_proba([[3.5, 6.5]]))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06 — Classification Models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 Regression — S-Curve, Not a Line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logistic_reg.py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LogisticRegression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accuracy_score, classification_report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np.random.seed(42)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hours = np.random.uniform(1, 10, 100)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passed = (hours + np.random.randn(100) &gt; 5).astype(int)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hours.reshape(-1, 1)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X_tr,X_te,y_tr,y_te = train_test_split(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X, passed, test_size=0.2, random_state=42)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LogisticRegression()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model.fit(X_tr, y_tr)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 = model.predict(X_te)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print("Accuracy:", accuracy_score(y_te, y_pred))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print(classification_report(y_te, y_pred,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target_names=["Fail","Pass"]))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outputs a probability between 0 and 1. Above 0.5 → class 1. classification_report shows precision, recall and F1 for each class — far more informative than accuracy alone.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06 — Classification Models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Trees — Learning Rules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397764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If-else rules learned from data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3703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Decision Tree learns a series of if/else questions that split the data.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each node it asks: "Is feature X above threshold T?"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Easy to visualise and explain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Handles both numbers and categories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No feature scaling needed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Shows which features matter most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Prone to overfitting on small 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Small data changes → very different trees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max_depth limits tree size to prevent overfitting.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658368"/>
            <a:ext cx="4407408" cy="3931920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658368"/>
            <a:ext cx="4407408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64608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02352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676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decision_tree.py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90288" y="1060704"/>
            <a:ext cx="42062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sklearn.tree import DecisionTreeClassifier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np.array([[1,5],[2,6],[3,6],[4,7],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[5,7],[6,8],[7,8],[8,9]])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np.array([0,0,0,1,1,1,1,1])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max_depth prevents overfitting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 = DecisionTreeClassifier(max_depth=3,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random_state=42)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tree.fit(X, 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print("Accuracy:", tree.score(X, y))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Feature importance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print("Feature importance:",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tree.feature_importances_)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06 — Classification Models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Forests — Wisdom of the Crowd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random_forest.py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sklearn.ensemble import RandomForestClassifier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accuracy_score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np, pandas as pd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Titanic-style dataset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np.random.seed(42)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200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np.column_stack([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np.random.randint(1,4,n),          # Pclass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np.random.uniform(1,80,n),         # Age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np.random.uniform(0,500,n),        # Fare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np.random.randint(0,2,n),          # Sex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(X[:,2] &gt; 50).astype(int)         # survived if Fare&gt;50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X_tr,X_te,y_tr,y_te = train_test_split(X,y,test_size=0.2)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 = RandomForestClassifier(n_estimators=100,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max_depth=5,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random_state=42)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rf.fit(X_tr, y_tr)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print("RF Accuracy:", accuracy_score(y_te, rf.predict(X_te)))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print("Importances:", rf.feature_importances_.round(3))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trains 100 Decision Trees on random subsets of data and features, then votes. This ensemble approach usually outperforms a single tree and is much harder to overfit.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06 — Classification Models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 Metrics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1938528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solidFill>
            <a:srgbClr val="00DCB4">
              <a:alpha val="22000"/>
            </a:srgbClr>
          </a:solidFill>
          <a:ln w="12700">
            <a:solidFill>
              <a:srgbClr val="00DCB4">
                <a:alpha val="2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77824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(TP+TN) / total. Simple but misleading if classes are imbalanced. 99% accuracy predicting 'not fraud' is useless if 1% of transactions are fraud.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658368"/>
            <a:ext cx="50292" cy="1938528"/>
          </a:xfrm>
          <a:prstGeom prst="rect">
            <a:avLst/>
          </a:prstGeom>
          <a:solidFill>
            <a:srgbClr val="FFCB6B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solidFill>
            <a:srgbClr val="FFCB6B">
              <a:alpha val="22000"/>
            </a:srgbClr>
          </a:solidFill>
          <a:ln w="12700">
            <a:solidFill>
              <a:srgbClr val="FFCB6B">
                <a:alpha val="2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85232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91456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 / (TP+FP). Of all positive predictions, how many were correct? High when false positives are costly (e.g. spam filter blocking real email).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56032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" y="2816352"/>
            <a:ext cx="50292" cy="1938528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solidFill>
            <a:srgbClr val="C792EA">
              <a:alpha val="22000"/>
            </a:srgbClr>
          </a:solidFill>
          <a:ln w="12700">
            <a:solidFill>
              <a:srgbClr val="C792EA">
                <a:alpha val="22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77824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4048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 / (TP+FN). Of all actual positives, how many did we find? High when false negatives are costly (e.g. missing a disease diagnosis).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63440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63440" y="2816352"/>
            <a:ext cx="50292" cy="19385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solidFill>
            <a:srgbClr val="00B4D8">
              <a:alpha val="22000"/>
            </a:srgbClr>
          </a:solidFill>
          <a:ln w="12700">
            <a:solidFill>
              <a:srgbClr val="00B4D8">
                <a:alpha val="22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285232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Score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791456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× (Precision × Recall) / (Precision + Recall). Harmonic mean. Use when both precision and recall matter and classes are imbalanced.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06 — Classification Models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Confusion Matrix — Visualising Errors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confusion_matrix.py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(confusion_matrix,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ConfusionMatrixDisplay, classification_report)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sklearn.ensemble import RandomForestClassifier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np.random.seed(42)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np.random.randn(200, 4)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(X[:,0] + X[:,1] &gt; 0).astype(int)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X_tr,X_te,y_tr,y_te = train_test_split(X,y,test_size=0.25)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 = RandomForestClassifier(n_estimators=50).fit(X_tr,y_tr)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 = rf.predict(X_te)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Confusion matrix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 = confusion_matrix(y_te, y_pred)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print(cm)  # [[TN FP], [FN TP]]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 = ConfusionMatrixDisplay(cm,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display_labels=["Fail","Pass"])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disp.plot(cmap="Blues"); plt.show()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print(classification_report(y_te, y_pred))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confusion matrix shows exactly which classes are being confused. TP=correct positive, TN=correct negative, FP=false alarm, FN=missed positive. Use this to understand WHERE your model fails.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06 — Classification Models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 Quiz Time!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1024128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10241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8580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Q: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32688" y="713232"/>
            <a:ext cx="7818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cancer screening model correctly identifies 95% of all cancers but also flags 40% of healthy patients as sick. Which metric best captures the 'false alarm' problem?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56032" y="1883664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00DCB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6032" y="1883664"/>
            <a:ext cx="621792" cy="1097280"/>
          </a:xfrm>
          <a:prstGeom prst="rect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6032" y="1883664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C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50976" y="1883664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— it measures how many true cancers were found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690872" y="1883664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C792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90872" y="1883664"/>
            <a:ext cx="621792" cy="1097280"/>
          </a:xfrm>
          <a:prstGeom prst="rect">
            <a:avLst/>
          </a:prstGeom>
          <a:solidFill>
            <a:srgbClr val="C792EA">
              <a:alpha val="20000"/>
            </a:srgbClr>
          </a:solidFill>
          <a:ln w="12700">
            <a:solidFill>
              <a:srgbClr val="C792EA">
                <a:alpha val="2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90872" y="1883664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9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385816" y="1883664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— it averages correct predictions across all patients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56032" y="3145536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FFCB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" y="3145536"/>
            <a:ext cx="621792" cy="1097280"/>
          </a:xfrm>
          <a:prstGeom prst="rect">
            <a:avLst/>
          </a:prstGeom>
          <a:solidFill>
            <a:srgbClr val="FFCB6B">
              <a:alpha val="20000"/>
            </a:srgbClr>
          </a:solidFill>
          <a:ln w="12700">
            <a:solidFill>
              <a:srgbClr val="FFCB6B">
                <a:alpha val="2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6032" y="3145536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50976" y="3145536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— it measures how many flagged patients actually had cancer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690872" y="3145536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90872" y="3145536"/>
            <a:ext cx="621792" cy="1097280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90872" y="3145536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5385816" y="3145536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Score — it combines both into one number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06 — Classification Models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Comparing Classifiers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397764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Which algorithm should I use?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3703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There's no single best algorithm — it depends on your data.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Fast, interpretable, works well with many features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Best when relationship is roughly linear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Very interpretable — you can read the rules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Prone to overfitting; use max_depth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Usually best out-of-the-box performance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Feature importance built-in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Slower to train, less interpretable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Logistic Regression. Upgrade to Random Forest if accuracy is insufficient.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658368"/>
            <a:ext cx="4407408" cy="3931920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658368"/>
            <a:ext cx="4407408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64608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02352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676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compare_classifiers.py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90288" y="1060704"/>
            <a:ext cx="42062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LogisticRegression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sklearn.tree import DecisionTreeClassifier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sklearn.ensemble import RandomForestClassifier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cross_val_score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np.random.randn(300, 5)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(X[:,0] + X[:,1] &gt; 0).astype(int)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 =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("Logistic Reg",    LogisticRegression()),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("Decision Tree",   DecisionTreeClassifier(max_depth=4)),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("Random Forest",   RandomForestClassifier(n_estimators=50)),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name, model in models: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scores = cross_val_score(model, X, y, cv=5)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print(f"{name:18}: {scores.mean():.4f} ± {scores.std():.4f}")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06 — Classification Models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Handling Imbalanced Classes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imbalanced.py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sklearn.ensemble import RandomForestClassifier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classification_report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Imbalanced dataset: 90% class 0, 10% class 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np.random.seed(42)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1000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np.random.randn(n, 4)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np.where(np.random.rand(n) &lt; 0.1, 1, 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print(f"Class 0: {(y==0).sum()}, Class 1: {(y==1).sum()}")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Without balancing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 = RandomForestClassifier(n_estimators=50)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rf.fit(X[:800], y[:800])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print(classification_report(y[800:], rf.predict(X[800:])))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With class_weight='balanced'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rf_bal = RandomForestClassifier(n_estimators=50,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class_weight='balanced')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rf_bal.fit(X[:800], y[:800])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print(classification_report(y[800:], rf_bal.predict(X[800:])))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class_weight='balanced' tells sklearn to penalise mistakes on the minority class more heavily. This is critical for fraud detection, disease diagnosis, or any problem where one class is rare.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06 — Classification Models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Importance — What Drives the Model?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feature_importance.py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sklearn.ensemble import RandomForestClassifier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feature_names = ["Study Hours","Sleep Hours",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"Attendance %","Prior GPA"]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np.random.randn(300, 4)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(X[:,0]*2 + X[:,2] &gt; 0).astype(int)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 = RandomForestClassifier(n_estimators=100)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rf.fit(X, y)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importances = rf.feature_importances_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Sort descending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 = np.argsort(importances)[::-1]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names_sorted = [feature_names[i] for i in idx]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imp_sorted   = importances[idx]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plt.figure(figsize=(8, 4))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plt.bar(names_sorted, imp_sorted, color="#00dcb4")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plt.title("Feature Importance")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plt.ylabel("Importance Score")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plt.savefig("importance.png")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print(dict(zip(names_sorted, imp_sorted.round(3))))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feature_importances_ ranks features by how much they reduce impurity. High importance = that feature drives predictions. Low importance = safely removable, which simplifies your model.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06 — Classification Models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⌨️  Try It Yourself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507492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Build a Student Pass/Fail Classifier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33856"/>
            <a:ext cx="480060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Generate 200 students: features = [study_hours, sleep_hours, attendance], label = passed (score&gt;=60)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Split 80/20 and train all 3 classifiers: LogisticRegression, DecisionTreeClassifier, RandomForestClassifier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Print accuracy, precision, recall and F1 for each classifier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Plot a confusion matrix for the best model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Print feature importances from the Random Forest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Bonus: Use cross_val_score with cv=5 to compare all 3 models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658368"/>
            <a:ext cx="3310128" cy="1261872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87568" y="731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XP Reward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87568" y="104241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XP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5577840" y="2084832"/>
            <a:ext cx="3310128" cy="987552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87568" y="21579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Time Limit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87568" y="24505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min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577840" y="3236976"/>
            <a:ext cx="3310128" cy="1353312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87568" y="3310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output: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87568" y="3621024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LogReg: 0.88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Tree:   0.85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Forest: 0.92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importance: Study Hours: 0.52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06 — Classification Models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⌨️  Try It Yourself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507492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Bonus: Titanic Survival Classifier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33856"/>
            <a:ext cx="480060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Load titanic.csv, clean Age (fill median), drop Cabin, encode Sex (0/1)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Features: Pclass, Age, Fare, Sex, SibSp, Parch. Label: Survived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Train RandomForestClassifier and evaluate with classification_report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Plot feature importances — which feature is most predictive?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Try max_depth values 3, 5, 10, 20 — which gives best test accuracy?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658368"/>
            <a:ext cx="3310128" cy="1261872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87568" y="731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XP Reward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87568" y="104241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XP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5577840" y="2084832"/>
            <a:ext cx="3310128" cy="987552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87568" y="21579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Time Limit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87568" y="24505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min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577840" y="3236976"/>
            <a:ext cx="3310128" cy="1353312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87568" y="3310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output: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87568" y="3621024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Titanic RF accuracy: ~0.82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feature: Sex or Fare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max_depth: 5 or 10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06 — Classification Models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Summary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5440680" cy="2834640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2834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498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What we learned today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Classification predicts discrete labels; regression predicts numbers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84048" y="15727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Logistic Regression is fast and interpretable; start here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84048" y="19933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Decision Trees learn if/else rules; Random Forests are ensembles of trees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4048" y="241401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Accuracy can be misleading — use precision, recall and F1 for imbalanced data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84048" y="2834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Confusion matrix shows exactly where your model makes mistakes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43600" y="658368"/>
            <a:ext cx="2944368" cy="283464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53328" y="7498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Next Week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53328" y="1133856"/>
            <a:ext cx="265176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7: Model Evaluation &amp; Hyperparameter Tuning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master cross-validation, GridSearchCV and ROC curves to build robust, optimised models.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256032" y="3639312"/>
            <a:ext cx="8631936" cy="987552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56032" y="3639312"/>
            <a:ext cx="50292" cy="98755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4048" y="369417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 This Week's Assignment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84048" y="4023360"/>
            <a:ext cx="6766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the pass/fail classifier with all 3 models compared. Include confusion matrix, feature importance plot, and cross-validation scores.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662672" y="3712464"/>
            <a:ext cx="1115568" cy="804672"/>
          </a:xfrm>
          <a:prstGeom prst="rect">
            <a:avLst/>
          </a:prstGeom>
          <a:solidFill>
            <a:srgbClr val="1A3A6B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62672" y="3712464"/>
            <a:ext cx="11155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 XP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06 — Classification Models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 Quick Reference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1938528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solidFill>
            <a:srgbClr val="00DCB4">
              <a:alpha val="22000"/>
            </a:srgbClr>
          </a:solidFill>
          <a:ln w="12700">
            <a:solidFill>
              <a:srgbClr val="00DCB4">
                <a:alpha val="2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77824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LogisticRegression(). predict() → label, predict_proba() → probabilities. Fast, interpretable, good baseline.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658368"/>
            <a:ext cx="50292" cy="1938528"/>
          </a:xfrm>
          <a:prstGeom prst="rect">
            <a:avLst/>
          </a:prstGeom>
          <a:solidFill>
            <a:srgbClr val="FFCB6B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solidFill>
            <a:srgbClr val="FFCB6B">
              <a:alpha val="22000"/>
            </a:srgbClr>
          </a:solidFill>
          <a:ln w="12700">
            <a:solidFill>
              <a:srgbClr val="FFCB6B">
                <a:alpha val="2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85232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91456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DecisionTreeClassifier(max_depth=N). feature_importances_. Interpretable but overfits without depth limit.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56032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" y="2816352"/>
            <a:ext cx="50292" cy="1938528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solidFill>
            <a:srgbClr val="C792EA">
              <a:alpha val="22000"/>
            </a:srgbClr>
          </a:solidFill>
          <a:ln w="12700">
            <a:solidFill>
              <a:srgbClr val="C792EA">
                <a:alpha val="22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77824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4048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RandomForestClassifier(n_estimators=100, class_weight='balanced'). Usually best accuracy. feature_importances_.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63440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63440" y="2816352"/>
            <a:ext cx="50292" cy="19385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solidFill>
            <a:srgbClr val="00B4D8">
              <a:alpha val="22000"/>
            </a:srgbClr>
          </a:solidFill>
          <a:ln w="12700">
            <a:solidFill>
              <a:srgbClr val="00B4D8">
                <a:alpha val="22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285232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791456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accuracy_score(), classification_report(), confusion_matrix(), ConfusionMatrixDisplay. cross_val_score(cv=5).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06 — Classification Models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Fundamentals — Week 6</dc:title>
  <dc:subject>PptxGenJS Presentation</dc:subject>
  <dc:creator>PptxGenJS</dc:creator>
  <cp:lastModifiedBy>PptxGenJS</cp:lastModifiedBy>
  <cp:revision>1</cp:revision>
  <dcterms:created xsi:type="dcterms:W3CDTF">2026-03-11T14:31:00Z</dcterms:created>
  <dcterms:modified xsi:type="dcterms:W3CDTF">2026-03-11T14:31:00Z</dcterms:modified>
</cp:coreProperties>
</file>