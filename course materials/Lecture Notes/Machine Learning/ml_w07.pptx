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2240280" cy="5143500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85432" y="0"/>
            <a:ext cx="4114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949440" y="91440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00B4D8">
                    <a:alpha val="16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8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6583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658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 07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" y="10515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 &amp; Tuning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256032" y="212140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Cross-validation, GridSearchCV and ROC curves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56032" y="2633472"/>
            <a:ext cx="6400800" cy="182880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" y="2633472"/>
            <a:ext cx="50292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4048" y="269748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 you will be able to: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84048" y="303580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Apply k-fold cross-validation for robust model evaluation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84048" y="345643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Use GridSearchCV to find optimal hyperparameters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84048" y="387705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Interpret ROC curves and AUC scores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a Single Train/Test Split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Why one split isn't enough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train/test split has a problem: the result depends on which random samples ended up in the test set.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get lucky, your model looks great.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get unlucky, it looks terrible.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solves this by: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Splitting data into k equal folds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Training on k-1 folds, testing on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Repeating k times (different test fold)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Averaging all k results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reliable estimate of true performance.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cv_problem.py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(train_test_split,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cross_val_score)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np.random.randn(200, 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(X[:,0] &gt; 0).astype(int)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RandomForestClassifier(n_estimators=50)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Single split — result varies with random_state!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seed in [42, 0, 7, 13]: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X_tr,X_te,y_tr,y_te = train_test_split(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X,y,test_size=0.2,random_state=seed)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model.fit(X_tr,y_tr)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print(f"seed={seed}: {model.score(X_te,y_te):.4f}")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K-Fold Cross-Validation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kfold_cv.py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(cross_val_score,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StratifiedKFold, KFold)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np.random.randn(300, 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(X[:,0] + X[:,1] &gt; 0).astype(int)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RandomForestClassifier(n_estimators=50, random_state=42)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5-fold CV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cross_val_score(rf, X, y, cv=5,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scoring="accuracy")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print("Scores:", scores.round(4))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print(f"Mean: {scores.mean():.4f} ± {scores.std():.4f}")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Stratified — preserves class ratio in each fold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skf = StratifiedKFold(n_splits=5, shuffle=True,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random_state=42)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scores_strat = cross_val_score(rf, X, y, cv=skf)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print(f"Stratified: {scores_strat.mean():.4f}")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StratifiedKFold ensures each fold has the same class proportion as the full dataset — essential for imbalanced problems. Always use it for classification tasks.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Hyperparameters vs Parameters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397764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 What you tune vs what the model learns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370332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are learned from data during training: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Linear Regression: slope and intercept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Neural Network: weights and biases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 are set by YOU before training: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max_depth (Decision Tree, Random Forest)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n_estimators (Random Forest)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 (Logistic Regression regularisation)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learning_rate (neural networks)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n_neighbors (k-NN)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 tuning = searching for the best combination of settings that maximises performance on validation data.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658368"/>
            <a:ext cx="4407408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658368"/>
            <a:ext cx="4407408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26864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64608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102352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6766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hyperparams.py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590288" y="1060704"/>
            <a:ext cx="4206240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 hyperparameters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Customised hyperparameters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rf_tuned = RandomForestClassifier(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n_estimators=200,   # more trees = better (to a point)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max_depth=8,        # tree complexity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min_samples_split=5,# min samples to split a 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max_features="sqrt",# features per split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class_weight="balanced",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 set these BEFORE training.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The model then LEARNS its internal parameters.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GridSearchCV — Exhaustive Hyperparameter Search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grid_search.py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GridSearchCV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np.random.randn(300, 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(X[:,0] + X[:,1] &gt; 0).astype(int)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Define the grid of hyperparameters to try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param_grid =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"n_estimators": [50, 100, 200],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"max_depth":    [3, 5, 10, None],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"min_samples_split": [2, 5, 10],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 × 4 × 3 = 36 combinations × 5 folds = 180 fits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RandomForestClassifier(random_state=42)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= GridSearchCV(rf, param_grid, cv=5,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scoring="accuracy", n_jobs=-1)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grid.fit(X, y)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print("Best params:", grid.best_params_)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print("Best CV score:", grid.best_score_.round(4))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tries every combination. n_jobs=-1 uses all CPU cores. The best_params_ are the settings that gave the highest cross-validated accuracy. Refit is automatic.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RandomizedSearchCV — Faster Alternative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random_search.py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RandomizedSearchCV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scipy.stats import randint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np.random.randn(500, 6)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(X[:,0]+X[:,1] &gt; 0).astype(int)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Distribution to sample from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param_dist =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"n_estimators": randint(50, 300),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"max_depth":    randint(3, 20),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"min_samples_split": randint(2, 15),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RandomForestClassifier(random_state=42)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rand_search = RandomizedSearchCV(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rf, param_dist,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n_iter=30,      # try 30 random combos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cv=5,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scoring="f1",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n_jobs=-1,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rand_search.fit(X, y)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print("Best params:", rand_search.best_params_)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print("Best F1:", rand_search.best_score_.round(4))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RandomizedSearchCV samples random combinations instead of trying all. With n_iter=30 it's much faster than GridSearchCV on large grids while finding nearly as good results.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 Deep Dive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Curve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Plots True Positive Rate vs False Positive Rate at every threshold. A diagonal line = random guessing. The higher the curve, the better.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Score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Under the ROC Curve. 1.0 = perfect, 0.5 = random, &lt;0.5 = worse than random. Best single metric for imbalanced binary classification.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Curve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vs Recall curve. Better than ROC for highly imbalanced datasets. Large area under PR curve = model is good at finding rare positives.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Loss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confidence of probability predictions. Penalises confident wrong answers heavily. Lower is better. sklearn: log_loss().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ROC Curve &amp; AUC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roc_curve.py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roc_curve, roc_auc_score, RocCurveDisplay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np.random.randn(500, 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(X[:,0]+X[:,1] &gt; 0).astype(int)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X_tr,X_te,y_tr,y_te = train_test_split(X,y,test_size=0.25)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RandomForestClassifier(n_estimators=100).fit(X_tr,y_tr)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Get probabilities (not just class labels)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y_prob = rf.predict_proba(X_te)[:, 1]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 = roc_auc_score(y_te, y_prob)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print(f"AUC: {auc:.4f}")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fpr, tpr, _ = roc_curve(y_te, y_prob)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plt.plot(fpr, tpr, color="#00dcb4", lw=2,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label=f"RF (AUC={auc:.3f})")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plt.plot([0,1],[0,1],"--", color="#6b8aaa")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plt.xlabel("False Positive Rate")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plt.ylabel("True Positive Rate")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plt.title("ROC Curve"); plt.legend()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plt.savefig("roc.png"); plt.show()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predict_proba() gives probabilities — needed for ROC. AUC &gt; 0.9 is excellent, 0.7-0.9 is good, &lt; 0.7 needs improvement. The diagonal line represents a random classifier.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 Quiz Time!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1024128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8580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32688" y="713232"/>
            <a:ext cx="7818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 with 4 parameter values × 3 parameter values × 2 parameter values, and cv=5, runs how many model fits?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603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DCB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solidFill>
            <a:srgbClr val="00DCB4">
              <a:alpha val="20000"/>
            </a:srgbClr>
          </a:solidFill>
          <a:ln w="12700">
            <a:solidFill>
              <a:srgbClr val="00DCB4">
                <a:alpha val="2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CB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5097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fits (4+3+2 = 9 combinations)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90872" y="1883664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C792E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solidFill>
            <a:srgbClr val="C792EA">
              <a:alpha val="20000"/>
            </a:srgbClr>
          </a:solidFill>
          <a:ln w="12700">
            <a:solidFill>
              <a:srgbClr val="C792EA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90872" y="1883664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792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385816" y="1883664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fits (4×3×2 = 24 combinations)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5603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FFCB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solidFill>
            <a:srgbClr val="FFCB6B">
              <a:alpha val="20000"/>
            </a:srgbClr>
          </a:solidFill>
          <a:ln w="12700">
            <a:solidFill>
              <a:srgbClr val="FFCB6B">
                <a:alpha val="2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95097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fits (4×3×2 × 5 folds = 120 fits)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90872" y="3145536"/>
            <a:ext cx="4160520" cy="109728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90872" y="3145536"/>
            <a:ext cx="621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385816" y="3145536"/>
            <a:ext cx="33649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fits (4×3×2 × 5 / 2 = 60 fits)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Curves — Diagnosing Bias vs Variance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learning_curves.py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learning_curve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np.random.seed(42)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np.random.randn(500, 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(X[:,0]+X[:,1] &gt; 0).astype(int)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 = RandomForestClassifier(n_estimators=50, max_depth=5)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train_sizes, train_scores, val_scores = learning_curve(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rf, X, y, cv=5,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train_sizes=np.linspace(0.1, 1.0, 10))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plt.plot(train_sizes, train_scores.mean(axis=1),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label="Training", color="#00dcb4")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plt.plot(train_sizes, val_scores.mean(axis=1),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label="Validation", color="#f5c842")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plt.xlabel("Training Set Size")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plt.ylabel("Accuracy")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plt.title("Learning Curve"); plt.legend()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plt.savefig("learning_curve.png"); plt.show()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training score is much higher than validation: overfit. If both are low: underfit. If they converge as data increases: you need more data. Learning curves tell you EXACTLY what to fix.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— Chaining Steps Together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8631936" cy="3127248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8631936" cy="329184"/>
          </a:xfrm>
          <a:prstGeom prst="rect">
            <a:avLst/>
          </a:prstGeom>
          <a:solidFill>
            <a:srgbClr val="0D1A2E"/>
          </a:solidFill>
          <a:ln w="12700">
            <a:solidFill>
              <a:srgbClr val="0D1A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02336" y="758952"/>
            <a:ext cx="118872" cy="1188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75895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" y="758952"/>
            <a:ext cx="118872" cy="1188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0" y="676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ml_pipeline.py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4048" y="1060704"/>
            <a:ext cx="8412480" cy="2633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RandomForestClassifier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np.random.randn(300, 4)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(X[:,0] &gt; 0).astype(int)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Chain scaler + classifier into one object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Pipeline([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("scaler",     StandardScaler()),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("classifier", RandomForestClassifier(n_estimators=50)),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fit/predict/score work exactly like a normal model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cross_val_score(pipe, X, y, cv=5)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print(f"Pipeline CV: {scores.mean():.4f}")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Cross-validation automatically: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Fits scaler on train fold only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Transforms both train and test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Fits classifier on scaled train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Scores on scaled test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— preventing data leakage!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256032" y="3858768"/>
            <a:ext cx="8631936" cy="74980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2336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What this does: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02336" y="41879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prevents data leakage by ensuring the scaler is fit only on training data inside each CV fold. Without a pipeline, fitting the scaler on all data first is a common mistake.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Tune a Random Forest with GridSearchCV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Use the Titanic dataset (or generate 300-sample synthetic data)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Build a Pipeline: StandardScaler + RandomForestClassifier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Define a param_grid for max_depth [3,5,10] and n_estimators [50,100,200]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Run GridSearchCV with cv=5, scoring='f1'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Print best_params_ and best_score_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Plot the ROC curve and print the AUC score for the best model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params: {max_depth:5, n_estimators:100}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F1: 0.84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AUC: 0.91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 curve saved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⌨️  Try It Yourself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074920" cy="393192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3931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3152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Bonus: Learning Curve Diagnosis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4800600" cy="3346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Train a RandomForestClassifier with max_depth=20 (intentionally overfit)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Plot the learning curve — confirm training &gt;&gt; validation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Retrain with max_depth=4 and plot again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Compare: does the gap reduce? Do both curves converge?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Try adding more data (300→1000 samples) — does validation improve?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658368"/>
            <a:ext cx="3310128" cy="126187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687568" y="731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XP Reward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87568" y="104241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XP</a:t>
            </a:r>
            <a:endParaRPr lang="en-US" sz="3400" dirty="0"/>
          </a:p>
        </p:txBody>
      </p:sp>
      <p:sp>
        <p:nvSpPr>
          <p:cNvPr id="12" name="Shape 9"/>
          <p:cNvSpPr/>
          <p:nvPr/>
        </p:nvSpPr>
        <p:spPr>
          <a:xfrm>
            <a:off x="5577840" y="2084832"/>
            <a:ext cx="3310128" cy="987552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215798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Time Limit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87568" y="2450592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577840" y="3236976"/>
            <a:ext cx="3310128" cy="1353312"/>
          </a:xfrm>
          <a:prstGeom prst="rect">
            <a:avLst/>
          </a:prstGeom>
          <a:solidFill>
            <a:srgbClr val="050810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87568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87568" y="3621024"/>
            <a:ext cx="30175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max_depth=20: big gap (overfit)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max_depth=4: gap reduced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data: validation improves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Summary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5440680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2834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7498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What we learned today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152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Cross-validation gives reliable performance estimates — always prefer it to a single split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157276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Hyperparameters are set before training; tune them with GridSearchCV or RandomizedSearchCV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84048" y="19933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ROC curve + AUC is the best single metric for imbalanced binary classification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241401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Pipeline chains preprocessing + model to prevent data leakage in CV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4048" y="2834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Learning curves diagnose overfitting and underfitting — fix the right problem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43600" y="658368"/>
            <a:ext cx="2944368" cy="2834640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53328" y="74980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Next Week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053328" y="1133856"/>
            <a:ext cx="26517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8: Neural Networks with Keras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build our first deep learning model — dense layers, activations, backpropagation — using Keras.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256032" y="3639312"/>
            <a:ext cx="8631936" cy="987552"/>
          </a:xfrm>
          <a:prstGeom prst="rect">
            <a:avLst/>
          </a:prstGeom>
          <a:solidFill>
            <a:srgbClr val="1A1200"/>
          </a:solidFill>
          <a:ln w="12700">
            <a:solidFill>
              <a:srgbClr val="F5C8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" y="3639312"/>
            <a:ext cx="50292" cy="98755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" y="369417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This Week's Assignment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384048" y="4023360"/>
            <a:ext cx="6766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Tune a classifier with GridSearchCV. Submit best_params_, CV scores, ROC curve plot and learning curve. Use a Pipeline.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62672" y="3712464"/>
            <a:ext cx="11155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C8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110 XP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8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128016"/>
            <a:ext cx="146304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914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Tuning Quick Reference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56032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56032" y="658368"/>
            <a:ext cx="50292" cy="1938528"/>
          </a:xfrm>
          <a:prstGeom prst="rect">
            <a:avLst/>
          </a:prstGeom>
          <a:solidFill>
            <a:srgbClr val="00DCB4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solidFill>
            <a:srgbClr val="00DCB4">
              <a:alpha val="22000"/>
            </a:srgbClr>
          </a:solidFill>
          <a:ln w="12700">
            <a:solidFill>
              <a:srgbClr val="00DCB4">
                <a:alpha val="2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77824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84048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cross_val_score(model,X,y,cv=5). StratifiedKFold for classification. Mean ± std tells you performance and stability.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658368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658368"/>
            <a:ext cx="50292" cy="1938528"/>
          </a:xfrm>
          <a:prstGeom prst="rect">
            <a:avLst/>
          </a:prstGeom>
          <a:solidFill>
            <a:srgbClr val="FFCB6B"/>
          </a:solidFill>
          <a:ln w="12700">
            <a:solidFill>
              <a:srgbClr val="FFCB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solidFill>
            <a:srgbClr val="FFCB6B">
              <a:alpha val="22000"/>
            </a:srgbClr>
          </a:solidFill>
          <a:ln w="12700">
            <a:solidFill>
              <a:srgbClr val="FFCB6B">
                <a:alpha val="22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91456" y="786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285232" y="78638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91456" y="1261872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GridSearchCV(model,param_grid,cv=5,scoring='f1'). .best_params_, .best_score_. n_jobs=-1 for parallel.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56032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2816352"/>
            <a:ext cx="50292" cy="1938528"/>
          </a:xfrm>
          <a:prstGeom prst="rect">
            <a:avLst/>
          </a:prstGeom>
          <a:solidFill>
            <a:srgbClr val="C792EA"/>
          </a:solidFill>
          <a:ln w="12700">
            <a:solidFill>
              <a:srgbClr val="C792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solidFill>
            <a:srgbClr val="C792EA">
              <a:alpha val="22000"/>
            </a:srgbClr>
          </a:solidFill>
          <a:ln w="12700">
            <a:solidFill>
              <a:srgbClr val="C792EA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92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7824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&amp; AUC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4048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roc_auc_score(y_true, y_prob). predict_proba()[:,1] for probabilities. AUC 1.0=perfect, 0.5=random.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663440" y="2816352"/>
            <a:ext cx="4160520" cy="1938528"/>
          </a:xfrm>
          <a:prstGeom prst="rect">
            <a:avLst/>
          </a:prstGeom>
          <a:solidFill>
            <a:srgbClr val="0D1A2E"/>
          </a:solidFill>
          <a:ln w="12700">
            <a:solidFill>
              <a:srgbClr val="1A3A6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2816352"/>
            <a:ext cx="50292" cy="19385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solidFill>
            <a:srgbClr val="00B4D8">
              <a:alpha val="22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91456" y="2944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285232" y="29443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791456" y="3419856"/>
            <a:ext cx="391363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Pipeline([('scaler',StandardScaler()),('clf',RF())]). Prevents data leakage in CV. Works with GridSearchCV too.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30608"/>
          </a:solidFill>
          <a:ln w="12700">
            <a:solidFill>
              <a:srgbClr val="03060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0" y="4800600"/>
            <a:ext cx="1920240" cy="3429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1431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codencode.my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057400" y="4814316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Fundamentals  •  Week 07 — Model Evaluation &amp; Tuning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0DCB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635240" y="481888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C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83880" y="4814316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B4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Fundamentals — Week 7</dc:title>
  <dc:subject>PptxGenJS Presentation</dc:subject>
  <dc:creator>PptxGenJS</dc:creator>
  <cp:lastModifiedBy>PptxGenJS</cp:lastModifiedBy>
  <cp:revision>1</cp:revision>
  <dcterms:created xsi:type="dcterms:W3CDTF">2026-03-11T14:31:00Z</dcterms:created>
  <dcterms:modified xsi:type="dcterms:W3CDTF">2026-03-11T14:31:00Z</dcterms:modified>
</cp:coreProperties>
</file>