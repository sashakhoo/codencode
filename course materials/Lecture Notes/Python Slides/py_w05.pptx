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6903720" y="0"/>
            <a:ext cx="2240280" cy="5143500"/>
          </a:xfrm>
          <a:prstGeom prst="rect">
            <a:avLst/>
          </a:prstGeom>
          <a:solidFill>
            <a:srgbClr val="0D1A2E"/>
          </a:solidFill>
          <a:ln w="12700">
            <a:solidFill>
              <a:srgbClr val="0D1A2E"/>
            </a:solidFill>
            <a:prstDash val="solid"/>
          </a:ln>
        </p:spPr>
      </p:sp>
      <p:sp>
        <p:nvSpPr>
          <p:cNvPr id="3" name="Shape 1"/>
          <p:cNvSpPr/>
          <p:nvPr/>
        </p:nvSpPr>
        <p:spPr>
          <a:xfrm>
            <a:off x="6885432" y="0"/>
            <a:ext cx="41148" cy="5143500"/>
          </a:xfrm>
          <a:prstGeom prst="rect">
            <a:avLst/>
          </a:prstGeom>
          <a:solidFill>
            <a:srgbClr val="00DCB4"/>
          </a:solidFill>
          <a:ln w="12700">
            <a:solidFill>
              <a:srgbClr val="00DCB4"/>
            </a:solidFill>
            <a:prstDash val="solid"/>
          </a:ln>
        </p:spPr>
      </p:sp>
      <p:sp>
        <p:nvSpPr>
          <p:cNvPr id="4" name="Text 2"/>
          <p:cNvSpPr/>
          <p:nvPr/>
        </p:nvSpPr>
        <p:spPr>
          <a:xfrm>
            <a:off x="6949440" y="914400"/>
            <a:ext cx="2103120" cy="2011680"/>
          </a:xfrm>
          <a:prstGeom prst="rect">
            <a:avLst/>
          </a:prstGeom>
          <a:noFill/>
          <a:ln/>
        </p:spPr>
        <p:txBody>
          <a:bodyPr wrap="square" rtlCol="0" anchor="ctr"/>
          <a:lstStyle/>
          <a:p>
            <a:pPr algn="ctr" indent="0" marL="0">
              <a:buNone/>
            </a:pPr>
            <a:r>
              <a:rPr lang="en-US" sz="8200" b="1" dirty="0">
                <a:solidFill>
                  <a:srgbClr val="00DCB4">
                    <a:alpha val="16000"/>
                  </a:srgbClr>
                </a:solidFill>
                <a:latin typeface="Courier New" pitchFamily="34" charset="0"/>
                <a:ea typeface="Courier New" pitchFamily="34" charset="-122"/>
                <a:cs typeface="Courier New" pitchFamily="34" charset="-120"/>
              </a:rPr>
              <a:t>&lt;/&gt;</a:t>
            </a:r>
            <a:endParaRPr lang="en-US" sz="8200" dirty="0"/>
          </a:p>
        </p:txBody>
      </p:sp>
      <p:pic>
        <p:nvPicPr>
          <p:cNvPr id="5"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6" name="Shape 3"/>
          <p:cNvSpPr/>
          <p:nvPr/>
        </p:nvSpPr>
        <p:spPr>
          <a:xfrm>
            <a:off x="256032" y="658368"/>
            <a:ext cx="475488" cy="274320"/>
          </a:xfrm>
          <a:prstGeom prst="rect">
            <a:avLst/>
          </a:prstGeom>
          <a:solidFill>
            <a:srgbClr val="0A1628"/>
          </a:solidFill>
          <a:ln w="12700">
            <a:solidFill>
              <a:srgbClr val="00DCB4"/>
            </a:solidFill>
            <a:prstDash val="solid"/>
          </a:ln>
        </p:spPr>
      </p:sp>
      <p:sp>
        <p:nvSpPr>
          <p:cNvPr id="7" name="Text 4"/>
          <p:cNvSpPr/>
          <p:nvPr/>
        </p:nvSpPr>
        <p:spPr>
          <a:xfrm>
            <a:off x="256032" y="658368"/>
            <a:ext cx="475488" cy="274320"/>
          </a:xfrm>
          <a:prstGeom prst="rect">
            <a:avLst/>
          </a:prstGeom>
          <a:noFill/>
          <a:ln/>
        </p:spPr>
        <p:txBody>
          <a:bodyPr wrap="square" lIns="0" tIns="0" rIns="0" bIns="0" rtlCol="0" anchor="ctr"/>
          <a:lstStyle/>
          <a:p>
            <a:pPr algn="ctr" indent="0" marL="0">
              <a:buNone/>
            </a:pPr>
            <a:r>
              <a:rPr lang="en-US" sz="900" b="1" dirty="0">
                <a:solidFill>
                  <a:srgbClr val="00DCB4"/>
                </a:solidFill>
                <a:latin typeface="Courier New" pitchFamily="34" charset="0"/>
                <a:ea typeface="Courier New" pitchFamily="34" charset="-122"/>
                <a:cs typeface="Courier New" pitchFamily="34" charset="-120"/>
              </a:rPr>
              <a:t>EN</a:t>
            </a:r>
            <a:endParaRPr lang="en-US" sz="900" dirty="0"/>
          </a:p>
        </p:txBody>
      </p:sp>
      <p:sp>
        <p:nvSpPr>
          <p:cNvPr id="8" name="Shape 5"/>
          <p:cNvSpPr/>
          <p:nvPr/>
        </p:nvSpPr>
        <p:spPr>
          <a:xfrm>
            <a:off x="804672" y="658368"/>
            <a:ext cx="1097280" cy="274320"/>
          </a:xfrm>
          <a:prstGeom prst="rect">
            <a:avLst/>
          </a:prstGeom>
          <a:solidFill>
            <a:srgbClr val="1A3A6B"/>
          </a:solidFill>
          <a:ln w="12700">
            <a:solidFill>
              <a:srgbClr val="1A3A6B"/>
            </a:solidFill>
            <a:prstDash val="solid"/>
          </a:ln>
        </p:spPr>
      </p:sp>
      <p:sp>
        <p:nvSpPr>
          <p:cNvPr id="9" name="Text 6"/>
          <p:cNvSpPr/>
          <p:nvPr/>
        </p:nvSpPr>
        <p:spPr>
          <a:xfrm>
            <a:off x="804672" y="658368"/>
            <a:ext cx="1097280" cy="274320"/>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WEEK 05</a:t>
            </a:r>
            <a:endParaRPr lang="en-US" sz="900" dirty="0"/>
          </a:p>
        </p:txBody>
      </p:sp>
      <p:sp>
        <p:nvSpPr>
          <p:cNvPr id="10" name="Text 7"/>
          <p:cNvSpPr/>
          <p:nvPr/>
        </p:nvSpPr>
        <p:spPr>
          <a:xfrm>
            <a:off x="256032" y="1051560"/>
            <a:ext cx="64008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Data Visualisation &amp; Web Scraping</a:t>
            </a:r>
            <a:endParaRPr lang="en-US" sz="4400" dirty="0"/>
          </a:p>
        </p:txBody>
      </p:sp>
      <p:sp>
        <p:nvSpPr>
          <p:cNvPr id="11" name="Text 8"/>
          <p:cNvSpPr/>
          <p:nvPr/>
        </p:nvSpPr>
        <p:spPr>
          <a:xfrm>
            <a:off x="256032" y="2121408"/>
            <a:ext cx="6400800" cy="402336"/>
          </a:xfrm>
          <a:prstGeom prst="rect">
            <a:avLst/>
          </a:prstGeom>
          <a:noFill/>
          <a:ln/>
        </p:spPr>
        <p:txBody>
          <a:bodyPr wrap="square" lIns="0" tIns="0" rIns="0" bIns="0" rtlCol="0" anchor="ctr"/>
          <a:lstStyle/>
          <a:p>
            <a:pPr algn="l" indent="0" marL="0">
              <a:buNone/>
            </a:pPr>
            <a:r>
              <a:rPr lang="en-US" sz="1500" dirty="0">
                <a:solidFill>
                  <a:srgbClr val="00DCB4"/>
                </a:solidFill>
                <a:latin typeface="Arial" pitchFamily="34" charset="0"/>
                <a:ea typeface="Arial" pitchFamily="34" charset="-122"/>
                <a:cs typeface="Arial" pitchFamily="34" charset="-120"/>
              </a:rPr>
              <a:t>Using Python's built-in tools and external packages</a:t>
            </a:r>
            <a:endParaRPr lang="en-US" sz="1500" dirty="0"/>
          </a:p>
        </p:txBody>
      </p:sp>
      <p:sp>
        <p:nvSpPr>
          <p:cNvPr id="12" name="Shape 9"/>
          <p:cNvSpPr/>
          <p:nvPr/>
        </p:nvSpPr>
        <p:spPr>
          <a:xfrm>
            <a:off x="256032" y="2633472"/>
            <a:ext cx="6400800" cy="1828800"/>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3" name="Shape 10"/>
          <p:cNvSpPr/>
          <p:nvPr/>
        </p:nvSpPr>
        <p:spPr>
          <a:xfrm>
            <a:off x="256032" y="2633472"/>
            <a:ext cx="50292" cy="1828800"/>
          </a:xfrm>
          <a:prstGeom prst="rect">
            <a:avLst/>
          </a:prstGeom>
          <a:solidFill>
            <a:srgbClr val="00DCB4"/>
          </a:solidFill>
          <a:ln w="12700">
            <a:solidFill>
              <a:srgbClr val="00DCB4"/>
            </a:solidFill>
            <a:prstDash val="solid"/>
          </a:ln>
        </p:spPr>
      </p:sp>
      <p:sp>
        <p:nvSpPr>
          <p:cNvPr id="14" name="Text 11"/>
          <p:cNvSpPr/>
          <p:nvPr/>
        </p:nvSpPr>
        <p:spPr>
          <a:xfrm>
            <a:off x="384048" y="2697480"/>
            <a:ext cx="6126480" cy="274320"/>
          </a:xfrm>
          <a:prstGeom prst="rect">
            <a:avLst/>
          </a:prstGeom>
          <a:noFill/>
          <a:ln/>
        </p:spPr>
        <p:txBody>
          <a:bodyPr wrap="square" lIns="0" tIns="0" rIns="0" bIns="0" rtlCol="0" anchor="ctr"/>
          <a:lstStyle/>
          <a:p>
            <a:pPr indent="0" marL="0">
              <a:buNone/>
            </a:pPr>
            <a:r>
              <a:rPr lang="en-US" sz="950" i="1" dirty="0">
                <a:solidFill>
                  <a:srgbClr val="6B8AAA"/>
                </a:solidFill>
                <a:latin typeface="Arial" pitchFamily="34" charset="0"/>
                <a:ea typeface="Arial" pitchFamily="34" charset="-122"/>
                <a:cs typeface="Arial" pitchFamily="34" charset="-120"/>
              </a:rPr>
              <a:t>By the end of this lesson you will be able to:</a:t>
            </a:r>
            <a:endParaRPr lang="en-US" sz="950" dirty="0"/>
          </a:p>
        </p:txBody>
      </p:sp>
      <p:sp>
        <p:nvSpPr>
          <p:cNvPr id="15" name="Text 12"/>
          <p:cNvSpPr/>
          <p:nvPr/>
        </p:nvSpPr>
        <p:spPr>
          <a:xfrm>
            <a:off x="384048" y="3035808"/>
            <a:ext cx="612648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Import and use Python's built-in modules</a:t>
            </a:r>
            <a:endParaRPr lang="en-US" sz="1200" dirty="0"/>
          </a:p>
        </p:txBody>
      </p:sp>
      <p:sp>
        <p:nvSpPr>
          <p:cNvPr id="16" name="Text 13"/>
          <p:cNvSpPr/>
          <p:nvPr/>
        </p:nvSpPr>
        <p:spPr>
          <a:xfrm>
            <a:off x="384048" y="3456432"/>
            <a:ext cx="612648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Choose the right chart for the right data</a:t>
            </a:r>
            <a:endParaRPr lang="en-US" sz="1200" dirty="0"/>
          </a:p>
        </p:txBody>
      </p:sp>
      <p:sp>
        <p:nvSpPr>
          <p:cNvPr id="17" name="Text 14"/>
          <p:cNvSpPr/>
          <p:nvPr/>
        </p:nvSpPr>
        <p:spPr>
          <a:xfrm>
            <a:off x="384048" y="3877056"/>
            <a:ext cx="612648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Scrape basic web data using requests and BeautifulSoup</a:t>
            </a:r>
            <a:endParaRPr lang="en-US" sz="1200" dirty="0"/>
          </a:p>
        </p:txBody>
      </p:sp>
      <p:sp>
        <p:nvSpPr>
          <p:cNvPr id="18" name="Shape 15"/>
          <p:cNvSpPr/>
          <p:nvPr/>
        </p:nvSpPr>
        <p:spPr>
          <a:xfrm>
            <a:off x="0" y="4800600"/>
            <a:ext cx="9144000" cy="342900"/>
          </a:xfrm>
          <a:prstGeom prst="rect">
            <a:avLst/>
          </a:prstGeom>
          <a:solidFill>
            <a:srgbClr val="030608"/>
          </a:solidFill>
          <a:ln w="12700">
            <a:solidFill>
              <a:srgbClr val="030608"/>
            </a:solidFill>
            <a:prstDash val="solid"/>
          </a:ln>
        </p:spPr>
      </p:sp>
      <p:sp>
        <p:nvSpPr>
          <p:cNvPr id="19" name="Shape 16"/>
          <p:cNvSpPr/>
          <p:nvPr/>
        </p:nvSpPr>
        <p:spPr>
          <a:xfrm>
            <a:off x="0" y="4800600"/>
            <a:ext cx="1920240" cy="342900"/>
          </a:xfrm>
          <a:prstGeom prst="rect">
            <a:avLst/>
          </a:prstGeom>
          <a:solidFill>
            <a:srgbClr val="1A3A6B"/>
          </a:solidFill>
          <a:ln w="12700">
            <a:solidFill>
              <a:srgbClr val="1A3A6B"/>
            </a:solidFill>
            <a:prstDash val="solid"/>
          </a:ln>
        </p:spPr>
      </p:sp>
      <p:sp>
        <p:nvSpPr>
          <p:cNvPr id="20" name="Text 17"/>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21" name="Text 18"/>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2" name="Shape 19"/>
          <p:cNvSpPr/>
          <p:nvPr/>
        </p:nvSpPr>
        <p:spPr>
          <a:xfrm>
            <a:off x="7635240" y="4818888"/>
            <a:ext cx="475488" cy="274320"/>
          </a:xfrm>
          <a:prstGeom prst="rect">
            <a:avLst/>
          </a:prstGeom>
          <a:solidFill>
            <a:srgbClr val="0A1628"/>
          </a:solidFill>
          <a:ln w="12700">
            <a:solidFill>
              <a:srgbClr val="00DCB4"/>
            </a:solidFill>
            <a:prstDash val="solid"/>
          </a:ln>
        </p:spPr>
      </p:sp>
      <p:sp>
        <p:nvSpPr>
          <p:cNvPr id="23" name="Text 20"/>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4" name="Shape 21"/>
          <p:cNvSpPr/>
          <p:nvPr/>
        </p:nvSpPr>
        <p:spPr>
          <a:xfrm>
            <a:off x="8183880" y="4814316"/>
            <a:ext cx="749808" cy="310896"/>
          </a:xfrm>
          <a:prstGeom prst="rect">
            <a:avLst/>
          </a:prstGeom>
          <a:solidFill>
            <a:srgbClr val="1A3A6B"/>
          </a:solidFill>
          <a:ln w="12700">
            <a:solidFill>
              <a:srgbClr val="1A3A6B"/>
            </a:solidFill>
            <a:prstDash val="solid"/>
          </a:ln>
        </p:spPr>
      </p:sp>
      <p:sp>
        <p:nvSpPr>
          <p:cNvPr id="25" name="Text 22"/>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What is a Module?</a:t>
            </a:r>
            <a:endParaRPr lang="en-US" sz="2000" dirty="0"/>
          </a:p>
        </p:txBody>
      </p:sp>
      <p:sp>
        <p:nvSpPr>
          <p:cNvPr id="5" name="Shape 2"/>
          <p:cNvSpPr/>
          <p:nvPr/>
        </p:nvSpPr>
        <p:spPr>
          <a:xfrm>
            <a:off x="256032" y="658368"/>
            <a:ext cx="3977640" cy="3931920"/>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3931920"/>
          </a:xfrm>
          <a:prstGeom prst="rect">
            <a:avLst/>
          </a:prstGeom>
          <a:solidFill>
            <a:srgbClr val="00DCB4"/>
          </a:solidFill>
          <a:ln w="12700">
            <a:solidFill>
              <a:srgbClr val="00DCB4"/>
            </a:solidFill>
            <a:prstDash val="solid"/>
          </a:ln>
        </p:spPr>
      </p:sp>
      <p:sp>
        <p:nvSpPr>
          <p:cNvPr id="7" name="Text 4"/>
          <p:cNvSpPr/>
          <p:nvPr/>
        </p:nvSpPr>
        <p:spPr>
          <a:xfrm>
            <a:off x="384048" y="731520"/>
            <a:ext cx="3703320" cy="347472"/>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Pre-written code you can reuse</a:t>
            </a:r>
            <a:endParaRPr lang="en-US" sz="1200" dirty="0"/>
          </a:p>
        </p:txBody>
      </p:sp>
      <p:sp>
        <p:nvSpPr>
          <p:cNvPr id="8" name="Text 5"/>
          <p:cNvSpPr/>
          <p:nvPr/>
        </p:nvSpPr>
        <p:spPr>
          <a:xfrm>
            <a:off x="384048" y="1152144"/>
            <a:ext cx="3703320" cy="3346704"/>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A module is a file of Python code written by someone else that you can use in your own program.</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Python comes with hundreds of built-in modules — called the Standard Library.</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Ways to import:</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import math</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 use as math.sqrt()</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from math import sqrt</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 use as sqrt() directly</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from math import *</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 imports everything (avoid!)</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import math as m</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 use as m.sqrt() (alias)</a:t>
            </a:r>
            <a:endParaRPr lang="en-US" sz="1200" dirty="0"/>
          </a:p>
        </p:txBody>
      </p:sp>
      <p:sp>
        <p:nvSpPr>
          <p:cNvPr id="9" name="Shape 6"/>
          <p:cNvSpPr/>
          <p:nvPr/>
        </p:nvSpPr>
        <p:spPr>
          <a:xfrm>
            <a:off x="4480560" y="658368"/>
            <a:ext cx="4407408" cy="3931920"/>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0" name="Shape 7"/>
          <p:cNvSpPr/>
          <p:nvPr/>
        </p:nvSpPr>
        <p:spPr>
          <a:xfrm>
            <a:off x="4480560" y="658368"/>
            <a:ext cx="4407408" cy="329184"/>
          </a:xfrm>
          <a:prstGeom prst="rect">
            <a:avLst/>
          </a:prstGeom>
          <a:solidFill>
            <a:srgbClr val="0D1A2E"/>
          </a:solidFill>
          <a:ln w="12700">
            <a:solidFill>
              <a:srgbClr val="0D1A2E"/>
            </a:solidFill>
            <a:prstDash val="solid"/>
          </a:ln>
        </p:spPr>
      </p:sp>
      <p:sp>
        <p:nvSpPr>
          <p:cNvPr id="11" name="Shape 8"/>
          <p:cNvSpPr/>
          <p:nvPr/>
        </p:nvSpPr>
        <p:spPr>
          <a:xfrm>
            <a:off x="4626864" y="758952"/>
            <a:ext cx="118872" cy="118872"/>
          </a:xfrm>
          <a:prstGeom prst="ellipse">
            <a:avLst/>
          </a:prstGeom>
          <a:solidFill>
            <a:srgbClr val="E74C3C"/>
          </a:solidFill>
          <a:ln w="12700">
            <a:solidFill>
              <a:srgbClr val="E74C3C"/>
            </a:solidFill>
            <a:prstDash val="solid"/>
          </a:ln>
        </p:spPr>
      </p:sp>
      <p:sp>
        <p:nvSpPr>
          <p:cNvPr id="12" name="Shape 9"/>
          <p:cNvSpPr/>
          <p:nvPr/>
        </p:nvSpPr>
        <p:spPr>
          <a:xfrm>
            <a:off x="4864608" y="758952"/>
            <a:ext cx="118872" cy="118872"/>
          </a:xfrm>
          <a:prstGeom prst="ellipse">
            <a:avLst/>
          </a:prstGeom>
          <a:solidFill>
            <a:srgbClr val="F39C12"/>
          </a:solidFill>
          <a:ln w="12700">
            <a:solidFill>
              <a:srgbClr val="F39C12"/>
            </a:solidFill>
            <a:prstDash val="solid"/>
          </a:ln>
        </p:spPr>
      </p:sp>
      <p:sp>
        <p:nvSpPr>
          <p:cNvPr id="13" name="Shape 10"/>
          <p:cNvSpPr/>
          <p:nvPr/>
        </p:nvSpPr>
        <p:spPr>
          <a:xfrm>
            <a:off x="5102352" y="758952"/>
            <a:ext cx="118872" cy="118872"/>
          </a:xfrm>
          <a:prstGeom prst="ellipse">
            <a:avLst/>
          </a:prstGeom>
          <a:solidFill>
            <a:srgbClr val="2ECC71"/>
          </a:solidFill>
          <a:ln w="12700">
            <a:solidFill>
              <a:srgbClr val="2ECC71"/>
            </a:solidFill>
            <a:prstDash val="solid"/>
          </a:ln>
        </p:spPr>
      </p:sp>
      <p:sp>
        <p:nvSpPr>
          <p:cNvPr id="14" name="Text 11"/>
          <p:cNvSpPr/>
          <p:nvPr/>
        </p:nvSpPr>
        <p:spPr>
          <a:xfrm>
            <a:off x="6400800" y="676656"/>
            <a:ext cx="1463040" cy="274320"/>
          </a:xfrm>
          <a:prstGeom prst="rect">
            <a:avLst/>
          </a:prstGeom>
          <a:noFill/>
          <a:ln/>
        </p:spPr>
        <p:txBody>
          <a:bodyPr wrap="square" lIns="0" tIns="0" rIns="0" bIns="0" rtlCol="0" anchor="ctr"/>
          <a:lstStyle/>
          <a:p>
            <a:pPr algn="ctr" indent="0" marL="0">
              <a:buNone/>
            </a:pPr>
            <a:r>
              <a:rPr lang="en-US" sz="800" dirty="0">
                <a:solidFill>
                  <a:srgbClr val="6B8AAA"/>
                </a:solidFill>
                <a:latin typeface="Courier New" pitchFamily="34" charset="0"/>
                <a:ea typeface="Courier New" pitchFamily="34" charset="-122"/>
                <a:cs typeface="Courier New" pitchFamily="34" charset="-120"/>
              </a:rPr>
              <a:t>import_demo.py</a:t>
            </a:r>
            <a:endParaRPr lang="en-US" sz="800" dirty="0"/>
          </a:p>
        </p:txBody>
      </p:sp>
      <p:sp>
        <p:nvSpPr>
          <p:cNvPr id="15" name="Text 12"/>
          <p:cNvSpPr/>
          <p:nvPr/>
        </p:nvSpPr>
        <p:spPr>
          <a:xfrm>
            <a:off x="4590288" y="1060704"/>
            <a:ext cx="4206240" cy="3438144"/>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import math</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from datetime import datetime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import random</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math module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print(math.pi)          # 3.14159...</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print(math.sqrt(144))   # 12.0</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print(math.floor(3.9))  # 3</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datetime module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now = datetime.now()</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print(now.year)         # 2026</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print(now.strftime("%d %B %Y"))</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random module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print(random.randint(1, 100))</a:t>
            </a:r>
            <a:endParaRPr lang="en-US" sz="1200" dirty="0"/>
          </a:p>
        </p:txBody>
      </p:sp>
      <p:sp>
        <p:nvSpPr>
          <p:cNvPr id="16" name="Shape 13"/>
          <p:cNvSpPr/>
          <p:nvPr/>
        </p:nvSpPr>
        <p:spPr>
          <a:xfrm>
            <a:off x="0" y="4800600"/>
            <a:ext cx="9144000" cy="342900"/>
          </a:xfrm>
          <a:prstGeom prst="rect">
            <a:avLst/>
          </a:prstGeom>
          <a:solidFill>
            <a:srgbClr val="030608"/>
          </a:solidFill>
          <a:ln w="12700">
            <a:solidFill>
              <a:srgbClr val="030608"/>
            </a:solidFill>
            <a:prstDash val="solid"/>
          </a:ln>
        </p:spPr>
      </p:sp>
      <p:sp>
        <p:nvSpPr>
          <p:cNvPr id="17" name="Shape 14"/>
          <p:cNvSpPr/>
          <p:nvPr/>
        </p:nvSpPr>
        <p:spPr>
          <a:xfrm>
            <a:off x="0" y="4800600"/>
            <a:ext cx="1920240" cy="342900"/>
          </a:xfrm>
          <a:prstGeom prst="rect">
            <a:avLst/>
          </a:prstGeom>
          <a:solidFill>
            <a:srgbClr val="1A3A6B"/>
          </a:solidFill>
          <a:ln w="12700">
            <a:solidFill>
              <a:srgbClr val="1A3A6B"/>
            </a:solidFill>
            <a:prstDash val="solid"/>
          </a:ln>
        </p:spPr>
      </p:sp>
      <p:sp>
        <p:nvSpPr>
          <p:cNvPr id="18" name="Text 15"/>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9" name="Text 16"/>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0" name="Shape 17"/>
          <p:cNvSpPr/>
          <p:nvPr/>
        </p:nvSpPr>
        <p:spPr>
          <a:xfrm>
            <a:off x="7635240" y="4818888"/>
            <a:ext cx="475488" cy="274320"/>
          </a:xfrm>
          <a:prstGeom prst="rect">
            <a:avLst/>
          </a:prstGeom>
          <a:solidFill>
            <a:srgbClr val="0A1628"/>
          </a:solidFill>
          <a:ln w="12700">
            <a:solidFill>
              <a:srgbClr val="00DCB4"/>
            </a:solidFill>
            <a:prstDash val="solid"/>
          </a:ln>
        </p:spPr>
      </p:sp>
      <p:sp>
        <p:nvSpPr>
          <p:cNvPr id="21" name="Text 18"/>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2" name="Shape 19"/>
          <p:cNvSpPr/>
          <p:nvPr/>
        </p:nvSpPr>
        <p:spPr>
          <a:xfrm>
            <a:off x="8183880" y="4814316"/>
            <a:ext cx="749808" cy="310896"/>
          </a:xfrm>
          <a:prstGeom prst="rect">
            <a:avLst/>
          </a:prstGeom>
          <a:solidFill>
            <a:srgbClr val="1A3A6B"/>
          </a:solidFill>
          <a:ln w="12700">
            <a:solidFill>
              <a:srgbClr val="1A3A6B"/>
            </a:solidFill>
            <a:prstDash val="solid"/>
          </a:ln>
        </p:spPr>
      </p:sp>
      <p:sp>
        <p:nvSpPr>
          <p:cNvPr id="23" name="Text 20"/>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The random Module</a:t>
            </a:r>
            <a:endParaRPr lang="en-US" sz="2000" dirty="0"/>
          </a:p>
        </p:txBody>
      </p:sp>
      <p:sp>
        <p:nvSpPr>
          <p:cNvPr id="5" name="Shape 2"/>
          <p:cNvSpPr/>
          <p:nvPr/>
        </p:nvSpPr>
        <p:spPr>
          <a:xfrm>
            <a:off x="256032" y="658368"/>
            <a:ext cx="3977640" cy="3931920"/>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3931920"/>
          </a:xfrm>
          <a:prstGeom prst="rect">
            <a:avLst/>
          </a:prstGeom>
          <a:solidFill>
            <a:srgbClr val="00DCB4"/>
          </a:solidFill>
          <a:ln w="12700">
            <a:solidFill>
              <a:srgbClr val="00DCB4"/>
            </a:solidFill>
            <a:prstDash val="solid"/>
          </a:ln>
        </p:spPr>
      </p:sp>
      <p:sp>
        <p:nvSpPr>
          <p:cNvPr id="7" name="Text 4"/>
          <p:cNvSpPr/>
          <p:nvPr/>
        </p:nvSpPr>
        <p:spPr>
          <a:xfrm>
            <a:off x="384048" y="731520"/>
            <a:ext cx="3703320" cy="347472"/>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Generating random values</a:t>
            </a:r>
            <a:endParaRPr lang="en-US" sz="1200" dirty="0"/>
          </a:p>
        </p:txBody>
      </p:sp>
      <p:sp>
        <p:nvSpPr>
          <p:cNvPr id="8" name="Text 5"/>
          <p:cNvSpPr/>
          <p:nvPr/>
        </p:nvSpPr>
        <p:spPr>
          <a:xfrm>
            <a:off x="384048" y="1152144"/>
            <a:ext cx="3703320" cy="3346704"/>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The random module generates random numbers and makes random choices — great for games, simulations and quizzes.</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Key functions:</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random.randint(a, b)  → random int between a and b (inclusive)</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random.random()       → float between 0.0 and 1.0</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random.choice(list)   → random item from a list</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random.shuffle(list)  → shuffle list in place</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random.sample(list,k) → k unique random items</a:t>
            </a:r>
            <a:endParaRPr lang="en-US" sz="1200" dirty="0"/>
          </a:p>
        </p:txBody>
      </p:sp>
      <p:sp>
        <p:nvSpPr>
          <p:cNvPr id="9" name="Shape 6"/>
          <p:cNvSpPr/>
          <p:nvPr/>
        </p:nvSpPr>
        <p:spPr>
          <a:xfrm>
            <a:off x="4480560" y="658368"/>
            <a:ext cx="4407408" cy="3931920"/>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0" name="Shape 7"/>
          <p:cNvSpPr/>
          <p:nvPr/>
        </p:nvSpPr>
        <p:spPr>
          <a:xfrm>
            <a:off x="4480560" y="658368"/>
            <a:ext cx="4407408" cy="329184"/>
          </a:xfrm>
          <a:prstGeom prst="rect">
            <a:avLst/>
          </a:prstGeom>
          <a:solidFill>
            <a:srgbClr val="0D1A2E"/>
          </a:solidFill>
          <a:ln w="12700">
            <a:solidFill>
              <a:srgbClr val="0D1A2E"/>
            </a:solidFill>
            <a:prstDash val="solid"/>
          </a:ln>
        </p:spPr>
      </p:sp>
      <p:sp>
        <p:nvSpPr>
          <p:cNvPr id="11" name="Shape 8"/>
          <p:cNvSpPr/>
          <p:nvPr/>
        </p:nvSpPr>
        <p:spPr>
          <a:xfrm>
            <a:off x="4626864" y="758952"/>
            <a:ext cx="118872" cy="118872"/>
          </a:xfrm>
          <a:prstGeom prst="ellipse">
            <a:avLst/>
          </a:prstGeom>
          <a:solidFill>
            <a:srgbClr val="E74C3C"/>
          </a:solidFill>
          <a:ln w="12700">
            <a:solidFill>
              <a:srgbClr val="E74C3C"/>
            </a:solidFill>
            <a:prstDash val="solid"/>
          </a:ln>
        </p:spPr>
      </p:sp>
      <p:sp>
        <p:nvSpPr>
          <p:cNvPr id="12" name="Shape 9"/>
          <p:cNvSpPr/>
          <p:nvPr/>
        </p:nvSpPr>
        <p:spPr>
          <a:xfrm>
            <a:off x="4864608" y="758952"/>
            <a:ext cx="118872" cy="118872"/>
          </a:xfrm>
          <a:prstGeom prst="ellipse">
            <a:avLst/>
          </a:prstGeom>
          <a:solidFill>
            <a:srgbClr val="F39C12"/>
          </a:solidFill>
          <a:ln w="12700">
            <a:solidFill>
              <a:srgbClr val="F39C12"/>
            </a:solidFill>
            <a:prstDash val="solid"/>
          </a:ln>
        </p:spPr>
      </p:sp>
      <p:sp>
        <p:nvSpPr>
          <p:cNvPr id="13" name="Shape 10"/>
          <p:cNvSpPr/>
          <p:nvPr/>
        </p:nvSpPr>
        <p:spPr>
          <a:xfrm>
            <a:off x="5102352" y="758952"/>
            <a:ext cx="118872" cy="118872"/>
          </a:xfrm>
          <a:prstGeom prst="ellipse">
            <a:avLst/>
          </a:prstGeom>
          <a:solidFill>
            <a:srgbClr val="2ECC71"/>
          </a:solidFill>
          <a:ln w="12700">
            <a:solidFill>
              <a:srgbClr val="2ECC71"/>
            </a:solidFill>
            <a:prstDash val="solid"/>
          </a:ln>
        </p:spPr>
      </p:sp>
      <p:sp>
        <p:nvSpPr>
          <p:cNvPr id="14" name="Text 11"/>
          <p:cNvSpPr/>
          <p:nvPr/>
        </p:nvSpPr>
        <p:spPr>
          <a:xfrm>
            <a:off x="6400800" y="676656"/>
            <a:ext cx="1463040" cy="274320"/>
          </a:xfrm>
          <a:prstGeom prst="rect">
            <a:avLst/>
          </a:prstGeom>
          <a:noFill/>
          <a:ln/>
        </p:spPr>
        <p:txBody>
          <a:bodyPr wrap="square" lIns="0" tIns="0" rIns="0" bIns="0" rtlCol="0" anchor="ctr"/>
          <a:lstStyle/>
          <a:p>
            <a:pPr algn="ctr" indent="0" marL="0">
              <a:buNone/>
            </a:pPr>
            <a:r>
              <a:rPr lang="en-US" sz="800" dirty="0">
                <a:solidFill>
                  <a:srgbClr val="6B8AAA"/>
                </a:solidFill>
                <a:latin typeface="Courier New" pitchFamily="34" charset="0"/>
                <a:ea typeface="Courier New" pitchFamily="34" charset="-122"/>
                <a:cs typeface="Courier New" pitchFamily="34" charset="-120"/>
              </a:rPr>
              <a:t>random_demo.py</a:t>
            </a:r>
            <a:endParaRPr lang="en-US" sz="800" dirty="0"/>
          </a:p>
        </p:txBody>
      </p:sp>
      <p:sp>
        <p:nvSpPr>
          <p:cNvPr id="15" name="Text 12"/>
          <p:cNvSpPr/>
          <p:nvPr/>
        </p:nvSpPr>
        <p:spPr>
          <a:xfrm>
            <a:off x="4590288" y="1060704"/>
            <a:ext cx="4206240" cy="3438144"/>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import random</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Dice roller</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dice = random.randint(1, 6)</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print("You rolled:", dice)</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Random name picker</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students = ["Aisha","Wei Jie","Siti","Rajan"]</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picked = random.choice(students)</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print("Today's presenter:", picked)</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Shuffle a quiz order</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questions = ["Q1","Q2","Q3","Q4","Q5"]</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random.shuffle(questions)</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print("Quiz order:", questions)</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Lucky 2 from class</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lucky = random.sample(students, 2)</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print("Lucky pair:", lucky)</a:t>
            </a:r>
            <a:endParaRPr lang="en-US" sz="1200" dirty="0"/>
          </a:p>
        </p:txBody>
      </p:sp>
      <p:sp>
        <p:nvSpPr>
          <p:cNvPr id="16" name="Shape 13"/>
          <p:cNvSpPr/>
          <p:nvPr/>
        </p:nvSpPr>
        <p:spPr>
          <a:xfrm>
            <a:off x="0" y="4800600"/>
            <a:ext cx="9144000" cy="342900"/>
          </a:xfrm>
          <a:prstGeom prst="rect">
            <a:avLst/>
          </a:prstGeom>
          <a:solidFill>
            <a:srgbClr val="030608"/>
          </a:solidFill>
          <a:ln w="12700">
            <a:solidFill>
              <a:srgbClr val="030608"/>
            </a:solidFill>
            <a:prstDash val="solid"/>
          </a:ln>
        </p:spPr>
      </p:sp>
      <p:sp>
        <p:nvSpPr>
          <p:cNvPr id="17" name="Shape 14"/>
          <p:cNvSpPr/>
          <p:nvPr/>
        </p:nvSpPr>
        <p:spPr>
          <a:xfrm>
            <a:off x="0" y="4800600"/>
            <a:ext cx="1920240" cy="342900"/>
          </a:xfrm>
          <a:prstGeom prst="rect">
            <a:avLst/>
          </a:prstGeom>
          <a:solidFill>
            <a:srgbClr val="1A3A6B"/>
          </a:solidFill>
          <a:ln w="12700">
            <a:solidFill>
              <a:srgbClr val="1A3A6B"/>
            </a:solidFill>
            <a:prstDash val="solid"/>
          </a:ln>
        </p:spPr>
      </p:sp>
      <p:sp>
        <p:nvSpPr>
          <p:cNvPr id="18" name="Text 15"/>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9" name="Text 16"/>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0" name="Shape 17"/>
          <p:cNvSpPr/>
          <p:nvPr/>
        </p:nvSpPr>
        <p:spPr>
          <a:xfrm>
            <a:off x="7635240" y="4818888"/>
            <a:ext cx="475488" cy="274320"/>
          </a:xfrm>
          <a:prstGeom prst="rect">
            <a:avLst/>
          </a:prstGeom>
          <a:solidFill>
            <a:srgbClr val="0A1628"/>
          </a:solidFill>
          <a:ln w="12700">
            <a:solidFill>
              <a:srgbClr val="00DCB4"/>
            </a:solidFill>
            <a:prstDash val="solid"/>
          </a:ln>
        </p:spPr>
      </p:sp>
      <p:sp>
        <p:nvSpPr>
          <p:cNvPr id="21" name="Text 18"/>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2" name="Shape 19"/>
          <p:cNvSpPr/>
          <p:nvPr/>
        </p:nvSpPr>
        <p:spPr>
          <a:xfrm>
            <a:off x="8183880" y="4814316"/>
            <a:ext cx="749808" cy="310896"/>
          </a:xfrm>
          <a:prstGeom prst="rect">
            <a:avLst/>
          </a:prstGeom>
          <a:solidFill>
            <a:srgbClr val="1A3A6B"/>
          </a:solidFill>
          <a:ln w="12700">
            <a:solidFill>
              <a:srgbClr val="1A3A6B"/>
            </a:solidFill>
            <a:prstDash val="solid"/>
          </a:ln>
        </p:spPr>
      </p:sp>
      <p:sp>
        <p:nvSpPr>
          <p:cNvPr id="23" name="Text 20"/>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The datetime Module</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datetime_demo.py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from datetime import datetime, date, timedelta</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Current date and time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now = datetime.now()</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print("Now:  ", now)</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print("Year: ", now.year)</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print("Month:", now.month)</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print("Day:  ", now.day)</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Formatted strings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print(now.strftime("%d/%m/%Y"))       # 11/03/2026</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print(now.strftime("%A, %d %B %Y"))  # Wednesday, 11 March 2026</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print(now.strftime("%I:%M %p"))      # 10:30 AM</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Date arithmetic</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today = date.today()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next_class = today + timedelta(days=7)</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print("Next class:", next_class)</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Days until an event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event = date(2026, 12, 31)</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delta = event - today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print("Days until NYE:", delta.days)</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strftime() formats dates as strings. %d=day, %m=month, %Y=4-digit year, %A=weekday name, %B=month name. timedelta lets you add/subtract days, weeks, hours from dates.</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The math Module</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math_demo.py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import math</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Basic math functions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print(math.sqrt(144))      # 12.0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print(math.pow(2, 10))     # 1024.0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print(math.floor(3.9))     # 3</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print(math.ceil(3.1))      # 4</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print(math.abs(-15))       # 15 — use abs() directly</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Constants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print(math.pi)             # 3.141592653589793</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print(math.e)              # 2.718281828459045</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Circle area calculator</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circle_area(radius):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math.pi * radius ** 2</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print(f"Area (r=5): {circle_area(5):.2f}")  # 78.54</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Logarithm</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print(math.log(100, 10))   # 2.0  (log base 10)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print(math.log(math.e))    # 1.0  (natural log)</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math provides exact implementations of mathematical functions. math.sqrt() is faster and more precise than ** 0.5 for roots. Use math.pi instead of hardcoding 3.14.</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Useful Built-in Modules</a:t>
            </a:r>
            <a:endParaRPr lang="en-US" sz="2000" dirty="0"/>
          </a:p>
        </p:txBody>
      </p:sp>
      <p:sp>
        <p:nvSpPr>
          <p:cNvPr id="5" name="Shape 2"/>
          <p:cNvSpPr/>
          <p:nvPr/>
        </p:nvSpPr>
        <p:spPr>
          <a:xfrm>
            <a:off x="256032" y="658368"/>
            <a:ext cx="4160520" cy="1938528"/>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1938528"/>
          </a:xfrm>
          <a:prstGeom prst="rect">
            <a:avLst/>
          </a:prstGeom>
          <a:solidFill>
            <a:srgbClr val="00DCB4"/>
          </a:solidFill>
          <a:ln w="12700">
            <a:solidFill>
              <a:srgbClr val="00DCB4"/>
            </a:solidFill>
            <a:prstDash val="solid"/>
          </a:ln>
        </p:spPr>
      </p:sp>
      <p:sp>
        <p:nvSpPr>
          <p:cNvPr id="7" name="Shape 4"/>
          <p:cNvSpPr/>
          <p:nvPr/>
        </p:nvSpPr>
        <p:spPr>
          <a:xfrm>
            <a:off x="384048" y="786384"/>
            <a:ext cx="402336" cy="402336"/>
          </a:xfrm>
          <a:prstGeom prst="rect">
            <a:avLst/>
          </a:prstGeom>
          <a:solidFill>
            <a:srgbClr val="00DCB4">
              <a:alpha val="22000"/>
            </a:srgbClr>
          </a:solidFill>
          <a:ln w="12700">
            <a:solidFill>
              <a:srgbClr val="00DCB4">
                <a:alpha val="22000"/>
              </a:srgbClr>
            </a:solidFill>
            <a:prstDash val="solid"/>
          </a:ln>
        </p:spPr>
      </p:sp>
      <p:sp>
        <p:nvSpPr>
          <p:cNvPr id="8" name="Text 5"/>
          <p:cNvSpPr/>
          <p:nvPr/>
        </p:nvSpPr>
        <p:spPr>
          <a:xfrm>
            <a:off x="384048" y="786384"/>
            <a:ext cx="402336" cy="402336"/>
          </a:xfrm>
          <a:prstGeom prst="rect">
            <a:avLst/>
          </a:prstGeom>
          <a:noFill/>
          <a:ln/>
        </p:spPr>
        <p:txBody>
          <a:bodyPr wrap="square" lIns="0" tIns="0" rIns="0" bIns="0" rtlCol="0" anchor="ctr"/>
          <a:lstStyle/>
          <a:p>
            <a:pPr algn="ctr" indent="0" marL="0">
              <a:buNone/>
            </a:pPr>
            <a:r>
              <a:rPr lang="en-US" sz="1200" b="1" dirty="0">
                <a:solidFill>
                  <a:srgbClr val="00DCB4"/>
                </a:solidFill>
                <a:latin typeface="Courier New" pitchFamily="34" charset="0"/>
                <a:ea typeface="Courier New" pitchFamily="34" charset="-122"/>
                <a:cs typeface="Courier New" pitchFamily="34" charset="-120"/>
              </a:rPr>
              <a:t>rnd</a:t>
            </a:r>
            <a:endParaRPr lang="en-US" sz="1200" dirty="0"/>
          </a:p>
        </p:txBody>
      </p:sp>
      <p:sp>
        <p:nvSpPr>
          <p:cNvPr id="9" name="Text 6"/>
          <p:cNvSpPr/>
          <p:nvPr/>
        </p:nvSpPr>
        <p:spPr>
          <a:xfrm>
            <a:off x="877824" y="786384"/>
            <a:ext cx="3429000" cy="40233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random</a:t>
            </a:r>
            <a:endParaRPr lang="en-US" sz="1300" dirty="0"/>
          </a:p>
        </p:txBody>
      </p:sp>
      <p:sp>
        <p:nvSpPr>
          <p:cNvPr id="10" name="Text 7"/>
          <p:cNvSpPr/>
          <p:nvPr/>
        </p:nvSpPr>
        <p:spPr>
          <a:xfrm>
            <a:off x="384048" y="1261872"/>
            <a:ext cx="3913632" cy="12618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randint, choice, shuffle, sample. Use for games, quizzes, simulations and picking random items from lists.</a:t>
            </a:r>
            <a:endParaRPr lang="en-US" sz="1100" dirty="0"/>
          </a:p>
        </p:txBody>
      </p:sp>
      <p:sp>
        <p:nvSpPr>
          <p:cNvPr id="11" name="Shape 8"/>
          <p:cNvSpPr/>
          <p:nvPr/>
        </p:nvSpPr>
        <p:spPr>
          <a:xfrm>
            <a:off x="4663440" y="658368"/>
            <a:ext cx="4160520" cy="1938528"/>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2" name="Shape 9"/>
          <p:cNvSpPr/>
          <p:nvPr/>
        </p:nvSpPr>
        <p:spPr>
          <a:xfrm>
            <a:off x="4663440" y="658368"/>
            <a:ext cx="50292" cy="1938528"/>
          </a:xfrm>
          <a:prstGeom prst="rect">
            <a:avLst/>
          </a:prstGeom>
          <a:solidFill>
            <a:srgbClr val="FFCB6B"/>
          </a:solidFill>
          <a:ln w="12700">
            <a:solidFill>
              <a:srgbClr val="FFCB6B"/>
            </a:solidFill>
            <a:prstDash val="solid"/>
          </a:ln>
        </p:spPr>
      </p:sp>
      <p:sp>
        <p:nvSpPr>
          <p:cNvPr id="13" name="Shape 10"/>
          <p:cNvSpPr/>
          <p:nvPr/>
        </p:nvSpPr>
        <p:spPr>
          <a:xfrm>
            <a:off x="4791456" y="786384"/>
            <a:ext cx="402336" cy="402336"/>
          </a:xfrm>
          <a:prstGeom prst="rect">
            <a:avLst/>
          </a:prstGeom>
          <a:solidFill>
            <a:srgbClr val="FFCB6B">
              <a:alpha val="22000"/>
            </a:srgbClr>
          </a:solidFill>
          <a:ln w="12700">
            <a:solidFill>
              <a:srgbClr val="FFCB6B">
                <a:alpha val="22000"/>
              </a:srgbClr>
            </a:solidFill>
            <a:prstDash val="solid"/>
          </a:ln>
        </p:spPr>
      </p:sp>
      <p:sp>
        <p:nvSpPr>
          <p:cNvPr id="14" name="Text 11"/>
          <p:cNvSpPr/>
          <p:nvPr/>
        </p:nvSpPr>
        <p:spPr>
          <a:xfrm>
            <a:off x="4791456" y="786384"/>
            <a:ext cx="402336" cy="402336"/>
          </a:xfrm>
          <a:prstGeom prst="rect">
            <a:avLst/>
          </a:prstGeom>
          <a:noFill/>
          <a:ln/>
        </p:spPr>
        <p:txBody>
          <a:bodyPr wrap="square" lIns="0" tIns="0" rIns="0" bIns="0" rtlCol="0" anchor="ctr"/>
          <a:lstStyle/>
          <a:p>
            <a:pPr algn="ctr" indent="0" marL="0">
              <a:buNone/>
            </a:pPr>
            <a:r>
              <a:rPr lang="en-US" sz="1200" b="1" dirty="0">
                <a:solidFill>
                  <a:srgbClr val="FFCB6B"/>
                </a:solidFill>
                <a:latin typeface="Courier New" pitchFamily="34" charset="0"/>
                <a:ea typeface="Courier New" pitchFamily="34" charset="-122"/>
                <a:cs typeface="Courier New" pitchFamily="34" charset="-120"/>
              </a:rPr>
              <a:t>dt</a:t>
            </a:r>
            <a:endParaRPr lang="en-US" sz="1200" dirty="0"/>
          </a:p>
        </p:txBody>
      </p:sp>
      <p:sp>
        <p:nvSpPr>
          <p:cNvPr id="15" name="Text 12"/>
          <p:cNvSpPr/>
          <p:nvPr/>
        </p:nvSpPr>
        <p:spPr>
          <a:xfrm>
            <a:off x="5285232" y="786384"/>
            <a:ext cx="3429000" cy="40233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datetime</a:t>
            </a:r>
            <a:endParaRPr lang="en-US" sz="1300" dirty="0"/>
          </a:p>
        </p:txBody>
      </p:sp>
      <p:sp>
        <p:nvSpPr>
          <p:cNvPr id="16" name="Text 13"/>
          <p:cNvSpPr/>
          <p:nvPr/>
        </p:nvSpPr>
        <p:spPr>
          <a:xfrm>
            <a:off x="4791456" y="1261872"/>
            <a:ext cx="3913632" cy="12618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datetime.now(), date.today(), timedelta. Use for timestamps, countdowns, scheduling and formatting dates.</a:t>
            </a:r>
            <a:endParaRPr lang="en-US" sz="1100" dirty="0"/>
          </a:p>
        </p:txBody>
      </p:sp>
      <p:sp>
        <p:nvSpPr>
          <p:cNvPr id="17" name="Shape 14"/>
          <p:cNvSpPr/>
          <p:nvPr/>
        </p:nvSpPr>
        <p:spPr>
          <a:xfrm>
            <a:off x="256032" y="2816352"/>
            <a:ext cx="4160520" cy="1938528"/>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8" name="Shape 15"/>
          <p:cNvSpPr/>
          <p:nvPr/>
        </p:nvSpPr>
        <p:spPr>
          <a:xfrm>
            <a:off x="256032" y="2816352"/>
            <a:ext cx="50292" cy="1938528"/>
          </a:xfrm>
          <a:prstGeom prst="rect">
            <a:avLst/>
          </a:prstGeom>
          <a:solidFill>
            <a:srgbClr val="C792EA"/>
          </a:solidFill>
          <a:ln w="12700">
            <a:solidFill>
              <a:srgbClr val="C792EA"/>
            </a:solidFill>
            <a:prstDash val="solid"/>
          </a:ln>
        </p:spPr>
      </p:sp>
      <p:sp>
        <p:nvSpPr>
          <p:cNvPr id="19" name="Shape 16"/>
          <p:cNvSpPr/>
          <p:nvPr/>
        </p:nvSpPr>
        <p:spPr>
          <a:xfrm>
            <a:off x="384048" y="2944368"/>
            <a:ext cx="402336" cy="402336"/>
          </a:xfrm>
          <a:prstGeom prst="rect">
            <a:avLst/>
          </a:prstGeom>
          <a:solidFill>
            <a:srgbClr val="C792EA">
              <a:alpha val="22000"/>
            </a:srgbClr>
          </a:solidFill>
          <a:ln w="12700">
            <a:solidFill>
              <a:srgbClr val="C792EA">
                <a:alpha val="22000"/>
              </a:srgbClr>
            </a:solidFill>
            <a:prstDash val="solid"/>
          </a:ln>
        </p:spPr>
      </p:sp>
      <p:sp>
        <p:nvSpPr>
          <p:cNvPr id="20" name="Text 17"/>
          <p:cNvSpPr/>
          <p:nvPr/>
        </p:nvSpPr>
        <p:spPr>
          <a:xfrm>
            <a:off x="384048" y="2944368"/>
            <a:ext cx="402336" cy="402336"/>
          </a:xfrm>
          <a:prstGeom prst="rect">
            <a:avLst/>
          </a:prstGeom>
          <a:noFill/>
          <a:ln/>
        </p:spPr>
        <p:txBody>
          <a:bodyPr wrap="square" lIns="0" tIns="0" rIns="0" bIns="0" rtlCol="0" anchor="ctr"/>
          <a:lstStyle/>
          <a:p>
            <a:pPr algn="ctr" indent="0" marL="0">
              <a:buNone/>
            </a:pPr>
            <a:r>
              <a:rPr lang="en-US" sz="1200" b="1" dirty="0">
                <a:solidFill>
                  <a:srgbClr val="C792EA"/>
                </a:solidFill>
                <a:latin typeface="Courier New" pitchFamily="34" charset="0"/>
                <a:ea typeface="Courier New" pitchFamily="34" charset="-122"/>
                <a:cs typeface="Courier New" pitchFamily="34" charset="-120"/>
              </a:rPr>
              <a:t>mth</a:t>
            </a:r>
            <a:endParaRPr lang="en-US" sz="1200" dirty="0"/>
          </a:p>
        </p:txBody>
      </p:sp>
      <p:sp>
        <p:nvSpPr>
          <p:cNvPr id="21" name="Text 18"/>
          <p:cNvSpPr/>
          <p:nvPr/>
        </p:nvSpPr>
        <p:spPr>
          <a:xfrm>
            <a:off x="877824" y="2944368"/>
            <a:ext cx="3429000" cy="40233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math</a:t>
            </a:r>
            <a:endParaRPr lang="en-US" sz="1300" dirty="0"/>
          </a:p>
        </p:txBody>
      </p:sp>
      <p:sp>
        <p:nvSpPr>
          <p:cNvPr id="22" name="Text 19"/>
          <p:cNvSpPr/>
          <p:nvPr/>
        </p:nvSpPr>
        <p:spPr>
          <a:xfrm>
            <a:off x="384048" y="3419856"/>
            <a:ext cx="3913632" cy="12618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sqrt, pi, floor, ceil, pow, log. Use for geometry, statistics and any calculation beyond basic arithmetic.</a:t>
            </a:r>
            <a:endParaRPr lang="en-US" sz="1100" dirty="0"/>
          </a:p>
        </p:txBody>
      </p:sp>
      <p:sp>
        <p:nvSpPr>
          <p:cNvPr id="23" name="Shape 20"/>
          <p:cNvSpPr/>
          <p:nvPr/>
        </p:nvSpPr>
        <p:spPr>
          <a:xfrm>
            <a:off x="4663440" y="2816352"/>
            <a:ext cx="4160520" cy="1938528"/>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24" name="Shape 21"/>
          <p:cNvSpPr/>
          <p:nvPr/>
        </p:nvSpPr>
        <p:spPr>
          <a:xfrm>
            <a:off x="4663440" y="2816352"/>
            <a:ext cx="50292" cy="1938528"/>
          </a:xfrm>
          <a:prstGeom prst="rect">
            <a:avLst/>
          </a:prstGeom>
          <a:solidFill>
            <a:srgbClr val="00B4D8"/>
          </a:solidFill>
          <a:ln w="12700">
            <a:solidFill>
              <a:srgbClr val="00B4D8"/>
            </a:solidFill>
            <a:prstDash val="solid"/>
          </a:ln>
        </p:spPr>
      </p:sp>
      <p:sp>
        <p:nvSpPr>
          <p:cNvPr id="25" name="Shape 22"/>
          <p:cNvSpPr/>
          <p:nvPr/>
        </p:nvSpPr>
        <p:spPr>
          <a:xfrm>
            <a:off x="4791456" y="2944368"/>
            <a:ext cx="402336" cy="402336"/>
          </a:xfrm>
          <a:prstGeom prst="rect">
            <a:avLst/>
          </a:prstGeom>
          <a:solidFill>
            <a:srgbClr val="00B4D8">
              <a:alpha val="22000"/>
            </a:srgbClr>
          </a:solidFill>
          <a:ln w="12700">
            <a:solidFill>
              <a:srgbClr val="00B4D8">
                <a:alpha val="22000"/>
              </a:srgbClr>
            </a:solidFill>
            <a:prstDash val="solid"/>
          </a:ln>
        </p:spPr>
      </p:sp>
      <p:sp>
        <p:nvSpPr>
          <p:cNvPr id="26" name="Text 23"/>
          <p:cNvSpPr/>
          <p:nvPr/>
        </p:nvSpPr>
        <p:spPr>
          <a:xfrm>
            <a:off x="4791456" y="2944368"/>
            <a:ext cx="402336" cy="402336"/>
          </a:xfrm>
          <a:prstGeom prst="rect">
            <a:avLst/>
          </a:prstGeom>
          <a:noFill/>
          <a:ln/>
        </p:spPr>
        <p:txBody>
          <a:bodyPr wrap="square" lIns="0" tIns="0" rIns="0" bIns="0" rtlCol="0" anchor="ctr"/>
          <a:lstStyle/>
          <a:p>
            <a:pPr algn="ctr" indent="0" marL="0">
              <a:buNone/>
            </a:pPr>
            <a:r>
              <a:rPr lang="en-US" sz="1200" b="1" dirty="0">
                <a:solidFill>
                  <a:srgbClr val="00B4D8"/>
                </a:solidFill>
                <a:latin typeface="Courier New" pitchFamily="34" charset="0"/>
                <a:ea typeface="Courier New" pitchFamily="34" charset="-122"/>
                <a:cs typeface="Courier New" pitchFamily="34" charset="-120"/>
              </a:rPr>
              <a:t>os</a:t>
            </a:r>
            <a:endParaRPr lang="en-US" sz="1200" dirty="0"/>
          </a:p>
        </p:txBody>
      </p:sp>
      <p:sp>
        <p:nvSpPr>
          <p:cNvPr id="27" name="Text 24"/>
          <p:cNvSpPr/>
          <p:nvPr/>
        </p:nvSpPr>
        <p:spPr>
          <a:xfrm>
            <a:off x="5285232" y="2944368"/>
            <a:ext cx="3429000" cy="40233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os</a:t>
            </a:r>
            <a:endParaRPr lang="en-US" sz="1300" dirty="0"/>
          </a:p>
        </p:txBody>
      </p:sp>
      <p:sp>
        <p:nvSpPr>
          <p:cNvPr id="28" name="Text 25"/>
          <p:cNvSpPr/>
          <p:nvPr/>
        </p:nvSpPr>
        <p:spPr>
          <a:xfrm>
            <a:off x="4791456" y="3419856"/>
            <a:ext cx="3913632" cy="12618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os.path.exists(), os.listdir(), os.getcwd(). Use for checking files, listing directories and working with file paths.</a:t>
            </a:r>
            <a:endParaRPr lang="en-US" sz="1100" dirty="0"/>
          </a:p>
        </p:txBody>
      </p:sp>
      <p:sp>
        <p:nvSpPr>
          <p:cNvPr id="29" name="Shape 26"/>
          <p:cNvSpPr/>
          <p:nvPr/>
        </p:nvSpPr>
        <p:spPr>
          <a:xfrm>
            <a:off x="0" y="4800600"/>
            <a:ext cx="9144000" cy="342900"/>
          </a:xfrm>
          <a:prstGeom prst="rect">
            <a:avLst/>
          </a:prstGeom>
          <a:solidFill>
            <a:srgbClr val="030608"/>
          </a:solidFill>
          <a:ln w="12700">
            <a:solidFill>
              <a:srgbClr val="030608"/>
            </a:solidFill>
            <a:prstDash val="solid"/>
          </a:ln>
        </p:spPr>
      </p:sp>
      <p:sp>
        <p:nvSpPr>
          <p:cNvPr id="30" name="Shape 27"/>
          <p:cNvSpPr/>
          <p:nvPr/>
        </p:nvSpPr>
        <p:spPr>
          <a:xfrm>
            <a:off x="0" y="4800600"/>
            <a:ext cx="1920240" cy="342900"/>
          </a:xfrm>
          <a:prstGeom prst="rect">
            <a:avLst/>
          </a:prstGeom>
          <a:solidFill>
            <a:srgbClr val="1A3A6B"/>
          </a:solidFill>
          <a:ln w="12700">
            <a:solidFill>
              <a:srgbClr val="1A3A6B"/>
            </a:solidFill>
            <a:prstDash val="solid"/>
          </a:ln>
        </p:spPr>
      </p:sp>
      <p:sp>
        <p:nvSpPr>
          <p:cNvPr id="31" name="Text 28"/>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32" name="Text 29"/>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33" name="Shape 30"/>
          <p:cNvSpPr/>
          <p:nvPr/>
        </p:nvSpPr>
        <p:spPr>
          <a:xfrm>
            <a:off x="7635240" y="4818888"/>
            <a:ext cx="475488" cy="274320"/>
          </a:xfrm>
          <a:prstGeom prst="rect">
            <a:avLst/>
          </a:prstGeom>
          <a:solidFill>
            <a:srgbClr val="0A1628"/>
          </a:solidFill>
          <a:ln w="12700">
            <a:solidFill>
              <a:srgbClr val="00DCB4"/>
            </a:solidFill>
            <a:prstDash val="solid"/>
          </a:ln>
        </p:spPr>
      </p:sp>
      <p:sp>
        <p:nvSpPr>
          <p:cNvPr id="34" name="Text 31"/>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35" name="Shape 32"/>
          <p:cNvSpPr/>
          <p:nvPr/>
        </p:nvSpPr>
        <p:spPr>
          <a:xfrm>
            <a:off x="8183880" y="4814316"/>
            <a:ext cx="749808" cy="310896"/>
          </a:xfrm>
          <a:prstGeom prst="rect">
            <a:avLst/>
          </a:prstGeom>
          <a:solidFill>
            <a:srgbClr val="1A3A6B"/>
          </a:solidFill>
          <a:ln w="12700">
            <a:solidFill>
              <a:srgbClr val="1A3A6B"/>
            </a:solidFill>
            <a:prstDash val="solid"/>
          </a:ln>
        </p:spPr>
      </p:sp>
      <p:sp>
        <p:nvSpPr>
          <p:cNvPr id="36" name="Text 33"/>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The os Module — Working with Paths</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os_demo.py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import os</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Current working directory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print(os.getcwd())        # /home/user/projects</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Check if file/folder exists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print(os.path.exists("contacts.csv"))   # True or False</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List files in a directory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files = os.listdir(".")</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for f in files: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Build file paths safely (works on Windows + Mac/Linux)</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folder = "data"</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filename = "scores.csv"</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full_path = os.path.join(folder, filename)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print(full_path)   # data/scores.csv  or  data\scores.csv</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Create a folder if it doesn't exist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if not os.path.exists("backups"):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os.makedirs("backups")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print("Created backups folder")</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os.path.join() builds file paths that work on all operating systems — Windows uses backslash, Mac/Linux use forward slash. Always use it instead of hardcoding / or \.</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Building a Number Guessing Game</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guess_game.py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import random</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from datetime import datetime</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play_game():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secret = random.randint(1, 100)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attempts = 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max_tries = 7</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start = datetime.now()</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 Guess the number (1-100)!")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print(f"You have {max_tries} attempts.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while attempts &lt; max_tries: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guess = int(input("Your guess: "))</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attempts += 1</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if guess &lt; secret: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 Too low!")</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elif guess &gt; secret: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 Too high!")</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else: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elapsed = (datetime.now() - start).seconds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 Correct! In {attempts} tries, {elapsed}s!")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 Out of tries! It was {secret}.")</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play_game()</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random.randint() picks the secret number once at the start. datetime tracks how long the game took. This combines modules, loops, functions and conditionals into one real program.</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Installing External Libraries with pip</a:t>
            </a:r>
            <a:endParaRPr lang="en-US" sz="2000" dirty="0"/>
          </a:p>
        </p:txBody>
      </p:sp>
      <p:sp>
        <p:nvSpPr>
          <p:cNvPr id="5" name="Shape 2"/>
          <p:cNvSpPr/>
          <p:nvPr/>
        </p:nvSpPr>
        <p:spPr>
          <a:xfrm>
            <a:off x="256032" y="658368"/>
            <a:ext cx="3977640" cy="3931920"/>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3931920"/>
          </a:xfrm>
          <a:prstGeom prst="rect">
            <a:avLst/>
          </a:prstGeom>
          <a:solidFill>
            <a:srgbClr val="00DCB4"/>
          </a:solidFill>
          <a:ln w="12700">
            <a:solidFill>
              <a:srgbClr val="00DCB4"/>
            </a:solidFill>
            <a:prstDash val="solid"/>
          </a:ln>
        </p:spPr>
      </p:sp>
      <p:sp>
        <p:nvSpPr>
          <p:cNvPr id="7" name="Text 4"/>
          <p:cNvSpPr/>
          <p:nvPr/>
        </p:nvSpPr>
        <p:spPr>
          <a:xfrm>
            <a:off x="384048" y="731520"/>
            <a:ext cx="3703320" cy="347472"/>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Beyond the Standard Library</a:t>
            </a:r>
            <a:endParaRPr lang="en-US" sz="1200" dirty="0"/>
          </a:p>
        </p:txBody>
      </p:sp>
      <p:sp>
        <p:nvSpPr>
          <p:cNvPr id="8" name="Text 5"/>
          <p:cNvSpPr/>
          <p:nvPr/>
        </p:nvSpPr>
        <p:spPr>
          <a:xfrm>
            <a:off x="384048" y="1152144"/>
            <a:ext cx="3703320" cy="3346704"/>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Python's real power comes from thousands of third-party libraries.</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Install them using pip (Python's package manager):</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pip install library_name</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Popular libraries you'll use later:</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numpy   — fast number arrays</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pandas  — data tables</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matplotlib — charts and graphs</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requests  — web/API calls</a:t>
            </a: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  flask    — web apps</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Once installed, import them the same way as built-in modules.</a:t>
            </a:r>
            <a:endParaRPr lang="en-US" sz="1200" dirty="0"/>
          </a:p>
        </p:txBody>
      </p:sp>
      <p:sp>
        <p:nvSpPr>
          <p:cNvPr id="9" name="Shape 6"/>
          <p:cNvSpPr/>
          <p:nvPr/>
        </p:nvSpPr>
        <p:spPr>
          <a:xfrm>
            <a:off x="4480560" y="658368"/>
            <a:ext cx="4407408" cy="3931920"/>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0" name="Shape 7"/>
          <p:cNvSpPr/>
          <p:nvPr/>
        </p:nvSpPr>
        <p:spPr>
          <a:xfrm>
            <a:off x="4480560" y="658368"/>
            <a:ext cx="4407408" cy="329184"/>
          </a:xfrm>
          <a:prstGeom prst="rect">
            <a:avLst/>
          </a:prstGeom>
          <a:solidFill>
            <a:srgbClr val="0D1A2E"/>
          </a:solidFill>
          <a:ln w="12700">
            <a:solidFill>
              <a:srgbClr val="0D1A2E"/>
            </a:solidFill>
            <a:prstDash val="solid"/>
          </a:ln>
        </p:spPr>
      </p:sp>
      <p:sp>
        <p:nvSpPr>
          <p:cNvPr id="11" name="Shape 8"/>
          <p:cNvSpPr/>
          <p:nvPr/>
        </p:nvSpPr>
        <p:spPr>
          <a:xfrm>
            <a:off x="4626864" y="758952"/>
            <a:ext cx="118872" cy="118872"/>
          </a:xfrm>
          <a:prstGeom prst="ellipse">
            <a:avLst/>
          </a:prstGeom>
          <a:solidFill>
            <a:srgbClr val="E74C3C"/>
          </a:solidFill>
          <a:ln w="12700">
            <a:solidFill>
              <a:srgbClr val="E74C3C"/>
            </a:solidFill>
            <a:prstDash val="solid"/>
          </a:ln>
        </p:spPr>
      </p:sp>
      <p:sp>
        <p:nvSpPr>
          <p:cNvPr id="12" name="Shape 9"/>
          <p:cNvSpPr/>
          <p:nvPr/>
        </p:nvSpPr>
        <p:spPr>
          <a:xfrm>
            <a:off x="4864608" y="758952"/>
            <a:ext cx="118872" cy="118872"/>
          </a:xfrm>
          <a:prstGeom prst="ellipse">
            <a:avLst/>
          </a:prstGeom>
          <a:solidFill>
            <a:srgbClr val="F39C12"/>
          </a:solidFill>
          <a:ln w="12700">
            <a:solidFill>
              <a:srgbClr val="F39C12"/>
            </a:solidFill>
            <a:prstDash val="solid"/>
          </a:ln>
        </p:spPr>
      </p:sp>
      <p:sp>
        <p:nvSpPr>
          <p:cNvPr id="13" name="Shape 10"/>
          <p:cNvSpPr/>
          <p:nvPr/>
        </p:nvSpPr>
        <p:spPr>
          <a:xfrm>
            <a:off x="5102352" y="758952"/>
            <a:ext cx="118872" cy="118872"/>
          </a:xfrm>
          <a:prstGeom prst="ellipse">
            <a:avLst/>
          </a:prstGeom>
          <a:solidFill>
            <a:srgbClr val="2ECC71"/>
          </a:solidFill>
          <a:ln w="12700">
            <a:solidFill>
              <a:srgbClr val="2ECC71"/>
            </a:solidFill>
            <a:prstDash val="solid"/>
          </a:ln>
        </p:spPr>
      </p:sp>
      <p:sp>
        <p:nvSpPr>
          <p:cNvPr id="14" name="Text 11"/>
          <p:cNvSpPr/>
          <p:nvPr/>
        </p:nvSpPr>
        <p:spPr>
          <a:xfrm>
            <a:off x="6400800" y="676656"/>
            <a:ext cx="1463040" cy="274320"/>
          </a:xfrm>
          <a:prstGeom prst="rect">
            <a:avLst/>
          </a:prstGeom>
          <a:noFill/>
          <a:ln/>
        </p:spPr>
        <p:txBody>
          <a:bodyPr wrap="square" lIns="0" tIns="0" rIns="0" bIns="0" rtlCol="0" anchor="ctr"/>
          <a:lstStyle/>
          <a:p>
            <a:pPr algn="ctr" indent="0" marL="0">
              <a:buNone/>
            </a:pPr>
            <a:r>
              <a:rPr lang="en-US" sz="800" dirty="0">
                <a:solidFill>
                  <a:srgbClr val="6B8AAA"/>
                </a:solidFill>
                <a:latin typeface="Courier New" pitchFamily="34" charset="0"/>
                <a:ea typeface="Courier New" pitchFamily="34" charset="-122"/>
                <a:cs typeface="Courier New" pitchFamily="34" charset="-120"/>
              </a:rPr>
              <a:t>pip_usage.py</a:t>
            </a:r>
            <a:endParaRPr lang="en-US" sz="800" dirty="0"/>
          </a:p>
        </p:txBody>
      </p:sp>
      <p:sp>
        <p:nvSpPr>
          <p:cNvPr id="15" name="Text 12"/>
          <p:cNvSpPr/>
          <p:nvPr/>
        </p:nvSpPr>
        <p:spPr>
          <a:xfrm>
            <a:off x="4590288" y="1060704"/>
            <a:ext cx="4206240" cy="3438144"/>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 In Terminal / Command Prompt:</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pip install requests</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Then in your Python file: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import requests</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Make a web request</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response = requests.get(</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"https://api.github.com"</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print(response.status_code)  # 200</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print(type(response.json())) # &lt;class 'dict'&gt;</a:t>
            </a:r>
            <a:endParaRPr lang="en-US" sz="1200" dirty="0"/>
          </a:p>
          <a:p>
            <a:pPr indent="0" marL="0">
              <a:buNone/>
            </a:pP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Check installed packages:</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pip list</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pip show requests</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 pip uninstall requests</a:t>
            </a:r>
            <a:endParaRPr lang="en-US" sz="1200" dirty="0"/>
          </a:p>
        </p:txBody>
      </p:sp>
      <p:sp>
        <p:nvSpPr>
          <p:cNvPr id="16" name="Shape 13"/>
          <p:cNvSpPr/>
          <p:nvPr/>
        </p:nvSpPr>
        <p:spPr>
          <a:xfrm>
            <a:off x="0" y="4800600"/>
            <a:ext cx="9144000" cy="342900"/>
          </a:xfrm>
          <a:prstGeom prst="rect">
            <a:avLst/>
          </a:prstGeom>
          <a:solidFill>
            <a:srgbClr val="030608"/>
          </a:solidFill>
          <a:ln w="12700">
            <a:solidFill>
              <a:srgbClr val="030608"/>
            </a:solidFill>
            <a:prstDash val="solid"/>
          </a:ln>
        </p:spPr>
      </p:sp>
      <p:sp>
        <p:nvSpPr>
          <p:cNvPr id="17" name="Shape 14"/>
          <p:cNvSpPr/>
          <p:nvPr/>
        </p:nvSpPr>
        <p:spPr>
          <a:xfrm>
            <a:off x="0" y="4800600"/>
            <a:ext cx="1920240" cy="342900"/>
          </a:xfrm>
          <a:prstGeom prst="rect">
            <a:avLst/>
          </a:prstGeom>
          <a:solidFill>
            <a:srgbClr val="1A3A6B"/>
          </a:solidFill>
          <a:ln w="12700">
            <a:solidFill>
              <a:srgbClr val="1A3A6B"/>
            </a:solidFill>
            <a:prstDash val="solid"/>
          </a:ln>
        </p:spPr>
      </p:sp>
      <p:sp>
        <p:nvSpPr>
          <p:cNvPr id="18" name="Text 15"/>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9" name="Text 16"/>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0" name="Shape 17"/>
          <p:cNvSpPr/>
          <p:nvPr/>
        </p:nvSpPr>
        <p:spPr>
          <a:xfrm>
            <a:off x="7635240" y="4818888"/>
            <a:ext cx="475488" cy="274320"/>
          </a:xfrm>
          <a:prstGeom prst="rect">
            <a:avLst/>
          </a:prstGeom>
          <a:solidFill>
            <a:srgbClr val="0A1628"/>
          </a:solidFill>
          <a:ln w="12700">
            <a:solidFill>
              <a:srgbClr val="00DCB4"/>
            </a:solidFill>
            <a:prstDash val="solid"/>
          </a:ln>
        </p:spPr>
      </p:sp>
      <p:sp>
        <p:nvSpPr>
          <p:cNvPr id="21" name="Text 18"/>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2" name="Shape 19"/>
          <p:cNvSpPr/>
          <p:nvPr/>
        </p:nvSpPr>
        <p:spPr>
          <a:xfrm>
            <a:off x="8183880" y="4814316"/>
            <a:ext cx="749808" cy="310896"/>
          </a:xfrm>
          <a:prstGeom prst="rect">
            <a:avLst/>
          </a:prstGeom>
          <a:solidFill>
            <a:srgbClr val="1A3A6B"/>
          </a:solidFill>
          <a:ln w="12700">
            <a:solidFill>
              <a:srgbClr val="1A3A6B"/>
            </a:solidFill>
            <a:prstDash val="solid"/>
          </a:ln>
        </p:spPr>
      </p:sp>
      <p:sp>
        <p:nvSpPr>
          <p:cNvPr id="23" name="Text 20"/>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Building Your Own Module</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my_utils.py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 ── my_utils.py — your own reusable module ──</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get_grade(score):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grade letter for a numeric score."""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if score &gt;= 90: return "A"</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elif score &gt;= 75: return "B"</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elif score &gt;= 60: return "C"</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else: return "F"</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average(numbers):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the arithmetic mean of a list."""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if not numbers: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sum(numbers) / len(numbers)</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format_ringgit(amount):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"""Format a float as Malaysian Ringgit."""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 f"RM {amount:,.2f}"</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 main.py — using your module ──────────</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from my_utils import get_grade, average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scores = [85, 92, 61, 78]</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for s in scores: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print(get_grade(s))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print(average(scores))    # 79.0</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print(format_ringgit(1999.5))  # RM 1,999.50</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You can create your own modules! Any .py file is importable. Put commonly used functions in utils.py, then import them in other files. Docstrings (triple quotes) document what each function does.</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  Quiz Time!</a:t>
            </a:r>
            <a:endParaRPr lang="en-US" sz="2000" dirty="0"/>
          </a:p>
        </p:txBody>
      </p:sp>
      <p:sp>
        <p:nvSpPr>
          <p:cNvPr id="5" name="Shape 2"/>
          <p:cNvSpPr/>
          <p:nvPr/>
        </p:nvSpPr>
        <p:spPr>
          <a:xfrm>
            <a:off x="256032" y="658368"/>
            <a:ext cx="8631936" cy="1024128"/>
          </a:xfrm>
          <a:prstGeom prst="rect">
            <a:avLst/>
          </a:prstGeom>
          <a:solidFill>
            <a:srgbClr val="0D1A2E"/>
          </a:solidFill>
          <a:ln w="12700">
            <a:solidFill>
              <a:srgbClr val="00DCB4"/>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1024128"/>
          </a:xfrm>
          <a:prstGeom prst="rect">
            <a:avLst/>
          </a:prstGeom>
          <a:solidFill>
            <a:srgbClr val="00DCB4"/>
          </a:solidFill>
          <a:ln w="12700">
            <a:solidFill>
              <a:srgbClr val="00DCB4"/>
            </a:solidFill>
            <a:prstDash val="solid"/>
          </a:ln>
        </p:spPr>
      </p:sp>
      <p:sp>
        <p:nvSpPr>
          <p:cNvPr id="7" name="Text 4"/>
          <p:cNvSpPr/>
          <p:nvPr/>
        </p:nvSpPr>
        <p:spPr>
          <a:xfrm>
            <a:off x="384048" y="685800"/>
            <a:ext cx="457200" cy="960120"/>
          </a:xfrm>
          <a:prstGeom prst="rect">
            <a:avLst/>
          </a:prstGeom>
          <a:noFill/>
          <a:ln/>
        </p:spPr>
        <p:txBody>
          <a:bodyPr wrap="square" lIns="0" tIns="0" rIns="0" bIns="0" rtlCol="0" anchor="ctr"/>
          <a:lstStyle/>
          <a:p>
            <a:pPr algn="ctr" indent="0" marL="0">
              <a:buNone/>
            </a:pPr>
            <a:r>
              <a:rPr lang="en-US" sz="2000" b="1" dirty="0">
                <a:solidFill>
                  <a:srgbClr val="00DCB4"/>
                </a:solidFill>
                <a:latin typeface="Georgia" pitchFamily="34" charset="0"/>
                <a:ea typeface="Georgia" pitchFamily="34" charset="-122"/>
                <a:cs typeface="Georgia" pitchFamily="34" charset="-120"/>
              </a:rPr>
              <a:t>Q:</a:t>
            </a:r>
            <a:endParaRPr lang="en-US" sz="2000" dirty="0"/>
          </a:p>
        </p:txBody>
      </p:sp>
      <p:sp>
        <p:nvSpPr>
          <p:cNvPr id="8" name="Text 5"/>
          <p:cNvSpPr/>
          <p:nvPr/>
        </p:nvSpPr>
        <p:spPr>
          <a:xfrm>
            <a:off x="932688" y="713232"/>
            <a:ext cx="781812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is the difference between "import random" and "from random import randint"?</a:t>
            </a:r>
            <a:endParaRPr lang="en-US" sz="1500" dirty="0"/>
          </a:p>
        </p:txBody>
      </p:sp>
      <p:sp>
        <p:nvSpPr>
          <p:cNvPr id="9" name="Shape 6"/>
          <p:cNvSpPr/>
          <p:nvPr/>
        </p:nvSpPr>
        <p:spPr>
          <a:xfrm>
            <a:off x="256032" y="1883664"/>
            <a:ext cx="4160520" cy="1097280"/>
          </a:xfrm>
          <a:prstGeom prst="rect">
            <a:avLst/>
          </a:prstGeom>
          <a:solidFill>
            <a:srgbClr val="0D1A2E"/>
          </a:solidFill>
          <a:ln w="12700">
            <a:solidFill>
              <a:srgbClr val="00DCB4"/>
            </a:solidFill>
            <a:prstDash val="solid"/>
          </a:ln>
          <a:effectLst>
            <a:outerShdw sx="100000" sy="100000" kx="0" ky="0" algn="bl" rotWithShape="0" blurRad="127000" dist="38100" dir="8100000">
              <a:srgbClr val="000000">
                <a:alpha val="25000"/>
              </a:srgbClr>
            </a:outerShdw>
          </a:effectLst>
        </p:spPr>
      </p:sp>
      <p:sp>
        <p:nvSpPr>
          <p:cNvPr id="10" name="Shape 7"/>
          <p:cNvSpPr/>
          <p:nvPr/>
        </p:nvSpPr>
        <p:spPr>
          <a:xfrm>
            <a:off x="256032" y="1883664"/>
            <a:ext cx="621792" cy="1097280"/>
          </a:xfrm>
          <a:prstGeom prst="rect">
            <a:avLst/>
          </a:prstGeom>
          <a:solidFill>
            <a:srgbClr val="00DCB4">
              <a:alpha val="20000"/>
            </a:srgbClr>
          </a:solidFill>
          <a:ln w="12700">
            <a:solidFill>
              <a:srgbClr val="00DCB4">
                <a:alpha val="20000"/>
              </a:srgbClr>
            </a:solidFill>
            <a:prstDash val="solid"/>
          </a:ln>
        </p:spPr>
      </p:sp>
      <p:sp>
        <p:nvSpPr>
          <p:cNvPr id="11" name="Text 8"/>
          <p:cNvSpPr/>
          <p:nvPr/>
        </p:nvSpPr>
        <p:spPr>
          <a:xfrm>
            <a:off x="256032" y="1883664"/>
            <a:ext cx="621792" cy="1097280"/>
          </a:xfrm>
          <a:prstGeom prst="rect">
            <a:avLst/>
          </a:prstGeom>
          <a:noFill/>
          <a:ln/>
        </p:spPr>
        <p:txBody>
          <a:bodyPr wrap="square" lIns="0" tIns="0" rIns="0" bIns="0" rtlCol="0" anchor="ctr"/>
          <a:lstStyle/>
          <a:p>
            <a:pPr algn="ctr" indent="0" marL="0">
              <a:buNone/>
            </a:pPr>
            <a:r>
              <a:rPr lang="en-US" sz="2200" b="1" dirty="0">
                <a:solidFill>
                  <a:srgbClr val="00DCB4"/>
                </a:solidFill>
                <a:latin typeface="Georgia" pitchFamily="34" charset="0"/>
                <a:ea typeface="Georgia" pitchFamily="34" charset="-122"/>
                <a:cs typeface="Georgia" pitchFamily="34" charset="-120"/>
              </a:rPr>
              <a:t>A</a:t>
            </a:r>
            <a:endParaRPr lang="en-US" sz="2200" dirty="0"/>
          </a:p>
        </p:txBody>
      </p:sp>
      <p:sp>
        <p:nvSpPr>
          <p:cNvPr id="12" name="Text 9"/>
          <p:cNvSpPr/>
          <p:nvPr/>
        </p:nvSpPr>
        <p:spPr>
          <a:xfrm>
            <a:off x="950976" y="1883664"/>
            <a:ext cx="3364992" cy="10972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They are identical — just different styles with no practical difference</a:t>
            </a:r>
            <a:endParaRPr lang="en-US" sz="1300" dirty="0"/>
          </a:p>
        </p:txBody>
      </p:sp>
      <p:sp>
        <p:nvSpPr>
          <p:cNvPr id="13" name="Shape 10"/>
          <p:cNvSpPr/>
          <p:nvPr/>
        </p:nvSpPr>
        <p:spPr>
          <a:xfrm>
            <a:off x="4690872" y="1883664"/>
            <a:ext cx="4160520" cy="1097280"/>
          </a:xfrm>
          <a:prstGeom prst="rect">
            <a:avLst/>
          </a:prstGeom>
          <a:solidFill>
            <a:srgbClr val="0D1A2E"/>
          </a:solidFill>
          <a:ln w="12700">
            <a:solidFill>
              <a:srgbClr val="C792EA"/>
            </a:solidFill>
            <a:prstDash val="solid"/>
          </a:ln>
          <a:effectLst>
            <a:outerShdw sx="100000" sy="100000" kx="0" ky="0" algn="bl" rotWithShape="0" blurRad="127000" dist="38100" dir="8100000">
              <a:srgbClr val="000000">
                <a:alpha val="25000"/>
              </a:srgbClr>
            </a:outerShdw>
          </a:effectLst>
        </p:spPr>
      </p:sp>
      <p:sp>
        <p:nvSpPr>
          <p:cNvPr id="14" name="Shape 11"/>
          <p:cNvSpPr/>
          <p:nvPr/>
        </p:nvSpPr>
        <p:spPr>
          <a:xfrm>
            <a:off x="4690872" y="1883664"/>
            <a:ext cx="621792" cy="1097280"/>
          </a:xfrm>
          <a:prstGeom prst="rect">
            <a:avLst/>
          </a:prstGeom>
          <a:solidFill>
            <a:srgbClr val="C792EA">
              <a:alpha val="20000"/>
            </a:srgbClr>
          </a:solidFill>
          <a:ln w="12700">
            <a:solidFill>
              <a:srgbClr val="C792EA">
                <a:alpha val="20000"/>
              </a:srgbClr>
            </a:solidFill>
            <a:prstDash val="solid"/>
          </a:ln>
        </p:spPr>
      </p:sp>
      <p:sp>
        <p:nvSpPr>
          <p:cNvPr id="15" name="Text 12"/>
          <p:cNvSpPr/>
          <p:nvPr/>
        </p:nvSpPr>
        <p:spPr>
          <a:xfrm>
            <a:off x="4690872" y="1883664"/>
            <a:ext cx="621792" cy="1097280"/>
          </a:xfrm>
          <a:prstGeom prst="rect">
            <a:avLst/>
          </a:prstGeom>
          <a:noFill/>
          <a:ln/>
        </p:spPr>
        <p:txBody>
          <a:bodyPr wrap="square" lIns="0" tIns="0" rIns="0" bIns="0" rtlCol="0" anchor="ctr"/>
          <a:lstStyle/>
          <a:p>
            <a:pPr algn="ctr" indent="0" marL="0">
              <a:buNone/>
            </a:pPr>
            <a:r>
              <a:rPr lang="en-US" sz="2200" b="1" dirty="0">
                <a:solidFill>
                  <a:srgbClr val="C792EA"/>
                </a:solidFill>
                <a:latin typeface="Georgia" pitchFamily="34" charset="0"/>
                <a:ea typeface="Georgia" pitchFamily="34" charset="-122"/>
                <a:cs typeface="Georgia" pitchFamily="34" charset="-120"/>
              </a:rPr>
              <a:t>B</a:t>
            </a:r>
            <a:endParaRPr lang="en-US" sz="2200" dirty="0"/>
          </a:p>
        </p:txBody>
      </p:sp>
      <p:sp>
        <p:nvSpPr>
          <p:cNvPr id="16" name="Text 13"/>
          <p:cNvSpPr/>
          <p:nvPr/>
        </p:nvSpPr>
        <p:spPr>
          <a:xfrm>
            <a:off x="5385816" y="1883664"/>
            <a:ext cx="3364992" cy="10972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import random loads the whole module; you access with random.randint(). from random import randint imports only that function; use as randint() directly</a:t>
            </a:r>
            <a:endParaRPr lang="en-US" sz="1300" dirty="0"/>
          </a:p>
        </p:txBody>
      </p:sp>
      <p:sp>
        <p:nvSpPr>
          <p:cNvPr id="17" name="Shape 14"/>
          <p:cNvSpPr/>
          <p:nvPr/>
        </p:nvSpPr>
        <p:spPr>
          <a:xfrm>
            <a:off x="256032" y="3145536"/>
            <a:ext cx="4160520" cy="1097280"/>
          </a:xfrm>
          <a:prstGeom prst="rect">
            <a:avLst/>
          </a:prstGeom>
          <a:solidFill>
            <a:srgbClr val="0D1A2E"/>
          </a:solidFill>
          <a:ln w="12700">
            <a:solidFill>
              <a:srgbClr val="FFCB6B"/>
            </a:solidFill>
            <a:prstDash val="solid"/>
          </a:ln>
          <a:effectLst>
            <a:outerShdw sx="100000" sy="100000" kx="0" ky="0" algn="bl" rotWithShape="0" blurRad="127000" dist="38100" dir="8100000">
              <a:srgbClr val="000000">
                <a:alpha val="25000"/>
              </a:srgbClr>
            </a:outerShdw>
          </a:effectLst>
        </p:spPr>
      </p:sp>
      <p:sp>
        <p:nvSpPr>
          <p:cNvPr id="18" name="Shape 15"/>
          <p:cNvSpPr/>
          <p:nvPr/>
        </p:nvSpPr>
        <p:spPr>
          <a:xfrm>
            <a:off x="256032" y="3145536"/>
            <a:ext cx="621792" cy="1097280"/>
          </a:xfrm>
          <a:prstGeom prst="rect">
            <a:avLst/>
          </a:prstGeom>
          <a:solidFill>
            <a:srgbClr val="FFCB6B">
              <a:alpha val="20000"/>
            </a:srgbClr>
          </a:solidFill>
          <a:ln w="12700">
            <a:solidFill>
              <a:srgbClr val="FFCB6B">
                <a:alpha val="20000"/>
              </a:srgbClr>
            </a:solidFill>
            <a:prstDash val="solid"/>
          </a:ln>
        </p:spPr>
      </p:sp>
      <p:sp>
        <p:nvSpPr>
          <p:cNvPr id="19" name="Text 16"/>
          <p:cNvSpPr/>
          <p:nvPr/>
        </p:nvSpPr>
        <p:spPr>
          <a:xfrm>
            <a:off x="256032" y="3145536"/>
            <a:ext cx="621792" cy="1097280"/>
          </a:xfrm>
          <a:prstGeom prst="rect">
            <a:avLst/>
          </a:prstGeom>
          <a:noFill/>
          <a:ln/>
        </p:spPr>
        <p:txBody>
          <a:bodyPr wrap="square" lIns="0" tIns="0" rIns="0" bIns="0" rtlCol="0" anchor="ctr"/>
          <a:lstStyle/>
          <a:p>
            <a:pPr algn="ctr" indent="0" marL="0">
              <a:buNone/>
            </a:pPr>
            <a:r>
              <a:rPr lang="en-US" sz="2200" b="1" dirty="0">
                <a:solidFill>
                  <a:srgbClr val="FFCB6B"/>
                </a:solidFill>
                <a:latin typeface="Georgia" pitchFamily="34" charset="0"/>
                <a:ea typeface="Georgia" pitchFamily="34" charset="-122"/>
                <a:cs typeface="Georgia" pitchFamily="34" charset="-120"/>
              </a:rPr>
              <a:t>C</a:t>
            </a:r>
            <a:endParaRPr lang="en-US" sz="2200" dirty="0"/>
          </a:p>
        </p:txBody>
      </p:sp>
      <p:sp>
        <p:nvSpPr>
          <p:cNvPr id="20" name="Text 17"/>
          <p:cNvSpPr/>
          <p:nvPr/>
        </p:nvSpPr>
        <p:spPr>
          <a:xfrm>
            <a:off x="950976" y="3145536"/>
            <a:ext cx="3364992" cy="10972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from random import randint is slower because it imports more code</a:t>
            </a:r>
            <a:endParaRPr lang="en-US" sz="1300" dirty="0"/>
          </a:p>
        </p:txBody>
      </p:sp>
      <p:sp>
        <p:nvSpPr>
          <p:cNvPr id="21" name="Shape 18"/>
          <p:cNvSpPr/>
          <p:nvPr/>
        </p:nvSpPr>
        <p:spPr>
          <a:xfrm>
            <a:off x="4690872" y="3145536"/>
            <a:ext cx="4160520" cy="1097280"/>
          </a:xfrm>
          <a:prstGeom prst="rect">
            <a:avLst/>
          </a:prstGeom>
          <a:solidFill>
            <a:srgbClr val="0D1A2E"/>
          </a:solidFill>
          <a:ln w="12700">
            <a:solidFill>
              <a:srgbClr val="00B4D8"/>
            </a:solidFill>
            <a:prstDash val="solid"/>
          </a:ln>
          <a:effectLst>
            <a:outerShdw sx="100000" sy="100000" kx="0" ky="0" algn="bl" rotWithShape="0" blurRad="127000" dist="38100" dir="8100000">
              <a:srgbClr val="000000">
                <a:alpha val="25000"/>
              </a:srgbClr>
            </a:outerShdw>
          </a:effectLst>
        </p:spPr>
      </p:sp>
      <p:sp>
        <p:nvSpPr>
          <p:cNvPr id="22" name="Shape 19"/>
          <p:cNvSpPr/>
          <p:nvPr/>
        </p:nvSpPr>
        <p:spPr>
          <a:xfrm>
            <a:off x="4690872" y="3145536"/>
            <a:ext cx="621792" cy="1097280"/>
          </a:xfrm>
          <a:prstGeom prst="rect">
            <a:avLst/>
          </a:prstGeom>
          <a:solidFill>
            <a:srgbClr val="00B4D8">
              <a:alpha val="20000"/>
            </a:srgbClr>
          </a:solidFill>
          <a:ln w="12700">
            <a:solidFill>
              <a:srgbClr val="00B4D8">
                <a:alpha val="20000"/>
              </a:srgbClr>
            </a:solidFill>
            <a:prstDash val="solid"/>
          </a:ln>
        </p:spPr>
      </p:sp>
      <p:sp>
        <p:nvSpPr>
          <p:cNvPr id="23" name="Text 20"/>
          <p:cNvSpPr/>
          <p:nvPr/>
        </p:nvSpPr>
        <p:spPr>
          <a:xfrm>
            <a:off x="4690872" y="3145536"/>
            <a:ext cx="621792" cy="1097280"/>
          </a:xfrm>
          <a:prstGeom prst="rect">
            <a:avLst/>
          </a:prstGeom>
          <a:noFill/>
          <a:ln/>
        </p:spPr>
        <p:txBody>
          <a:bodyPr wrap="square" lIns="0" tIns="0" rIns="0" bIns="0" rtlCol="0" anchor="ctr"/>
          <a:lstStyle/>
          <a:p>
            <a:pPr algn="ctr" indent="0" marL="0">
              <a:buNone/>
            </a:pPr>
            <a:r>
              <a:rPr lang="en-US" sz="2200" b="1" dirty="0">
                <a:solidFill>
                  <a:srgbClr val="00B4D8"/>
                </a:solidFill>
                <a:latin typeface="Georgia" pitchFamily="34" charset="0"/>
                <a:ea typeface="Georgia" pitchFamily="34" charset="-122"/>
                <a:cs typeface="Georgia" pitchFamily="34" charset="-120"/>
              </a:rPr>
              <a:t>D</a:t>
            </a:r>
            <a:endParaRPr lang="en-US" sz="2200" dirty="0"/>
          </a:p>
        </p:txBody>
      </p:sp>
      <p:sp>
        <p:nvSpPr>
          <p:cNvPr id="24" name="Text 21"/>
          <p:cNvSpPr/>
          <p:nvPr/>
        </p:nvSpPr>
        <p:spPr>
          <a:xfrm>
            <a:off x="5385816" y="3145536"/>
            <a:ext cx="3364992" cy="10972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import random only works in Python 3; from random import is Python 2 style</a:t>
            </a:r>
            <a:endParaRPr lang="en-US" sz="1300" dirty="0"/>
          </a:p>
        </p:txBody>
      </p:sp>
      <p:sp>
        <p:nvSpPr>
          <p:cNvPr id="25" name="Shape 22"/>
          <p:cNvSpPr/>
          <p:nvPr/>
        </p:nvSpPr>
        <p:spPr>
          <a:xfrm>
            <a:off x="0" y="4800600"/>
            <a:ext cx="9144000" cy="342900"/>
          </a:xfrm>
          <a:prstGeom prst="rect">
            <a:avLst/>
          </a:prstGeom>
          <a:solidFill>
            <a:srgbClr val="030608"/>
          </a:solidFill>
          <a:ln w="12700">
            <a:solidFill>
              <a:srgbClr val="030608"/>
            </a:solidFill>
            <a:prstDash val="solid"/>
          </a:ln>
        </p:spPr>
      </p:sp>
      <p:sp>
        <p:nvSpPr>
          <p:cNvPr id="26" name="Shape 23"/>
          <p:cNvSpPr/>
          <p:nvPr/>
        </p:nvSpPr>
        <p:spPr>
          <a:xfrm>
            <a:off x="0" y="4800600"/>
            <a:ext cx="1920240" cy="342900"/>
          </a:xfrm>
          <a:prstGeom prst="rect">
            <a:avLst/>
          </a:prstGeom>
          <a:solidFill>
            <a:srgbClr val="1A3A6B"/>
          </a:solidFill>
          <a:ln w="12700">
            <a:solidFill>
              <a:srgbClr val="1A3A6B"/>
            </a:solidFill>
            <a:prstDash val="solid"/>
          </a:ln>
        </p:spPr>
      </p:sp>
      <p:sp>
        <p:nvSpPr>
          <p:cNvPr id="27" name="Text 2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28" name="Text 2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9" name="Shape 26"/>
          <p:cNvSpPr/>
          <p:nvPr/>
        </p:nvSpPr>
        <p:spPr>
          <a:xfrm>
            <a:off x="7635240" y="4818888"/>
            <a:ext cx="475488" cy="274320"/>
          </a:xfrm>
          <a:prstGeom prst="rect">
            <a:avLst/>
          </a:prstGeom>
          <a:solidFill>
            <a:srgbClr val="0A1628"/>
          </a:solidFill>
          <a:ln w="12700">
            <a:solidFill>
              <a:srgbClr val="00DCB4"/>
            </a:solidFill>
            <a:prstDash val="solid"/>
          </a:ln>
        </p:spPr>
      </p:sp>
      <p:sp>
        <p:nvSpPr>
          <p:cNvPr id="30" name="Text 2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31" name="Shape 28"/>
          <p:cNvSpPr/>
          <p:nvPr/>
        </p:nvSpPr>
        <p:spPr>
          <a:xfrm>
            <a:off x="8183880" y="4814316"/>
            <a:ext cx="749808" cy="310896"/>
          </a:xfrm>
          <a:prstGeom prst="rect">
            <a:avLst/>
          </a:prstGeom>
          <a:solidFill>
            <a:srgbClr val="1A3A6B"/>
          </a:solidFill>
          <a:ln w="12700">
            <a:solidFill>
              <a:srgbClr val="1A3A6B"/>
            </a:solidFill>
            <a:prstDash val="solid"/>
          </a:ln>
        </p:spPr>
      </p:sp>
      <p:sp>
        <p:nvSpPr>
          <p:cNvPr id="32" name="Text 2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DDC84"/>
          </a:solidFill>
          <a:ln w="12700">
            <a:solidFill>
              <a:srgbClr val="3DDC8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Practical: Attendance Logger</a:t>
            </a:r>
            <a:endParaRPr lang="en-US" sz="2000" dirty="0"/>
          </a:p>
        </p:txBody>
      </p:sp>
      <p:sp>
        <p:nvSpPr>
          <p:cNvPr id="5" name="Shape 2"/>
          <p:cNvSpPr/>
          <p:nvPr/>
        </p:nvSpPr>
        <p:spPr>
          <a:xfrm>
            <a:off x="256032" y="658368"/>
            <a:ext cx="8631936" cy="3127248"/>
          </a:xfrm>
          <a:prstGeom prst="rect">
            <a:avLst/>
          </a:prstGeom>
          <a:solidFill>
            <a:srgbClr val="050810"/>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8631936" cy="329184"/>
          </a:xfrm>
          <a:prstGeom prst="rect">
            <a:avLst/>
          </a:prstGeom>
          <a:solidFill>
            <a:srgbClr val="0D1A2E"/>
          </a:solidFill>
          <a:ln w="12700">
            <a:solidFill>
              <a:srgbClr val="0D1A2E"/>
            </a:solidFill>
            <a:prstDash val="solid"/>
          </a:ln>
        </p:spPr>
      </p:sp>
      <p:sp>
        <p:nvSpPr>
          <p:cNvPr id="7" name="Shape 4"/>
          <p:cNvSpPr/>
          <p:nvPr/>
        </p:nvSpPr>
        <p:spPr>
          <a:xfrm>
            <a:off x="402336" y="758952"/>
            <a:ext cx="118872" cy="118872"/>
          </a:xfrm>
          <a:prstGeom prst="ellipse">
            <a:avLst/>
          </a:prstGeom>
          <a:solidFill>
            <a:srgbClr val="E74C3C"/>
          </a:solidFill>
          <a:ln w="12700">
            <a:solidFill>
              <a:srgbClr val="E74C3C"/>
            </a:solidFill>
            <a:prstDash val="solid"/>
          </a:ln>
        </p:spPr>
      </p:sp>
      <p:sp>
        <p:nvSpPr>
          <p:cNvPr id="8" name="Shape 5"/>
          <p:cNvSpPr/>
          <p:nvPr/>
        </p:nvSpPr>
        <p:spPr>
          <a:xfrm>
            <a:off x="640080" y="758952"/>
            <a:ext cx="118872" cy="118872"/>
          </a:xfrm>
          <a:prstGeom prst="ellipse">
            <a:avLst/>
          </a:prstGeom>
          <a:solidFill>
            <a:srgbClr val="F39C12"/>
          </a:solidFill>
          <a:ln w="12700">
            <a:solidFill>
              <a:srgbClr val="F39C12"/>
            </a:solidFill>
            <a:prstDash val="solid"/>
          </a:ln>
        </p:spPr>
      </p:sp>
      <p:sp>
        <p:nvSpPr>
          <p:cNvPr id="9" name="Shape 6"/>
          <p:cNvSpPr/>
          <p:nvPr/>
        </p:nvSpPr>
        <p:spPr>
          <a:xfrm>
            <a:off x="877824" y="758952"/>
            <a:ext cx="118872" cy="118872"/>
          </a:xfrm>
          <a:prstGeom prst="ellipse">
            <a:avLst/>
          </a:prstGeom>
          <a:solidFill>
            <a:srgbClr val="2ECC71"/>
          </a:solidFill>
          <a:ln w="12700">
            <a:solidFill>
              <a:srgbClr val="2ECC71"/>
            </a:solidFill>
            <a:prstDash val="solid"/>
          </a:ln>
        </p:spPr>
      </p:sp>
      <p:sp>
        <p:nvSpPr>
          <p:cNvPr id="10" name="Text 7"/>
          <p:cNvSpPr/>
          <p:nvPr/>
        </p:nvSpPr>
        <p:spPr>
          <a:xfrm>
            <a:off x="4114800" y="676656"/>
            <a:ext cx="1371600" cy="274320"/>
          </a:xfrm>
          <a:prstGeom prst="rect">
            <a:avLst/>
          </a:prstGeom>
          <a:noFill/>
          <a:ln/>
        </p:spPr>
        <p:txBody>
          <a:bodyPr wrap="square" lIns="0" tIns="0" rIns="0" bIns="0" rtlCol="0" anchor="ctr"/>
          <a:lstStyle/>
          <a:p>
            <a:pPr algn="ctr" indent="0" marL="0">
              <a:buNone/>
            </a:pPr>
            <a:r>
              <a:rPr lang="en-US" sz="850" dirty="0">
                <a:solidFill>
                  <a:srgbClr val="6B8AAA"/>
                </a:solidFill>
                <a:latin typeface="Courier New" pitchFamily="34" charset="0"/>
                <a:ea typeface="Courier New" pitchFamily="34" charset="-122"/>
                <a:cs typeface="Courier New" pitchFamily="34" charset="-120"/>
              </a:rPr>
              <a:t>attendance.py</a:t>
            </a:r>
            <a:endParaRPr lang="en-US" sz="850" dirty="0"/>
          </a:p>
        </p:txBody>
      </p:sp>
      <p:sp>
        <p:nvSpPr>
          <p:cNvPr id="11" name="Text 8"/>
          <p:cNvSpPr/>
          <p:nvPr/>
        </p:nvSpPr>
        <p:spPr>
          <a:xfrm>
            <a:off x="384048" y="1060704"/>
            <a:ext cx="8412480" cy="2633472"/>
          </a:xfrm>
          <a:prstGeom prst="rect">
            <a:avLst/>
          </a:prstGeom>
          <a:noFill/>
          <a:ln/>
        </p:spPr>
        <p:txBody>
          <a:bodyPr wrap="square" lIns="0" tIns="0" rIns="0" bIns="0" rtlCol="0" anchor="ctr"/>
          <a:lstStyle/>
          <a:p>
            <a:pPr indent="0" marL="0">
              <a:buNone/>
            </a:pPr>
            <a:r>
              <a:rPr lang="en-US" sz="1250" dirty="0">
                <a:solidFill>
                  <a:srgbClr val="3DDC84"/>
                </a:solidFill>
                <a:latin typeface="Courier New" pitchFamily="34" charset="0"/>
                <a:ea typeface="Courier New" pitchFamily="34" charset="-122"/>
                <a:cs typeface="Courier New" pitchFamily="34" charset="-120"/>
              </a:rPr>
              <a:t>import os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from datetime import datetime</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LOG_FILE = "attendance.log"</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log_attendance(name):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timestamp = datetime.now().strftime("%Y-%m-%d %H:%M:%S")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with open(LOG_FILE, "a") as f:</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f.write(f"{timestamp},{name}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 {name} logged at {timestamp}")</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def view_today():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today = datetime.now().strftime("%Y-%m-%d")</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if not os.path.exists(LOG_FILE):</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print("No attendance records yet.")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return</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with open(LOG_FILE, "r") as f:</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lines = f.readlines()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today_entries = [l for l in lines if l.startswith(today)]</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 Attendance {today} ──")</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for entry in today_entries:</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ts, name = entry.strip().split(",")</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        print(f"  {ts[11:]}  {name}")</a:t>
            </a:r>
            <a:endParaRPr lang="en-US" sz="1250" dirty="0"/>
          </a:p>
          <a:p>
            <a:pPr indent="0" marL="0">
              <a:buNone/>
            </a:pP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log_attendance("Aisha")</a:t>
            </a:r>
            <a:endParaRPr lang="en-US" sz="1250" dirty="0"/>
          </a:p>
          <a:p>
            <a:pPr indent="0" marL="0">
              <a:buNone/>
            </a:pPr>
            <a:r>
              <a:rPr lang="en-US" sz="1250" dirty="0">
                <a:solidFill>
                  <a:srgbClr val="3DDC84"/>
                </a:solidFill>
                <a:latin typeface="Courier New" pitchFamily="34" charset="0"/>
                <a:ea typeface="Courier New" pitchFamily="34" charset="-122"/>
                <a:cs typeface="Courier New" pitchFamily="34" charset="-120"/>
              </a:rPr>
              <a:t>view_today()</a:t>
            </a:r>
            <a:endParaRPr lang="en-US" sz="1250" dirty="0"/>
          </a:p>
        </p:txBody>
      </p:sp>
      <p:sp>
        <p:nvSpPr>
          <p:cNvPr id="12" name="Shape 9"/>
          <p:cNvSpPr/>
          <p:nvPr/>
        </p:nvSpPr>
        <p:spPr>
          <a:xfrm>
            <a:off x="256032" y="3858768"/>
            <a:ext cx="8631936" cy="749808"/>
          </a:xfrm>
          <a:prstGeom prst="rect">
            <a:avLst/>
          </a:prstGeom>
          <a:solidFill>
            <a:srgbClr val="0D1A2E"/>
          </a:solidFill>
          <a:ln w="12700">
            <a:solidFill>
              <a:srgbClr val="1A3A6B"/>
            </a:solidFill>
            <a:prstDash val="solid"/>
          </a:ln>
        </p:spPr>
      </p:sp>
      <p:sp>
        <p:nvSpPr>
          <p:cNvPr id="13" name="Text 10"/>
          <p:cNvSpPr/>
          <p:nvPr/>
        </p:nvSpPr>
        <p:spPr>
          <a:xfrm>
            <a:off x="402336" y="3913632"/>
            <a:ext cx="2011680" cy="274320"/>
          </a:xfrm>
          <a:prstGeom prst="rect">
            <a:avLst/>
          </a:prstGeom>
          <a:noFill/>
          <a:ln/>
        </p:spPr>
        <p:txBody>
          <a:bodyPr wrap="square" lIns="0" tIns="0" rIns="0" bIns="0" rtlCol="0" anchor="ctr"/>
          <a:lstStyle/>
          <a:p>
            <a:pPr indent="0" marL="0">
              <a:buNone/>
            </a:pPr>
            <a:r>
              <a:rPr lang="en-US" sz="1000" b="1" dirty="0">
                <a:solidFill>
                  <a:srgbClr val="F5C842"/>
                </a:solidFill>
                <a:latin typeface="Arial" pitchFamily="34" charset="0"/>
                <a:ea typeface="Arial" pitchFamily="34" charset="-122"/>
                <a:cs typeface="Arial" pitchFamily="34" charset="-120"/>
              </a:rPr>
              <a:t>💡  What this does:</a:t>
            </a:r>
            <a:endParaRPr lang="en-US" sz="1000" dirty="0"/>
          </a:p>
        </p:txBody>
      </p:sp>
      <p:sp>
        <p:nvSpPr>
          <p:cNvPr id="14" name="Text 11"/>
          <p:cNvSpPr/>
          <p:nvPr/>
        </p:nvSpPr>
        <p:spPr>
          <a:xfrm>
            <a:off x="402336" y="4187952"/>
            <a:ext cx="8321040" cy="347472"/>
          </a:xfrm>
          <a:prstGeom prst="rect">
            <a:avLst/>
          </a:prstGeom>
          <a:noFill/>
          <a:ln/>
        </p:spPr>
        <p:txBody>
          <a:bodyPr wrap="square" lIns="0" tIns="0" rIns="0" bIns="0" rtlCol="0" anchor="ctr"/>
          <a:lstStyle/>
          <a:p>
            <a:pPr indent="0" marL="0">
              <a:buNone/>
            </a:pPr>
            <a:r>
              <a:rPr lang="en-US" sz="1100" dirty="0">
                <a:solidFill>
                  <a:srgbClr val="A0B4C8"/>
                </a:solidFill>
                <a:latin typeface="Arial" pitchFamily="34" charset="0"/>
                <a:ea typeface="Arial" pitchFamily="34" charset="-122"/>
                <a:cs typeface="Arial" pitchFamily="34" charset="-120"/>
              </a:rPr>
              <a:t>This real-world logger combines datetime for timestamps, os to check file existence, and file I/O to persist records. Notice today's entries are filtered with a list comprehension.</a:t>
            </a:r>
            <a:endParaRPr lang="en-US" sz="1100" dirty="0"/>
          </a:p>
        </p:txBody>
      </p:sp>
      <p:sp>
        <p:nvSpPr>
          <p:cNvPr id="15" name="Shape 12"/>
          <p:cNvSpPr/>
          <p:nvPr/>
        </p:nvSpPr>
        <p:spPr>
          <a:xfrm>
            <a:off x="0" y="4800600"/>
            <a:ext cx="9144000" cy="342900"/>
          </a:xfrm>
          <a:prstGeom prst="rect">
            <a:avLst/>
          </a:prstGeom>
          <a:solidFill>
            <a:srgbClr val="030608"/>
          </a:solidFill>
          <a:ln w="12700">
            <a:solidFill>
              <a:srgbClr val="030608"/>
            </a:solidFill>
            <a:prstDash val="solid"/>
          </a:ln>
        </p:spPr>
      </p:sp>
      <p:sp>
        <p:nvSpPr>
          <p:cNvPr id="16" name="Shape 13"/>
          <p:cNvSpPr/>
          <p:nvPr/>
        </p:nvSpPr>
        <p:spPr>
          <a:xfrm>
            <a:off x="0" y="4800600"/>
            <a:ext cx="1920240" cy="342900"/>
          </a:xfrm>
          <a:prstGeom prst="rect">
            <a:avLst/>
          </a:prstGeom>
          <a:solidFill>
            <a:srgbClr val="1A3A6B"/>
          </a:solidFill>
          <a:ln w="12700">
            <a:solidFill>
              <a:srgbClr val="1A3A6B"/>
            </a:solidFill>
            <a:prstDash val="solid"/>
          </a:ln>
        </p:spPr>
      </p:sp>
      <p:sp>
        <p:nvSpPr>
          <p:cNvPr id="17" name="Text 14"/>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18" name="Text 15"/>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19" name="Shape 16"/>
          <p:cNvSpPr/>
          <p:nvPr/>
        </p:nvSpPr>
        <p:spPr>
          <a:xfrm>
            <a:off x="7635240" y="4818888"/>
            <a:ext cx="475488" cy="274320"/>
          </a:xfrm>
          <a:prstGeom prst="rect">
            <a:avLst/>
          </a:prstGeom>
          <a:solidFill>
            <a:srgbClr val="0A1628"/>
          </a:solidFill>
          <a:ln w="12700">
            <a:solidFill>
              <a:srgbClr val="00DCB4"/>
            </a:solidFill>
            <a:prstDash val="solid"/>
          </a:ln>
        </p:spPr>
      </p:sp>
      <p:sp>
        <p:nvSpPr>
          <p:cNvPr id="20" name="Text 17"/>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1" name="Shape 18"/>
          <p:cNvSpPr/>
          <p:nvPr/>
        </p:nvSpPr>
        <p:spPr>
          <a:xfrm>
            <a:off x="8183880" y="4814316"/>
            <a:ext cx="749808" cy="310896"/>
          </a:xfrm>
          <a:prstGeom prst="rect">
            <a:avLst/>
          </a:prstGeom>
          <a:solidFill>
            <a:srgbClr val="1A3A6B"/>
          </a:solidFill>
          <a:ln w="12700">
            <a:solidFill>
              <a:srgbClr val="1A3A6B"/>
            </a:solidFill>
            <a:prstDash val="solid"/>
          </a:ln>
        </p:spPr>
      </p:sp>
      <p:sp>
        <p:nvSpPr>
          <p:cNvPr id="22" name="Text 19"/>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  Try It Yourself</a:t>
            </a:r>
            <a:endParaRPr lang="en-US" sz="2000" dirty="0"/>
          </a:p>
        </p:txBody>
      </p:sp>
      <p:sp>
        <p:nvSpPr>
          <p:cNvPr id="5" name="Shape 2"/>
          <p:cNvSpPr/>
          <p:nvPr/>
        </p:nvSpPr>
        <p:spPr>
          <a:xfrm>
            <a:off x="256032" y="658368"/>
            <a:ext cx="5074920" cy="3931920"/>
          </a:xfrm>
          <a:prstGeom prst="rect">
            <a:avLst/>
          </a:prstGeom>
          <a:solidFill>
            <a:srgbClr val="0D1A2E"/>
          </a:solidFill>
          <a:ln w="12700">
            <a:solidFill>
              <a:srgbClr val="00DCB4"/>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3931920"/>
          </a:xfrm>
          <a:prstGeom prst="rect">
            <a:avLst/>
          </a:prstGeom>
          <a:solidFill>
            <a:srgbClr val="00DCB4"/>
          </a:solidFill>
          <a:ln w="12700">
            <a:solidFill>
              <a:srgbClr val="00DCB4"/>
            </a:solidFill>
            <a:prstDash val="solid"/>
          </a:ln>
        </p:spPr>
      </p:sp>
      <p:sp>
        <p:nvSpPr>
          <p:cNvPr id="7" name="Text 4"/>
          <p:cNvSpPr/>
          <p:nvPr/>
        </p:nvSpPr>
        <p:spPr>
          <a:xfrm>
            <a:off x="384048" y="731520"/>
            <a:ext cx="4800600" cy="329184"/>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Build a Study Timer &amp; Quiz Picker</a:t>
            </a:r>
            <a:endParaRPr lang="en-US" sz="1200" dirty="0"/>
          </a:p>
        </p:txBody>
      </p:sp>
      <p:sp>
        <p:nvSpPr>
          <p:cNvPr id="8" name="Text 5"/>
          <p:cNvSpPr/>
          <p:nvPr/>
        </p:nvSpPr>
        <p:spPr>
          <a:xfrm>
            <a:off x="384048" y="1133856"/>
            <a:ext cx="4800600" cy="3346704"/>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1.  Use datetime to show today's date and a welcome message at startup</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2.  Create a list of 10 quiz questions (just strings — e.g. 'What does len() do?')</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3.  Use random.sample() to pick 5 random questions each run</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4.  Use random.shuffle() to randomise the order before displaying</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5.  Track the start time; when done use timedelta to print how long the quiz took</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6.  Bonus: Use random.randint() to assign XP (10–50) for each correct answer</a:t>
            </a:r>
            <a:endParaRPr lang="en-US" sz="1200" dirty="0"/>
          </a:p>
        </p:txBody>
      </p:sp>
      <p:sp>
        <p:nvSpPr>
          <p:cNvPr id="9" name="Shape 6"/>
          <p:cNvSpPr/>
          <p:nvPr/>
        </p:nvSpPr>
        <p:spPr>
          <a:xfrm>
            <a:off x="5577840" y="658368"/>
            <a:ext cx="3310128" cy="1261872"/>
          </a:xfrm>
          <a:prstGeom prst="rect">
            <a:avLst/>
          </a:prstGeom>
          <a:solidFill>
            <a:srgbClr val="1A1200"/>
          </a:solidFill>
          <a:ln w="12700">
            <a:solidFill>
              <a:srgbClr val="F5C842"/>
            </a:solidFill>
            <a:prstDash val="solid"/>
          </a:ln>
          <a:effectLst>
            <a:outerShdw sx="100000" sy="100000" kx="0" ky="0" algn="bl" rotWithShape="0" blurRad="127000" dist="38100" dir="8100000">
              <a:srgbClr val="000000">
                <a:alpha val="25000"/>
              </a:srgbClr>
            </a:outerShdw>
          </a:effectLst>
        </p:spPr>
      </p:sp>
      <p:sp>
        <p:nvSpPr>
          <p:cNvPr id="10" name="Text 7"/>
          <p:cNvSpPr/>
          <p:nvPr/>
        </p:nvSpPr>
        <p:spPr>
          <a:xfrm>
            <a:off x="5687568" y="731520"/>
            <a:ext cx="3017520" cy="292608"/>
          </a:xfrm>
          <a:prstGeom prst="rect">
            <a:avLst/>
          </a:prstGeom>
          <a:noFill/>
          <a:ln/>
        </p:spPr>
        <p:txBody>
          <a:bodyPr wrap="square" lIns="0" tIns="0" rIns="0" bIns="0" rtlCol="0" anchor="ctr"/>
          <a:lstStyle/>
          <a:p>
            <a:pPr indent="0" marL="0">
              <a:buNone/>
            </a:pPr>
            <a:r>
              <a:rPr lang="en-US" sz="1050" b="1" dirty="0">
                <a:solidFill>
                  <a:srgbClr val="F5C842"/>
                </a:solidFill>
                <a:latin typeface="Arial" pitchFamily="34" charset="0"/>
                <a:ea typeface="Arial" pitchFamily="34" charset="-122"/>
                <a:cs typeface="Arial" pitchFamily="34" charset="-120"/>
              </a:rPr>
              <a:t>🏆  XP Reward</a:t>
            </a:r>
            <a:endParaRPr lang="en-US" sz="1050" dirty="0"/>
          </a:p>
        </p:txBody>
      </p:sp>
      <p:sp>
        <p:nvSpPr>
          <p:cNvPr id="11" name="Text 8"/>
          <p:cNvSpPr/>
          <p:nvPr/>
        </p:nvSpPr>
        <p:spPr>
          <a:xfrm>
            <a:off x="5687568" y="1042416"/>
            <a:ext cx="3017520" cy="640080"/>
          </a:xfrm>
          <a:prstGeom prst="rect">
            <a:avLst/>
          </a:prstGeom>
          <a:noFill/>
          <a:ln/>
        </p:spPr>
        <p:txBody>
          <a:bodyPr wrap="square" lIns="0" tIns="0" rIns="0" bIns="0" rtlCol="0" anchor="ctr"/>
          <a:lstStyle/>
          <a:p>
            <a:pPr algn="ctr" indent="0" marL="0">
              <a:buNone/>
            </a:pPr>
            <a:r>
              <a:rPr lang="en-US" sz="3400" b="1" dirty="0">
                <a:solidFill>
                  <a:srgbClr val="F5C842"/>
                </a:solidFill>
                <a:latin typeface="Courier New" pitchFamily="34" charset="0"/>
                <a:ea typeface="Courier New" pitchFamily="34" charset="-122"/>
                <a:cs typeface="Courier New" pitchFamily="34" charset="-120"/>
              </a:rPr>
              <a:t>80 XP</a:t>
            </a:r>
            <a:endParaRPr lang="en-US" sz="3400" dirty="0"/>
          </a:p>
        </p:txBody>
      </p:sp>
      <p:sp>
        <p:nvSpPr>
          <p:cNvPr id="12" name="Shape 9"/>
          <p:cNvSpPr/>
          <p:nvPr/>
        </p:nvSpPr>
        <p:spPr>
          <a:xfrm>
            <a:off x="5577840" y="2084832"/>
            <a:ext cx="3310128" cy="987552"/>
          </a:xfrm>
          <a:prstGeom prst="rect">
            <a:avLst/>
          </a:prstGeom>
          <a:solidFill>
            <a:srgbClr val="0D1A2E"/>
          </a:solidFill>
          <a:ln w="12700">
            <a:solidFill>
              <a:srgbClr val="00B4D8"/>
            </a:solidFill>
            <a:prstDash val="solid"/>
          </a:ln>
        </p:spPr>
      </p:sp>
      <p:sp>
        <p:nvSpPr>
          <p:cNvPr id="13" name="Text 10"/>
          <p:cNvSpPr/>
          <p:nvPr/>
        </p:nvSpPr>
        <p:spPr>
          <a:xfrm>
            <a:off x="5687568" y="2157984"/>
            <a:ext cx="3017520" cy="274320"/>
          </a:xfrm>
          <a:prstGeom prst="rect">
            <a:avLst/>
          </a:prstGeom>
          <a:noFill/>
          <a:ln/>
        </p:spPr>
        <p:txBody>
          <a:bodyPr wrap="square" lIns="0" tIns="0" rIns="0" bIns="0" rtlCol="0" anchor="ctr"/>
          <a:lstStyle/>
          <a:p>
            <a:pPr indent="0" marL="0">
              <a:buNone/>
            </a:pPr>
            <a:r>
              <a:rPr lang="en-US" sz="1050" b="1" dirty="0">
                <a:solidFill>
                  <a:srgbClr val="00B4D8"/>
                </a:solidFill>
                <a:latin typeface="Arial" pitchFamily="34" charset="0"/>
                <a:ea typeface="Arial" pitchFamily="34" charset="-122"/>
                <a:cs typeface="Arial" pitchFamily="34" charset="-120"/>
              </a:rPr>
              <a:t>⏱  Time Limit</a:t>
            </a:r>
            <a:endParaRPr lang="en-US" sz="1050" dirty="0"/>
          </a:p>
        </p:txBody>
      </p:sp>
      <p:sp>
        <p:nvSpPr>
          <p:cNvPr id="14" name="Text 11"/>
          <p:cNvSpPr/>
          <p:nvPr/>
        </p:nvSpPr>
        <p:spPr>
          <a:xfrm>
            <a:off x="5687568" y="2450592"/>
            <a:ext cx="3017520"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25 min</a:t>
            </a:r>
            <a:endParaRPr lang="en-US" sz="2200" dirty="0"/>
          </a:p>
        </p:txBody>
      </p:sp>
      <p:sp>
        <p:nvSpPr>
          <p:cNvPr id="15" name="Shape 12"/>
          <p:cNvSpPr/>
          <p:nvPr/>
        </p:nvSpPr>
        <p:spPr>
          <a:xfrm>
            <a:off x="5577840" y="3236976"/>
            <a:ext cx="3310128" cy="1353312"/>
          </a:xfrm>
          <a:prstGeom prst="rect">
            <a:avLst/>
          </a:prstGeom>
          <a:solidFill>
            <a:srgbClr val="050810"/>
          </a:solidFill>
          <a:ln w="12700">
            <a:solidFill>
              <a:srgbClr val="1A3A6B"/>
            </a:solidFill>
            <a:prstDash val="solid"/>
          </a:ln>
        </p:spPr>
      </p:sp>
      <p:sp>
        <p:nvSpPr>
          <p:cNvPr id="16" name="Text 13"/>
          <p:cNvSpPr/>
          <p:nvPr/>
        </p:nvSpPr>
        <p:spPr>
          <a:xfrm>
            <a:off x="5687568" y="3310128"/>
            <a:ext cx="3017520" cy="274320"/>
          </a:xfrm>
          <a:prstGeom prst="rect">
            <a:avLst/>
          </a:prstGeom>
          <a:noFill/>
          <a:ln/>
        </p:spPr>
        <p:txBody>
          <a:bodyPr wrap="square" lIns="0" tIns="0" rIns="0" bIns="0" rtlCol="0" anchor="ctr"/>
          <a:lstStyle/>
          <a:p>
            <a:pPr indent="0" marL="0">
              <a:buNone/>
            </a:pPr>
            <a:r>
              <a:rPr lang="en-US" sz="950" b="1" dirty="0">
                <a:solidFill>
                  <a:srgbClr val="A0B4C8"/>
                </a:solidFill>
                <a:latin typeface="Arial" pitchFamily="34" charset="0"/>
                <a:ea typeface="Arial" pitchFamily="34" charset="-122"/>
                <a:cs typeface="Arial" pitchFamily="34" charset="-120"/>
              </a:rPr>
              <a:t>Expected output:</a:t>
            </a:r>
            <a:endParaRPr lang="en-US" sz="950" dirty="0"/>
          </a:p>
        </p:txBody>
      </p:sp>
      <p:sp>
        <p:nvSpPr>
          <p:cNvPr id="17" name="Text 14"/>
          <p:cNvSpPr/>
          <p:nvPr/>
        </p:nvSpPr>
        <p:spPr>
          <a:xfrm>
            <a:off x="5687568" y="3621024"/>
            <a:ext cx="3017520" cy="896112"/>
          </a:xfrm>
          <a:prstGeom prst="rect">
            <a:avLst/>
          </a:prstGeom>
          <a:noFill/>
          <a:ln/>
        </p:spPr>
        <p:txBody>
          <a:bodyPr wrap="square" lIns="0" tIns="0" rIns="0" bIns="0" rtlCol="0" anchor="ctr"/>
          <a:lstStyle/>
          <a:p>
            <a:pPr indent="0" marL="0">
              <a:buNone/>
            </a:pPr>
            <a:r>
              <a:rPr lang="en-US" sz="1150" dirty="0">
                <a:solidFill>
                  <a:srgbClr val="3DDC84"/>
                </a:solidFill>
                <a:latin typeface="Courier New" pitchFamily="34" charset="0"/>
                <a:ea typeface="Courier New" pitchFamily="34" charset="-122"/>
                <a:cs typeface="Courier New" pitchFamily="34" charset="-120"/>
              </a:rPr>
              <a:t>📅 Today: Wednesday, 11 March 2026</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 5 random questions selected</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Q1: What does len() do?</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 Time taken: 0:03:42</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 Total XP earned: 180</a:t>
            </a:r>
            <a:endParaRPr lang="en-US" sz="1150" dirty="0"/>
          </a:p>
        </p:txBody>
      </p:sp>
      <p:sp>
        <p:nvSpPr>
          <p:cNvPr id="18" name="Shape 15"/>
          <p:cNvSpPr/>
          <p:nvPr/>
        </p:nvSpPr>
        <p:spPr>
          <a:xfrm>
            <a:off x="0" y="4800600"/>
            <a:ext cx="9144000" cy="342900"/>
          </a:xfrm>
          <a:prstGeom prst="rect">
            <a:avLst/>
          </a:prstGeom>
          <a:solidFill>
            <a:srgbClr val="030608"/>
          </a:solidFill>
          <a:ln w="12700">
            <a:solidFill>
              <a:srgbClr val="030608"/>
            </a:solidFill>
            <a:prstDash val="solid"/>
          </a:ln>
        </p:spPr>
      </p:sp>
      <p:sp>
        <p:nvSpPr>
          <p:cNvPr id="19" name="Shape 16"/>
          <p:cNvSpPr/>
          <p:nvPr/>
        </p:nvSpPr>
        <p:spPr>
          <a:xfrm>
            <a:off x="0" y="4800600"/>
            <a:ext cx="1920240" cy="342900"/>
          </a:xfrm>
          <a:prstGeom prst="rect">
            <a:avLst/>
          </a:prstGeom>
          <a:solidFill>
            <a:srgbClr val="1A3A6B"/>
          </a:solidFill>
          <a:ln w="12700">
            <a:solidFill>
              <a:srgbClr val="1A3A6B"/>
            </a:solidFill>
            <a:prstDash val="solid"/>
          </a:ln>
        </p:spPr>
      </p:sp>
      <p:sp>
        <p:nvSpPr>
          <p:cNvPr id="20" name="Text 17"/>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21" name="Text 18"/>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2" name="Shape 19"/>
          <p:cNvSpPr/>
          <p:nvPr/>
        </p:nvSpPr>
        <p:spPr>
          <a:xfrm>
            <a:off x="7635240" y="4818888"/>
            <a:ext cx="475488" cy="274320"/>
          </a:xfrm>
          <a:prstGeom prst="rect">
            <a:avLst/>
          </a:prstGeom>
          <a:solidFill>
            <a:srgbClr val="0A1628"/>
          </a:solidFill>
          <a:ln w="12700">
            <a:solidFill>
              <a:srgbClr val="00DCB4"/>
            </a:solidFill>
            <a:prstDash val="solid"/>
          </a:ln>
        </p:spPr>
      </p:sp>
      <p:sp>
        <p:nvSpPr>
          <p:cNvPr id="23" name="Text 20"/>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4" name="Shape 21"/>
          <p:cNvSpPr/>
          <p:nvPr/>
        </p:nvSpPr>
        <p:spPr>
          <a:xfrm>
            <a:off x="8183880" y="4814316"/>
            <a:ext cx="749808" cy="310896"/>
          </a:xfrm>
          <a:prstGeom prst="rect">
            <a:avLst/>
          </a:prstGeom>
          <a:solidFill>
            <a:srgbClr val="1A3A6B"/>
          </a:solidFill>
          <a:ln w="12700">
            <a:solidFill>
              <a:srgbClr val="1A3A6B"/>
            </a:solidFill>
            <a:prstDash val="solid"/>
          </a:ln>
        </p:spPr>
      </p:sp>
      <p:sp>
        <p:nvSpPr>
          <p:cNvPr id="25" name="Text 22"/>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  Try It Yourself</a:t>
            </a:r>
            <a:endParaRPr lang="en-US" sz="2000" dirty="0"/>
          </a:p>
        </p:txBody>
      </p:sp>
      <p:sp>
        <p:nvSpPr>
          <p:cNvPr id="5" name="Shape 2"/>
          <p:cNvSpPr/>
          <p:nvPr/>
        </p:nvSpPr>
        <p:spPr>
          <a:xfrm>
            <a:off x="256032" y="658368"/>
            <a:ext cx="5074920" cy="3931920"/>
          </a:xfrm>
          <a:prstGeom prst="rect">
            <a:avLst/>
          </a:prstGeom>
          <a:solidFill>
            <a:srgbClr val="0D1A2E"/>
          </a:solidFill>
          <a:ln w="12700">
            <a:solidFill>
              <a:srgbClr val="00DCB4"/>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3931920"/>
          </a:xfrm>
          <a:prstGeom prst="rect">
            <a:avLst/>
          </a:prstGeom>
          <a:solidFill>
            <a:srgbClr val="00DCB4"/>
          </a:solidFill>
          <a:ln w="12700">
            <a:solidFill>
              <a:srgbClr val="00DCB4"/>
            </a:solidFill>
            <a:prstDash val="solid"/>
          </a:ln>
        </p:spPr>
      </p:sp>
      <p:sp>
        <p:nvSpPr>
          <p:cNvPr id="7" name="Text 4"/>
          <p:cNvSpPr/>
          <p:nvPr/>
        </p:nvSpPr>
        <p:spPr>
          <a:xfrm>
            <a:off x="384048" y="731520"/>
            <a:ext cx="4800600" cy="329184"/>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Extension: Daily Journal with Timestamps</a:t>
            </a:r>
            <a:endParaRPr lang="en-US" sz="1200" dirty="0"/>
          </a:p>
        </p:txBody>
      </p:sp>
      <p:sp>
        <p:nvSpPr>
          <p:cNvPr id="8" name="Text 5"/>
          <p:cNvSpPr/>
          <p:nvPr/>
        </p:nvSpPr>
        <p:spPr>
          <a:xfrm>
            <a:off x="384048" y="1133856"/>
            <a:ext cx="4800600" cy="3346704"/>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1.  Use datetime.now().strftime() to generate timestamps for each entry</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2.  Save entries to a file: 'YYYY-MM-DD HH:MM:SS | entry text'</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3.  Add a view command: filter and display only today's entries</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4.  Add a stats command: use len() to count entries, show oldest entry date</a:t>
            </a:r>
            <a:endParaRPr lang="en-US" sz="1200" dirty="0"/>
          </a:p>
          <a:p>
            <a:pPr indent="0" marL="0">
              <a:buNone/>
            </a:pPr>
            <a:endParaRPr lang="en-US" sz="1200" dirty="0"/>
          </a:p>
          <a:p>
            <a:pPr indent="0" marL="0">
              <a:buNone/>
            </a:pPr>
            <a:r>
              <a:rPr lang="en-US" sz="1200" dirty="0">
                <a:solidFill>
                  <a:srgbClr val="E8F0F8"/>
                </a:solidFill>
                <a:latin typeface="Arial" pitchFamily="34" charset="0"/>
                <a:ea typeface="Arial" pitchFamily="34" charset="-122"/>
                <a:cs typeface="Arial" pitchFamily="34" charset="-120"/>
              </a:rPr>
              <a:t>5.  Bonus: Use os.path.getsize() to display the file size</a:t>
            </a:r>
            <a:endParaRPr lang="en-US" sz="1200" dirty="0"/>
          </a:p>
        </p:txBody>
      </p:sp>
      <p:sp>
        <p:nvSpPr>
          <p:cNvPr id="9" name="Shape 6"/>
          <p:cNvSpPr/>
          <p:nvPr/>
        </p:nvSpPr>
        <p:spPr>
          <a:xfrm>
            <a:off x="5577840" y="658368"/>
            <a:ext cx="3310128" cy="1261872"/>
          </a:xfrm>
          <a:prstGeom prst="rect">
            <a:avLst/>
          </a:prstGeom>
          <a:solidFill>
            <a:srgbClr val="1A1200"/>
          </a:solidFill>
          <a:ln w="12700">
            <a:solidFill>
              <a:srgbClr val="F5C842"/>
            </a:solidFill>
            <a:prstDash val="solid"/>
          </a:ln>
          <a:effectLst>
            <a:outerShdw sx="100000" sy="100000" kx="0" ky="0" algn="bl" rotWithShape="0" blurRad="127000" dist="38100" dir="8100000">
              <a:srgbClr val="000000">
                <a:alpha val="25000"/>
              </a:srgbClr>
            </a:outerShdw>
          </a:effectLst>
        </p:spPr>
      </p:sp>
      <p:sp>
        <p:nvSpPr>
          <p:cNvPr id="10" name="Text 7"/>
          <p:cNvSpPr/>
          <p:nvPr/>
        </p:nvSpPr>
        <p:spPr>
          <a:xfrm>
            <a:off x="5687568" y="731520"/>
            <a:ext cx="3017520" cy="292608"/>
          </a:xfrm>
          <a:prstGeom prst="rect">
            <a:avLst/>
          </a:prstGeom>
          <a:noFill/>
          <a:ln/>
        </p:spPr>
        <p:txBody>
          <a:bodyPr wrap="square" lIns="0" tIns="0" rIns="0" bIns="0" rtlCol="0" anchor="ctr"/>
          <a:lstStyle/>
          <a:p>
            <a:pPr indent="0" marL="0">
              <a:buNone/>
            </a:pPr>
            <a:r>
              <a:rPr lang="en-US" sz="1050" b="1" dirty="0">
                <a:solidFill>
                  <a:srgbClr val="F5C842"/>
                </a:solidFill>
                <a:latin typeface="Arial" pitchFamily="34" charset="0"/>
                <a:ea typeface="Arial" pitchFamily="34" charset="-122"/>
                <a:cs typeface="Arial" pitchFamily="34" charset="-120"/>
              </a:rPr>
              <a:t>🏆  XP Reward</a:t>
            </a:r>
            <a:endParaRPr lang="en-US" sz="1050" dirty="0"/>
          </a:p>
        </p:txBody>
      </p:sp>
      <p:sp>
        <p:nvSpPr>
          <p:cNvPr id="11" name="Text 8"/>
          <p:cNvSpPr/>
          <p:nvPr/>
        </p:nvSpPr>
        <p:spPr>
          <a:xfrm>
            <a:off x="5687568" y="1042416"/>
            <a:ext cx="3017520" cy="640080"/>
          </a:xfrm>
          <a:prstGeom prst="rect">
            <a:avLst/>
          </a:prstGeom>
          <a:noFill/>
          <a:ln/>
        </p:spPr>
        <p:txBody>
          <a:bodyPr wrap="square" lIns="0" tIns="0" rIns="0" bIns="0" rtlCol="0" anchor="ctr"/>
          <a:lstStyle/>
          <a:p>
            <a:pPr algn="ctr" indent="0" marL="0">
              <a:buNone/>
            </a:pPr>
            <a:r>
              <a:rPr lang="en-US" sz="3400" b="1" dirty="0">
                <a:solidFill>
                  <a:srgbClr val="F5C842"/>
                </a:solidFill>
                <a:latin typeface="Courier New" pitchFamily="34" charset="0"/>
                <a:ea typeface="Courier New" pitchFamily="34" charset="-122"/>
                <a:cs typeface="Courier New" pitchFamily="34" charset="-120"/>
              </a:rPr>
              <a:t>40 XP</a:t>
            </a:r>
            <a:endParaRPr lang="en-US" sz="3400" dirty="0"/>
          </a:p>
        </p:txBody>
      </p:sp>
      <p:sp>
        <p:nvSpPr>
          <p:cNvPr id="12" name="Shape 9"/>
          <p:cNvSpPr/>
          <p:nvPr/>
        </p:nvSpPr>
        <p:spPr>
          <a:xfrm>
            <a:off x="5577840" y="2084832"/>
            <a:ext cx="3310128" cy="987552"/>
          </a:xfrm>
          <a:prstGeom prst="rect">
            <a:avLst/>
          </a:prstGeom>
          <a:solidFill>
            <a:srgbClr val="0D1A2E"/>
          </a:solidFill>
          <a:ln w="12700">
            <a:solidFill>
              <a:srgbClr val="00B4D8"/>
            </a:solidFill>
            <a:prstDash val="solid"/>
          </a:ln>
        </p:spPr>
      </p:sp>
      <p:sp>
        <p:nvSpPr>
          <p:cNvPr id="13" name="Text 10"/>
          <p:cNvSpPr/>
          <p:nvPr/>
        </p:nvSpPr>
        <p:spPr>
          <a:xfrm>
            <a:off x="5687568" y="2157984"/>
            <a:ext cx="3017520" cy="274320"/>
          </a:xfrm>
          <a:prstGeom prst="rect">
            <a:avLst/>
          </a:prstGeom>
          <a:noFill/>
          <a:ln/>
        </p:spPr>
        <p:txBody>
          <a:bodyPr wrap="square" lIns="0" tIns="0" rIns="0" bIns="0" rtlCol="0" anchor="ctr"/>
          <a:lstStyle/>
          <a:p>
            <a:pPr indent="0" marL="0">
              <a:buNone/>
            </a:pPr>
            <a:r>
              <a:rPr lang="en-US" sz="1050" b="1" dirty="0">
                <a:solidFill>
                  <a:srgbClr val="00B4D8"/>
                </a:solidFill>
                <a:latin typeface="Arial" pitchFamily="34" charset="0"/>
                <a:ea typeface="Arial" pitchFamily="34" charset="-122"/>
                <a:cs typeface="Arial" pitchFamily="34" charset="-120"/>
              </a:rPr>
              <a:t>⏱  Time Limit</a:t>
            </a:r>
            <a:endParaRPr lang="en-US" sz="1050" dirty="0"/>
          </a:p>
        </p:txBody>
      </p:sp>
      <p:sp>
        <p:nvSpPr>
          <p:cNvPr id="14" name="Text 11"/>
          <p:cNvSpPr/>
          <p:nvPr/>
        </p:nvSpPr>
        <p:spPr>
          <a:xfrm>
            <a:off x="5687568" y="2450592"/>
            <a:ext cx="3017520"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15 min</a:t>
            </a:r>
            <a:endParaRPr lang="en-US" sz="2200" dirty="0"/>
          </a:p>
        </p:txBody>
      </p:sp>
      <p:sp>
        <p:nvSpPr>
          <p:cNvPr id="15" name="Shape 12"/>
          <p:cNvSpPr/>
          <p:nvPr/>
        </p:nvSpPr>
        <p:spPr>
          <a:xfrm>
            <a:off x="5577840" y="3236976"/>
            <a:ext cx="3310128" cy="1353312"/>
          </a:xfrm>
          <a:prstGeom prst="rect">
            <a:avLst/>
          </a:prstGeom>
          <a:solidFill>
            <a:srgbClr val="050810"/>
          </a:solidFill>
          <a:ln w="12700">
            <a:solidFill>
              <a:srgbClr val="1A3A6B"/>
            </a:solidFill>
            <a:prstDash val="solid"/>
          </a:ln>
        </p:spPr>
      </p:sp>
      <p:sp>
        <p:nvSpPr>
          <p:cNvPr id="16" name="Text 13"/>
          <p:cNvSpPr/>
          <p:nvPr/>
        </p:nvSpPr>
        <p:spPr>
          <a:xfrm>
            <a:off x="5687568" y="3310128"/>
            <a:ext cx="3017520" cy="274320"/>
          </a:xfrm>
          <a:prstGeom prst="rect">
            <a:avLst/>
          </a:prstGeom>
          <a:noFill/>
          <a:ln/>
        </p:spPr>
        <p:txBody>
          <a:bodyPr wrap="square" lIns="0" tIns="0" rIns="0" bIns="0" rtlCol="0" anchor="ctr"/>
          <a:lstStyle/>
          <a:p>
            <a:pPr indent="0" marL="0">
              <a:buNone/>
            </a:pPr>
            <a:r>
              <a:rPr lang="en-US" sz="950" b="1" dirty="0">
                <a:solidFill>
                  <a:srgbClr val="A0B4C8"/>
                </a:solidFill>
                <a:latin typeface="Arial" pitchFamily="34" charset="0"/>
                <a:ea typeface="Arial" pitchFamily="34" charset="-122"/>
                <a:cs typeface="Arial" pitchFamily="34" charset="-120"/>
              </a:rPr>
              <a:t>Expected output:</a:t>
            </a:r>
            <a:endParaRPr lang="en-US" sz="950" dirty="0"/>
          </a:p>
        </p:txBody>
      </p:sp>
      <p:sp>
        <p:nvSpPr>
          <p:cNvPr id="17" name="Text 14"/>
          <p:cNvSpPr/>
          <p:nvPr/>
        </p:nvSpPr>
        <p:spPr>
          <a:xfrm>
            <a:off x="5687568" y="3621024"/>
            <a:ext cx="3017520" cy="896112"/>
          </a:xfrm>
          <a:prstGeom prst="rect">
            <a:avLst/>
          </a:prstGeom>
          <a:noFill/>
          <a:ln/>
        </p:spPr>
        <p:txBody>
          <a:bodyPr wrap="square" lIns="0" tIns="0" rIns="0" bIns="0" rtlCol="0" anchor="ctr"/>
          <a:lstStyle/>
          <a:p>
            <a:pPr indent="0" marL="0">
              <a:buNone/>
            </a:pPr>
            <a:r>
              <a:rPr lang="en-US" sz="1150" dirty="0">
                <a:solidFill>
                  <a:srgbClr val="3DDC84"/>
                </a:solidFill>
                <a:latin typeface="Courier New" pitchFamily="34" charset="0"/>
                <a:ea typeface="Courier New" pitchFamily="34" charset="-122"/>
                <a:cs typeface="Courier New" pitchFamily="34" charset="-120"/>
              </a:rPr>
              <a:t>1. Write entry</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2. View today</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3. Stats</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&gt; 3</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Total entries: 7</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File size: 412 bytes</a:t>
            </a:r>
            <a:endParaRPr lang="en-US" sz="1150" dirty="0"/>
          </a:p>
          <a:p>
            <a:pPr indent="0" marL="0">
              <a:buNone/>
            </a:pPr>
            <a:r>
              <a:rPr lang="en-US" sz="1150" dirty="0">
                <a:solidFill>
                  <a:srgbClr val="3DDC84"/>
                </a:solidFill>
                <a:latin typeface="Courier New" pitchFamily="34" charset="0"/>
                <a:ea typeface="Courier New" pitchFamily="34" charset="-122"/>
                <a:cs typeface="Courier New" pitchFamily="34" charset="-120"/>
              </a:rPr>
              <a:t>First entry: 2026-03-05</a:t>
            </a:r>
            <a:endParaRPr lang="en-US" sz="1150" dirty="0"/>
          </a:p>
        </p:txBody>
      </p:sp>
      <p:sp>
        <p:nvSpPr>
          <p:cNvPr id="18" name="Shape 15"/>
          <p:cNvSpPr/>
          <p:nvPr/>
        </p:nvSpPr>
        <p:spPr>
          <a:xfrm>
            <a:off x="0" y="4800600"/>
            <a:ext cx="9144000" cy="342900"/>
          </a:xfrm>
          <a:prstGeom prst="rect">
            <a:avLst/>
          </a:prstGeom>
          <a:solidFill>
            <a:srgbClr val="030608"/>
          </a:solidFill>
          <a:ln w="12700">
            <a:solidFill>
              <a:srgbClr val="030608"/>
            </a:solidFill>
            <a:prstDash val="solid"/>
          </a:ln>
        </p:spPr>
      </p:sp>
      <p:sp>
        <p:nvSpPr>
          <p:cNvPr id="19" name="Shape 16"/>
          <p:cNvSpPr/>
          <p:nvPr/>
        </p:nvSpPr>
        <p:spPr>
          <a:xfrm>
            <a:off x="0" y="4800600"/>
            <a:ext cx="1920240" cy="342900"/>
          </a:xfrm>
          <a:prstGeom prst="rect">
            <a:avLst/>
          </a:prstGeom>
          <a:solidFill>
            <a:srgbClr val="1A3A6B"/>
          </a:solidFill>
          <a:ln w="12700">
            <a:solidFill>
              <a:srgbClr val="1A3A6B"/>
            </a:solidFill>
            <a:prstDash val="solid"/>
          </a:ln>
        </p:spPr>
      </p:sp>
      <p:sp>
        <p:nvSpPr>
          <p:cNvPr id="20" name="Text 17"/>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21" name="Text 18"/>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2" name="Shape 19"/>
          <p:cNvSpPr/>
          <p:nvPr/>
        </p:nvSpPr>
        <p:spPr>
          <a:xfrm>
            <a:off x="7635240" y="4818888"/>
            <a:ext cx="475488" cy="274320"/>
          </a:xfrm>
          <a:prstGeom prst="rect">
            <a:avLst/>
          </a:prstGeom>
          <a:solidFill>
            <a:srgbClr val="0A1628"/>
          </a:solidFill>
          <a:ln w="12700">
            <a:solidFill>
              <a:srgbClr val="00DCB4"/>
            </a:solidFill>
            <a:prstDash val="solid"/>
          </a:ln>
        </p:spPr>
      </p:sp>
      <p:sp>
        <p:nvSpPr>
          <p:cNvPr id="23" name="Text 20"/>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4" name="Shape 21"/>
          <p:cNvSpPr/>
          <p:nvPr/>
        </p:nvSpPr>
        <p:spPr>
          <a:xfrm>
            <a:off x="8183880" y="4814316"/>
            <a:ext cx="749808" cy="310896"/>
          </a:xfrm>
          <a:prstGeom prst="rect">
            <a:avLst/>
          </a:prstGeom>
          <a:solidFill>
            <a:srgbClr val="1A3A6B"/>
          </a:solidFill>
          <a:ln w="12700">
            <a:solidFill>
              <a:srgbClr val="1A3A6B"/>
            </a:solidFill>
            <a:prstDash val="solid"/>
          </a:ln>
        </p:spPr>
      </p:sp>
      <p:sp>
        <p:nvSpPr>
          <p:cNvPr id="25" name="Text 22"/>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C10"/>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DCB4"/>
          </a:solidFill>
          <a:ln w="12700">
            <a:solidFill>
              <a:srgbClr val="00DCB4"/>
            </a:solidFill>
            <a:prstDash val="solid"/>
          </a:ln>
        </p:spPr>
      </p:sp>
      <p:pic>
        <p:nvPicPr>
          <p:cNvPr id="3" name="Image 0" descr="preencoded.png"/>
          <p:cNvPicPr>
            <a:picLocks noChangeAspect="1"/>
          </p:cNvPicPr>
          <p:nvPr/>
        </p:nvPicPr>
        <p:blipFill>
          <a:blip r:embed="rId1"/>
          <a:stretch>
            <a:fillRect/>
          </a:stretch>
        </p:blipFill>
        <p:spPr>
          <a:xfrm>
            <a:off x="256032" y="128016"/>
            <a:ext cx="1463040" cy="411480"/>
          </a:xfrm>
          <a:prstGeom prst="rect">
            <a:avLst/>
          </a:prstGeom>
        </p:spPr>
      </p:pic>
      <p:sp>
        <p:nvSpPr>
          <p:cNvPr id="4" name="Text 1"/>
          <p:cNvSpPr/>
          <p:nvPr/>
        </p:nvSpPr>
        <p:spPr>
          <a:xfrm>
            <a:off x="1828800" y="91440"/>
            <a:ext cx="7040880"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Lesson Summary</a:t>
            </a:r>
            <a:endParaRPr lang="en-US" sz="2000" dirty="0"/>
          </a:p>
        </p:txBody>
      </p:sp>
      <p:sp>
        <p:nvSpPr>
          <p:cNvPr id="5" name="Shape 2"/>
          <p:cNvSpPr/>
          <p:nvPr/>
        </p:nvSpPr>
        <p:spPr>
          <a:xfrm>
            <a:off x="256032" y="658368"/>
            <a:ext cx="5440680" cy="2834640"/>
          </a:xfrm>
          <a:prstGeom prst="rect">
            <a:avLst/>
          </a:prstGeom>
          <a:solidFill>
            <a:srgbClr val="0D1A2E"/>
          </a:solidFill>
          <a:ln w="12700">
            <a:solidFill>
              <a:srgbClr val="00DCB4"/>
            </a:solidFill>
            <a:prstDash val="solid"/>
          </a:ln>
          <a:effectLst>
            <a:outerShdw sx="100000" sy="100000" kx="0" ky="0" algn="bl" rotWithShape="0" blurRad="127000" dist="38100" dir="8100000">
              <a:srgbClr val="000000">
                <a:alpha val="25000"/>
              </a:srgbClr>
            </a:outerShdw>
          </a:effectLst>
        </p:spPr>
      </p:sp>
      <p:sp>
        <p:nvSpPr>
          <p:cNvPr id="6" name="Shape 3"/>
          <p:cNvSpPr/>
          <p:nvPr/>
        </p:nvSpPr>
        <p:spPr>
          <a:xfrm>
            <a:off x="256032" y="658368"/>
            <a:ext cx="50292" cy="2834640"/>
          </a:xfrm>
          <a:prstGeom prst="rect">
            <a:avLst/>
          </a:prstGeom>
          <a:solidFill>
            <a:srgbClr val="00DCB4"/>
          </a:solidFill>
          <a:ln w="12700">
            <a:solidFill>
              <a:srgbClr val="00DCB4"/>
            </a:solidFill>
            <a:prstDash val="solid"/>
          </a:ln>
        </p:spPr>
      </p:sp>
      <p:sp>
        <p:nvSpPr>
          <p:cNvPr id="7" name="Text 4"/>
          <p:cNvSpPr/>
          <p:nvPr/>
        </p:nvSpPr>
        <p:spPr>
          <a:xfrm>
            <a:off x="384048" y="749808"/>
            <a:ext cx="5120640" cy="310896"/>
          </a:xfrm>
          <a:prstGeom prst="rect">
            <a:avLst/>
          </a:prstGeom>
          <a:noFill/>
          <a:ln/>
        </p:spPr>
        <p:txBody>
          <a:bodyPr wrap="square" lIns="0" tIns="0" rIns="0" bIns="0" rtlCol="0" anchor="ctr"/>
          <a:lstStyle/>
          <a:p>
            <a:pPr indent="0" marL="0">
              <a:buNone/>
            </a:pPr>
            <a:r>
              <a:rPr lang="en-US" sz="1200" b="1" dirty="0">
                <a:solidFill>
                  <a:srgbClr val="00DCB4"/>
                </a:solidFill>
                <a:latin typeface="Arial" pitchFamily="34" charset="0"/>
                <a:ea typeface="Arial" pitchFamily="34" charset="-122"/>
                <a:cs typeface="Arial" pitchFamily="34" charset="-120"/>
              </a:rPr>
              <a:t>✅  What we learned today</a:t>
            </a:r>
            <a:endParaRPr lang="en-US" sz="1200" dirty="0"/>
          </a:p>
        </p:txBody>
      </p:sp>
      <p:sp>
        <p:nvSpPr>
          <p:cNvPr id="8" name="Text 5"/>
          <p:cNvSpPr/>
          <p:nvPr/>
        </p:nvSpPr>
        <p:spPr>
          <a:xfrm>
            <a:off x="384048" y="1152144"/>
            <a:ext cx="512064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Modules are reusable files of Python code — import to use them</a:t>
            </a:r>
            <a:endParaRPr lang="en-US" sz="1200" dirty="0"/>
          </a:p>
        </p:txBody>
      </p:sp>
      <p:sp>
        <p:nvSpPr>
          <p:cNvPr id="9" name="Text 6"/>
          <p:cNvSpPr/>
          <p:nvPr/>
        </p:nvSpPr>
        <p:spPr>
          <a:xfrm>
            <a:off x="384048" y="1572768"/>
            <a:ext cx="512064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random: randint, choice, shuffle, sample for randomness</a:t>
            </a:r>
            <a:endParaRPr lang="en-US" sz="1200" dirty="0"/>
          </a:p>
        </p:txBody>
      </p:sp>
      <p:sp>
        <p:nvSpPr>
          <p:cNvPr id="10" name="Text 7"/>
          <p:cNvSpPr/>
          <p:nvPr/>
        </p:nvSpPr>
        <p:spPr>
          <a:xfrm>
            <a:off x="384048" y="1993392"/>
            <a:ext cx="512064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datetime: now(), strftime(), timedelta for dates and times</a:t>
            </a:r>
            <a:endParaRPr lang="en-US" sz="1200" dirty="0"/>
          </a:p>
        </p:txBody>
      </p:sp>
      <p:sp>
        <p:nvSpPr>
          <p:cNvPr id="11" name="Text 8"/>
          <p:cNvSpPr/>
          <p:nvPr/>
        </p:nvSpPr>
        <p:spPr>
          <a:xfrm>
            <a:off x="384048" y="2414016"/>
            <a:ext cx="512064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math: sqrt, pi, floor, ceil for advanced calculations</a:t>
            </a:r>
            <a:endParaRPr lang="en-US" sz="1200" dirty="0"/>
          </a:p>
        </p:txBody>
      </p:sp>
      <p:sp>
        <p:nvSpPr>
          <p:cNvPr id="12" name="Text 9"/>
          <p:cNvSpPr/>
          <p:nvPr/>
        </p:nvSpPr>
        <p:spPr>
          <a:xfrm>
            <a:off x="384048" y="2834640"/>
            <a:ext cx="5120640" cy="365760"/>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  pip installs third-party libraries — you'll use this every day as a developer</a:t>
            </a:r>
            <a:endParaRPr lang="en-US" sz="1200" dirty="0"/>
          </a:p>
        </p:txBody>
      </p:sp>
      <p:sp>
        <p:nvSpPr>
          <p:cNvPr id="13" name="Shape 10"/>
          <p:cNvSpPr/>
          <p:nvPr/>
        </p:nvSpPr>
        <p:spPr>
          <a:xfrm>
            <a:off x="5943600" y="658368"/>
            <a:ext cx="2944368" cy="2834640"/>
          </a:xfrm>
          <a:prstGeom prst="rect">
            <a:avLst/>
          </a:prstGeom>
          <a:solidFill>
            <a:srgbClr val="0D1A2E"/>
          </a:solidFill>
          <a:ln w="12700">
            <a:solidFill>
              <a:srgbClr val="1A3A6B"/>
            </a:solidFill>
            <a:prstDash val="solid"/>
          </a:ln>
          <a:effectLst>
            <a:outerShdw sx="100000" sy="100000" kx="0" ky="0" algn="bl" rotWithShape="0" blurRad="127000" dist="38100" dir="8100000">
              <a:srgbClr val="000000">
                <a:alpha val="25000"/>
              </a:srgbClr>
            </a:outerShdw>
          </a:effectLst>
        </p:spPr>
      </p:sp>
      <p:sp>
        <p:nvSpPr>
          <p:cNvPr id="14" name="Text 11"/>
          <p:cNvSpPr/>
          <p:nvPr/>
        </p:nvSpPr>
        <p:spPr>
          <a:xfrm>
            <a:off x="6053328" y="749808"/>
            <a:ext cx="2651760" cy="310896"/>
          </a:xfrm>
          <a:prstGeom prst="rect">
            <a:avLst/>
          </a:prstGeom>
          <a:noFill/>
          <a:ln/>
        </p:spPr>
        <p:txBody>
          <a:bodyPr wrap="square" lIns="0" tIns="0" rIns="0" bIns="0" rtlCol="0" anchor="ctr"/>
          <a:lstStyle/>
          <a:p>
            <a:pPr indent="0" marL="0">
              <a:buNone/>
            </a:pPr>
            <a:r>
              <a:rPr lang="en-US" sz="1100" b="1" dirty="0">
                <a:solidFill>
                  <a:srgbClr val="A0B4C8"/>
                </a:solidFill>
                <a:latin typeface="Arial" pitchFamily="34" charset="0"/>
                <a:ea typeface="Arial" pitchFamily="34" charset="-122"/>
                <a:cs typeface="Arial" pitchFamily="34" charset="-120"/>
              </a:rPr>
              <a:t>🔍  Next Week</a:t>
            </a:r>
            <a:endParaRPr lang="en-US" sz="1100" dirty="0"/>
          </a:p>
        </p:txBody>
      </p:sp>
      <p:sp>
        <p:nvSpPr>
          <p:cNvPr id="15" name="Text 12"/>
          <p:cNvSpPr/>
          <p:nvPr/>
        </p:nvSpPr>
        <p:spPr>
          <a:xfrm>
            <a:off x="6053328" y="1133856"/>
            <a:ext cx="2651760" cy="2267712"/>
          </a:xfrm>
          <a:prstGeom prst="rect">
            <a:avLst/>
          </a:prstGeom>
          <a:noFill/>
          <a:ln/>
        </p:spPr>
        <p:txBody>
          <a:bodyPr wrap="square" lIns="0" tIns="0" rIns="0" bIns="0" rtlCol="0" anchor="ctr"/>
          <a:lstStyle/>
          <a:p>
            <a:pPr indent="0" marL="0">
              <a:buNone/>
            </a:pPr>
            <a:r>
              <a:rPr lang="en-US" sz="1150" dirty="0">
                <a:solidFill>
                  <a:srgbClr val="A0B4C8"/>
                </a:solidFill>
                <a:latin typeface="Arial" pitchFamily="34" charset="0"/>
                <a:ea typeface="Arial" pitchFamily="34" charset="-122"/>
                <a:cs typeface="Arial" pitchFamily="34" charset="-120"/>
              </a:rPr>
              <a:t>Week 6: Final Project</a:t>
            </a:r>
            <a:endParaRPr lang="en-US" sz="1150" dirty="0"/>
          </a:p>
          <a:p>
            <a:pPr indent="0" marL="0">
              <a:buNone/>
            </a:pPr>
            <a:endParaRPr lang="en-US" sz="1150" dirty="0"/>
          </a:p>
          <a:p>
            <a:pPr indent="0" marL="0">
              <a:buNone/>
            </a:pPr>
            <a:r>
              <a:rPr lang="en-US" sz="1150" dirty="0">
                <a:solidFill>
                  <a:srgbClr val="A0B4C8"/>
                </a:solidFill>
                <a:latin typeface="Arial" pitchFamily="34" charset="0"/>
                <a:ea typeface="Arial" pitchFamily="34" charset="-122"/>
                <a:cs typeface="Arial" pitchFamily="34" charset="-120"/>
              </a:rPr>
              <a:t>You'll build a complete Python program of your choice combining all 5 weeks of skills. Plan, build, test and present.</a:t>
            </a:r>
            <a:endParaRPr lang="en-US" sz="1150" dirty="0"/>
          </a:p>
        </p:txBody>
      </p:sp>
      <p:sp>
        <p:nvSpPr>
          <p:cNvPr id="16" name="Shape 13"/>
          <p:cNvSpPr/>
          <p:nvPr/>
        </p:nvSpPr>
        <p:spPr>
          <a:xfrm>
            <a:off x="256032" y="3639312"/>
            <a:ext cx="8631936" cy="987552"/>
          </a:xfrm>
          <a:prstGeom prst="rect">
            <a:avLst/>
          </a:prstGeom>
          <a:solidFill>
            <a:srgbClr val="1A1200"/>
          </a:solidFill>
          <a:ln w="12700">
            <a:solidFill>
              <a:srgbClr val="F5C842"/>
            </a:solidFill>
            <a:prstDash val="solid"/>
          </a:ln>
          <a:effectLst>
            <a:outerShdw sx="100000" sy="100000" kx="0" ky="0" algn="bl" rotWithShape="0" blurRad="127000" dist="38100" dir="8100000">
              <a:srgbClr val="000000">
                <a:alpha val="25000"/>
              </a:srgbClr>
            </a:outerShdw>
          </a:effectLst>
        </p:spPr>
      </p:sp>
      <p:sp>
        <p:nvSpPr>
          <p:cNvPr id="17" name="Shape 14"/>
          <p:cNvSpPr/>
          <p:nvPr/>
        </p:nvSpPr>
        <p:spPr>
          <a:xfrm>
            <a:off x="256032" y="3639312"/>
            <a:ext cx="50292" cy="987552"/>
          </a:xfrm>
          <a:prstGeom prst="rect">
            <a:avLst/>
          </a:prstGeom>
          <a:solidFill>
            <a:srgbClr val="F5C842"/>
          </a:solidFill>
          <a:ln w="12700">
            <a:solidFill>
              <a:srgbClr val="F5C842"/>
            </a:solidFill>
            <a:prstDash val="solid"/>
          </a:ln>
        </p:spPr>
      </p:sp>
      <p:sp>
        <p:nvSpPr>
          <p:cNvPr id="18" name="Text 15"/>
          <p:cNvSpPr/>
          <p:nvPr/>
        </p:nvSpPr>
        <p:spPr>
          <a:xfrm>
            <a:off x="384048" y="3694176"/>
            <a:ext cx="3474720" cy="310896"/>
          </a:xfrm>
          <a:prstGeom prst="rect">
            <a:avLst/>
          </a:prstGeom>
          <a:noFill/>
          <a:ln/>
        </p:spPr>
        <p:txBody>
          <a:bodyPr wrap="square" lIns="0" tIns="0" rIns="0" bIns="0" rtlCol="0" anchor="ctr"/>
          <a:lstStyle/>
          <a:p>
            <a:pPr indent="0" marL="0">
              <a:buNone/>
            </a:pPr>
            <a:r>
              <a:rPr lang="en-US" sz="1150" b="1" dirty="0">
                <a:solidFill>
                  <a:srgbClr val="F5C842"/>
                </a:solidFill>
                <a:latin typeface="Arial" pitchFamily="34" charset="0"/>
                <a:ea typeface="Arial" pitchFamily="34" charset="-122"/>
                <a:cs typeface="Arial" pitchFamily="34" charset="-120"/>
              </a:rPr>
              <a:t>📝  This Week's Assignment</a:t>
            </a:r>
            <a:endParaRPr lang="en-US" sz="1150" dirty="0"/>
          </a:p>
        </p:txBody>
      </p:sp>
      <p:sp>
        <p:nvSpPr>
          <p:cNvPr id="19" name="Text 16"/>
          <p:cNvSpPr/>
          <p:nvPr/>
        </p:nvSpPr>
        <p:spPr>
          <a:xfrm>
            <a:off x="384048" y="4023360"/>
            <a:ext cx="6766560" cy="493776"/>
          </a:xfrm>
          <a:prstGeom prst="rect">
            <a:avLst/>
          </a:prstGeom>
          <a:noFill/>
          <a:ln/>
        </p:spPr>
        <p:txBody>
          <a:bodyPr wrap="square" lIns="0" tIns="0" rIns="0" bIns="0" rtlCol="0" anchor="ctr"/>
          <a:lstStyle/>
          <a:p>
            <a:pPr indent="0" marL="0">
              <a:buNone/>
            </a:pPr>
            <a:r>
              <a:rPr lang="en-US" sz="1200" dirty="0">
                <a:solidFill>
                  <a:srgbClr val="E8F0F8"/>
                </a:solidFill>
                <a:latin typeface="Arial" pitchFamily="34" charset="0"/>
                <a:ea typeface="Arial" pitchFamily="34" charset="-122"/>
                <a:cs typeface="Arial" pitchFamily="34" charset="-120"/>
              </a:rPr>
              <a:t>Build the Study Timer &amp; Quiz Picker. Must use random and datetime modules. Include at least 3 module functions. Submit .py file on the LMS.</a:t>
            </a:r>
            <a:endParaRPr lang="en-US" sz="1200" dirty="0"/>
          </a:p>
        </p:txBody>
      </p:sp>
      <p:sp>
        <p:nvSpPr>
          <p:cNvPr id="20" name="Shape 17"/>
          <p:cNvSpPr/>
          <p:nvPr/>
        </p:nvSpPr>
        <p:spPr>
          <a:xfrm>
            <a:off x="7662672" y="3712464"/>
            <a:ext cx="1115568" cy="804672"/>
          </a:xfrm>
          <a:prstGeom prst="rect">
            <a:avLst/>
          </a:prstGeom>
          <a:solidFill>
            <a:srgbClr val="1A3A6B"/>
          </a:solidFill>
          <a:ln w="12700">
            <a:solidFill>
              <a:srgbClr val="F5C842"/>
            </a:solidFill>
            <a:prstDash val="solid"/>
          </a:ln>
        </p:spPr>
      </p:sp>
      <p:sp>
        <p:nvSpPr>
          <p:cNvPr id="21" name="Text 18"/>
          <p:cNvSpPr/>
          <p:nvPr/>
        </p:nvSpPr>
        <p:spPr>
          <a:xfrm>
            <a:off x="7662672" y="3712464"/>
            <a:ext cx="1115568" cy="804672"/>
          </a:xfrm>
          <a:prstGeom prst="rect">
            <a:avLst/>
          </a:prstGeom>
          <a:noFill/>
          <a:ln/>
        </p:spPr>
        <p:txBody>
          <a:bodyPr wrap="square" lIns="0" tIns="0" rIns="0" bIns="0" rtlCol="0" anchor="ctr"/>
          <a:lstStyle/>
          <a:p>
            <a:pPr algn="ctr" indent="0" marL="0">
              <a:buNone/>
            </a:pPr>
            <a:r>
              <a:rPr lang="en-US" sz="1500" b="1" dirty="0">
                <a:solidFill>
                  <a:srgbClr val="F5C842"/>
                </a:solidFill>
                <a:latin typeface="Courier New" pitchFamily="34" charset="0"/>
                <a:ea typeface="Courier New" pitchFamily="34" charset="-122"/>
                <a:cs typeface="Courier New" pitchFamily="34" charset="-120"/>
              </a:rPr>
              <a:t>110 XP</a:t>
            </a:r>
            <a:endParaRPr lang="en-US" sz="1500" dirty="0"/>
          </a:p>
        </p:txBody>
      </p:sp>
      <p:sp>
        <p:nvSpPr>
          <p:cNvPr id="22" name="Shape 19"/>
          <p:cNvSpPr/>
          <p:nvPr/>
        </p:nvSpPr>
        <p:spPr>
          <a:xfrm>
            <a:off x="0" y="4800600"/>
            <a:ext cx="9144000" cy="342900"/>
          </a:xfrm>
          <a:prstGeom prst="rect">
            <a:avLst/>
          </a:prstGeom>
          <a:solidFill>
            <a:srgbClr val="030608"/>
          </a:solidFill>
          <a:ln w="12700">
            <a:solidFill>
              <a:srgbClr val="030608"/>
            </a:solidFill>
            <a:prstDash val="solid"/>
          </a:ln>
        </p:spPr>
      </p:sp>
      <p:sp>
        <p:nvSpPr>
          <p:cNvPr id="23" name="Shape 20"/>
          <p:cNvSpPr/>
          <p:nvPr/>
        </p:nvSpPr>
        <p:spPr>
          <a:xfrm>
            <a:off x="0" y="4800600"/>
            <a:ext cx="1920240" cy="342900"/>
          </a:xfrm>
          <a:prstGeom prst="rect">
            <a:avLst/>
          </a:prstGeom>
          <a:solidFill>
            <a:srgbClr val="1A3A6B"/>
          </a:solidFill>
          <a:ln w="12700">
            <a:solidFill>
              <a:srgbClr val="1A3A6B"/>
            </a:solidFill>
            <a:prstDash val="solid"/>
          </a:ln>
        </p:spPr>
      </p:sp>
      <p:sp>
        <p:nvSpPr>
          <p:cNvPr id="24" name="Text 21"/>
          <p:cNvSpPr/>
          <p:nvPr/>
        </p:nvSpPr>
        <p:spPr>
          <a:xfrm>
            <a:off x="164592" y="4814316"/>
            <a:ext cx="1737360" cy="310896"/>
          </a:xfrm>
          <a:prstGeom prst="rect">
            <a:avLst/>
          </a:prstGeom>
          <a:noFill/>
          <a:ln/>
        </p:spPr>
        <p:txBody>
          <a:bodyPr wrap="square" lIns="0" tIns="0" rIns="0" bIns="0" rtlCol="0" anchor="ctr"/>
          <a:lstStyle/>
          <a:p>
            <a:pPr indent="0" marL="0">
              <a:buNone/>
            </a:pPr>
            <a:r>
              <a:rPr lang="en-US" sz="900" b="1" dirty="0">
                <a:solidFill>
                  <a:srgbClr val="00DCB4"/>
                </a:solidFill>
                <a:latin typeface="Courier New" pitchFamily="34" charset="0"/>
                <a:ea typeface="Courier New" pitchFamily="34" charset="-122"/>
                <a:cs typeface="Courier New" pitchFamily="34" charset="-120"/>
              </a:rPr>
              <a:t>codencode.my</a:t>
            </a:r>
            <a:endParaRPr lang="en-US" sz="900" dirty="0"/>
          </a:p>
        </p:txBody>
      </p:sp>
      <p:sp>
        <p:nvSpPr>
          <p:cNvPr id="25" name="Text 22"/>
          <p:cNvSpPr/>
          <p:nvPr/>
        </p:nvSpPr>
        <p:spPr>
          <a:xfrm>
            <a:off x="2057400" y="4814316"/>
            <a:ext cx="5029200" cy="310896"/>
          </a:xfrm>
          <a:prstGeom prst="rect">
            <a:avLst/>
          </a:prstGeom>
          <a:noFill/>
          <a:ln/>
        </p:spPr>
        <p:txBody>
          <a:bodyPr wrap="square" lIns="0" tIns="0" rIns="0" bIns="0" rtlCol="0" anchor="ctr"/>
          <a:lstStyle/>
          <a:p>
            <a:pPr indent="0" marL="0">
              <a:buNone/>
            </a:pPr>
            <a:r>
              <a:rPr lang="en-US" sz="850" dirty="0">
                <a:solidFill>
                  <a:srgbClr val="6B8AAA"/>
                </a:solidFill>
                <a:latin typeface="Arial" pitchFamily="34" charset="0"/>
                <a:ea typeface="Arial" pitchFamily="34" charset="-122"/>
                <a:cs typeface="Arial" pitchFamily="34" charset="-120"/>
              </a:rPr>
              <a:t>Python for Beginners  •  Week 05 — Data Visualisation &amp; Web Scraping</a:t>
            </a:r>
            <a:endParaRPr lang="en-US" sz="850" dirty="0"/>
          </a:p>
        </p:txBody>
      </p:sp>
      <p:sp>
        <p:nvSpPr>
          <p:cNvPr id="26" name="Shape 23"/>
          <p:cNvSpPr/>
          <p:nvPr/>
        </p:nvSpPr>
        <p:spPr>
          <a:xfrm>
            <a:off x="7635240" y="4818888"/>
            <a:ext cx="475488" cy="274320"/>
          </a:xfrm>
          <a:prstGeom prst="rect">
            <a:avLst/>
          </a:prstGeom>
          <a:solidFill>
            <a:srgbClr val="0A1628"/>
          </a:solidFill>
          <a:ln w="12700">
            <a:solidFill>
              <a:srgbClr val="00DCB4"/>
            </a:solidFill>
            <a:prstDash val="solid"/>
          </a:ln>
        </p:spPr>
      </p:sp>
      <p:sp>
        <p:nvSpPr>
          <p:cNvPr id="27" name="Text 24"/>
          <p:cNvSpPr/>
          <p:nvPr/>
        </p:nvSpPr>
        <p:spPr>
          <a:xfrm>
            <a:off x="7635240" y="4818888"/>
            <a:ext cx="475488" cy="274320"/>
          </a:xfrm>
          <a:prstGeom prst="rect">
            <a:avLst/>
          </a:prstGeom>
          <a:noFill/>
          <a:ln/>
        </p:spPr>
        <p:txBody>
          <a:bodyPr wrap="square" lIns="0" tIns="0" rIns="0" bIns="0" rtlCol="0" anchor="ctr"/>
          <a:lstStyle/>
          <a:p>
            <a:pPr algn="ctr" indent="0" marL="0">
              <a:buNone/>
            </a:pPr>
            <a:r>
              <a:rPr lang="en-US" sz="800" b="1" dirty="0">
                <a:solidFill>
                  <a:srgbClr val="00DCB4"/>
                </a:solidFill>
                <a:latin typeface="Courier New" pitchFamily="34" charset="0"/>
                <a:ea typeface="Courier New" pitchFamily="34" charset="-122"/>
                <a:cs typeface="Courier New" pitchFamily="34" charset="-120"/>
              </a:rPr>
              <a:t>EN</a:t>
            </a:r>
            <a:endParaRPr lang="en-US" sz="800" dirty="0"/>
          </a:p>
        </p:txBody>
      </p:sp>
      <p:sp>
        <p:nvSpPr>
          <p:cNvPr id="28" name="Shape 25"/>
          <p:cNvSpPr/>
          <p:nvPr/>
        </p:nvSpPr>
        <p:spPr>
          <a:xfrm>
            <a:off x="8183880" y="4814316"/>
            <a:ext cx="749808" cy="310896"/>
          </a:xfrm>
          <a:prstGeom prst="rect">
            <a:avLst/>
          </a:prstGeom>
          <a:solidFill>
            <a:srgbClr val="1A3A6B"/>
          </a:solidFill>
          <a:ln w="12700">
            <a:solidFill>
              <a:srgbClr val="1A3A6B"/>
            </a:solidFill>
            <a:prstDash val="solid"/>
          </a:ln>
        </p:spPr>
      </p:sp>
      <p:sp>
        <p:nvSpPr>
          <p:cNvPr id="29" name="Text 26"/>
          <p:cNvSpPr/>
          <p:nvPr/>
        </p:nvSpPr>
        <p:spPr>
          <a:xfrm>
            <a:off x="8183880" y="4814316"/>
            <a:ext cx="749808" cy="310896"/>
          </a:xfrm>
          <a:prstGeom prst="rect">
            <a:avLst/>
          </a:prstGeom>
          <a:noFill/>
          <a:ln/>
        </p:spPr>
        <p:txBody>
          <a:bodyPr wrap="square" lIns="0" tIns="0" rIns="0" bIns="0" rtlCol="0" anchor="ctr"/>
          <a:lstStyle/>
          <a:p>
            <a:pPr algn="ctr" indent="0" marL="0">
              <a:buNone/>
            </a:pPr>
            <a:r>
              <a:rPr lang="en-US" sz="900" b="1" dirty="0">
                <a:solidFill>
                  <a:srgbClr val="A0B4C8"/>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for Beginners — Week 5</dc:title>
  <dc:subject>PptxGenJS Presentation</dc:subject>
  <dc:creator>PptxGenJS</dc:creator>
  <cp:lastModifiedBy>PptxGenJS</cp:lastModifiedBy>
  <cp:revision>1</cp:revision>
  <dcterms:created xsi:type="dcterms:W3CDTF">2026-03-11T14:16:50Z</dcterms:created>
  <dcterms:modified xsi:type="dcterms:W3CDTF">2026-03-11T14:16:50Z</dcterms:modified>
</cp:coreProperties>
</file>