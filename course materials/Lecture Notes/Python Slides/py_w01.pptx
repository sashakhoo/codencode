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asya Khoo" userId="0ecc0b9a-0188-4623-9ca0-b3455d063396" providerId="ADAL" clId="{2771EFA1-4DDC-4B97-8AAF-DBDC6D7669D6}"/>
    <pc:docChg chg="undo custSel modSld">
      <pc:chgData name="Natasya Khoo" userId="0ecc0b9a-0188-4623-9ca0-b3455d063396" providerId="ADAL" clId="{2771EFA1-4DDC-4B97-8AAF-DBDC6D7669D6}" dt="2026-04-13T05:26:13.315" v="2" actId="478"/>
      <pc:docMkLst>
        <pc:docMk/>
      </pc:docMkLst>
      <pc:sldChg chg="addSp delSp modSp mod">
        <pc:chgData name="Natasya Khoo" userId="0ecc0b9a-0188-4623-9ca0-b3455d063396" providerId="ADAL" clId="{2771EFA1-4DDC-4B97-8AAF-DBDC6D7669D6}" dt="2026-04-13T05:26:13.315" v="2" actId="478"/>
        <pc:sldMkLst>
          <pc:docMk/>
          <pc:sldMk cId="0" sldId="262"/>
        </pc:sldMkLst>
        <pc:spChg chg="add del">
          <ac:chgData name="Natasya Khoo" userId="0ecc0b9a-0188-4623-9ca0-b3455d063396" providerId="ADAL" clId="{2771EFA1-4DDC-4B97-8AAF-DBDC6D7669D6}" dt="2026-04-13T05:26:13.315" v="2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Natasya Khoo" userId="0ecc0b9a-0188-4623-9ca0-b3455d063396" providerId="ADAL" clId="{2771EFA1-4DDC-4B97-8AAF-DBDC6D7669D6}" dt="2026-04-13T05:26:07.075" v="0" actId="404"/>
          <ac:spMkLst>
            <pc:docMk/>
            <pc:sldMk cId="0" sldId="262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25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0"/>
            <a:ext cx="2240280" cy="5143500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" name="Shape 1"/>
          <p:cNvSpPr/>
          <p:nvPr/>
        </p:nvSpPr>
        <p:spPr>
          <a:xfrm>
            <a:off x="6885432" y="0"/>
            <a:ext cx="41148" cy="514350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Text 2"/>
          <p:cNvSpPr/>
          <p:nvPr/>
        </p:nvSpPr>
        <p:spPr>
          <a:xfrm>
            <a:off x="6949440" y="914400"/>
            <a:ext cx="2103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200" b="1" dirty="0">
                <a:solidFill>
                  <a:srgbClr val="00DCB4">
                    <a:alpha val="16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&lt;/&gt;</a:t>
            </a:r>
            <a:endParaRPr lang="en-US" sz="8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6032" y="65836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256032" y="6583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04672" y="658368"/>
            <a:ext cx="1097280" cy="27432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Text 6"/>
          <p:cNvSpPr/>
          <p:nvPr/>
        </p:nvSpPr>
        <p:spPr>
          <a:xfrm>
            <a:off x="804672" y="6583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01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56032" y="10515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Variables, Data Types &amp; Logic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56032" y="2121408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information and making decisions in Python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56032" y="2633472"/>
            <a:ext cx="640080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256032" y="2633472"/>
            <a:ext cx="50292" cy="182880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384048" y="26974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 you will be able to: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84048" y="30358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Create and assign variables in Python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4048" y="345643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Identify and use the 4 core data types: int, float, str, bool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84048" y="387705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Write simple if / elif / else logic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5" name="Text 22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Python?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The most beginner-friendly language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is one of the world's most popular programming languages — used by Google, NASA, Netflix, and thousands of Malaysian companies.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Reads almost like English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No semicolons or complex syntax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Runs instantly — no compiling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Used for web, data, AI, automation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first program takes 1 line: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print("Hello, World!")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This is a comment — Python ignores 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World!")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print("Selamat datang ke codencode.my!")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print("欢迎来到 codencode.my!")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Running this file outputs: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Hello, World!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Selamat datang ke codencode.my!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欢迎来到 codencode.my!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 uses indentation, not {}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semicolons needed at end of lines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Variable?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Variables store data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is like a labelled box.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it a name, and put a value inside. Python remembers that value so you can use it later.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for naming variables: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Use letters, numbers, underscores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No spaces — use_underscores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Names are case-sensitive (age ≠ Age)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Cannot start with a number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Avoid Python keywords (if, for, def...)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variables.py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Assigning variables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= "Aisha"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      = 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     = 1.62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is_student = True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Using variables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print(name)        # Aisha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print(age)         # 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print(height)      # 1.62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print(is_student)  # True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Re-assigning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17           # ← update value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print(age)         # 17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 Core Data Types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4160520" cy="19385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1938528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Shape 4"/>
          <p:cNvSpPr/>
          <p:nvPr/>
        </p:nvSpPr>
        <p:spPr>
          <a:xfrm>
            <a:off x="384048" y="786384"/>
            <a:ext cx="402336" cy="402336"/>
          </a:xfrm>
          <a:prstGeom prst="rect">
            <a:avLst/>
          </a:prstGeom>
          <a:solidFill>
            <a:srgbClr val="00DCB4">
              <a:alpha val="22000"/>
            </a:srgbClr>
          </a:solidFill>
          <a:ln w="12700">
            <a:solidFill>
              <a:srgbClr val="00DCB4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Text 5"/>
          <p:cNvSpPr/>
          <p:nvPr/>
        </p:nvSpPr>
        <p:spPr>
          <a:xfrm>
            <a:off x="384048" y="786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7824" y="7863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84048" y="1261872"/>
            <a:ext cx="39136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numbers — no decimal.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5, -3, 100, 0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for: age, score, count, quantity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658368"/>
            <a:ext cx="4160520" cy="19385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663440" y="658368"/>
            <a:ext cx="50292" cy="1938528"/>
          </a:xfrm>
          <a:prstGeom prst="rect">
            <a:avLst/>
          </a:prstGeom>
          <a:solidFill>
            <a:srgbClr val="FFCB6B"/>
          </a:solidFill>
          <a:ln w="12700">
            <a:solidFill>
              <a:srgbClr val="FFCB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4791456" y="786384"/>
            <a:ext cx="402336" cy="402336"/>
          </a:xfrm>
          <a:prstGeom prst="rect">
            <a:avLst/>
          </a:prstGeom>
          <a:solidFill>
            <a:srgbClr val="FFCB6B">
              <a:alpha val="22000"/>
            </a:srgbClr>
          </a:solidFill>
          <a:ln w="12700">
            <a:solidFill>
              <a:srgbClr val="FFCB6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4791456" y="786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85232" y="786384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791456" y="1261872"/>
            <a:ext cx="39136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 a decimal point.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3.14, -0.5, 99.9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for: height, price, percentage, GPA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6032" y="2816352"/>
            <a:ext cx="4160520" cy="19385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8" name="Shape 15"/>
          <p:cNvSpPr/>
          <p:nvPr/>
        </p:nvSpPr>
        <p:spPr>
          <a:xfrm>
            <a:off x="256032" y="2816352"/>
            <a:ext cx="50292" cy="1938528"/>
          </a:xfrm>
          <a:prstGeom prst="rect">
            <a:avLst/>
          </a:prstGeom>
          <a:solidFill>
            <a:srgbClr val="C792EA"/>
          </a:solidFill>
          <a:ln w="12700">
            <a:solidFill>
              <a:srgbClr val="C792EA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9" name="Shape 16"/>
          <p:cNvSpPr/>
          <p:nvPr/>
        </p:nvSpPr>
        <p:spPr>
          <a:xfrm>
            <a:off x="384048" y="2944368"/>
            <a:ext cx="402336" cy="402336"/>
          </a:xfrm>
          <a:prstGeom prst="rect">
            <a:avLst/>
          </a:prstGeom>
          <a:solidFill>
            <a:srgbClr val="C792EA">
              <a:alpha val="22000"/>
            </a:srgbClr>
          </a:solidFill>
          <a:ln w="12700">
            <a:solidFill>
              <a:srgbClr val="C792EA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384048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7824" y="2944368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84048" y="3419856"/>
            <a:ext cx="39136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— always in quotes.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"Hello", "Aisha", "123"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for: names, messages, labels, user input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663440" y="2816352"/>
            <a:ext cx="4160520" cy="19385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24" name="Shape 21"/>
          <p:cNvSpPr/>
          <p:nvPr/>
        </p:nvSpPr>
        <p:spPr>
          <a:xfrm>
            <a:off x="4663440" y="2816352"/>
            <a:ext cx="50292" cy="19385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5" name="Shape 22"/>
          <p:cNvSpPr/>
          <p:nvPr/>
        </p:nvSpPr>
        <p:spPr>
          <a:xfrm>
            <a:off x="4791456" y="2944368"/>
            <a:ext cx="402336" cy="402336"/>
          </a:xfrm>
          <a:prstGeom prst="rect">
            <a:avLst/>
          </a:prstGeom>
          <a:solidFill>
            <a:srgbClr val="00B4D8">
              <a:alpha val="22000"/>
            </a:srgbClr>
          </a:solidFill>
          <a:ln w="12700">
            <a:solidFill>
              <a:srgbClr val="00B4D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6" name="Text 23"/>
          <p:cNvSpPr/>
          <p:nvPr/>
        </p:nvSpPr>
        <p:spPr>
          <a:xfrm>
            <a:off x="4791456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5232" y="2944368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791456" y="3419856"/>
            <a:ext cx="39136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two values: True or False.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True, False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for: yes/no decisions, on/off flags, conditions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0" name="Shape 27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1" name="Text 28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4" name="Text 31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6" name="Text 33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Checking &amp; Converting Types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type() and casting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type() to check what kind of data a variable holds.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you need to convert between types — this is called casting.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int()   → converts to integer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float() → converts to float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str()   → converts to string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bool()  → converts to boolean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You cannot add a string and an integer without converting first!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"Aisha"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= 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  = 3.85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types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print(type(name))   # &lt;class 'str'&gt;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print(type(age))    # &lt;class 'int'&gt;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print(type(gpa))    # &lt;class 'float'&gt;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Casting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"95"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print(score + 5)       # ❌ 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print(int(score) + 5)  # ✅ 100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int → str for concatenation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print("Age: " + str(age))  # Age: 16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String Operations &amp; f-strings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8631936" cy="3127248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8631936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Shape 4"/>
          <p:cNvSpPr/>
          <p:nvPr/>
        </p:nvSpPr>
        <p:spPr>
          <a:xfrm>
            <a:off x="402336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Shape 5"/>
          <p:cNvSpPr/>
          <p:nvPr/>
        </p:nvSpPr>
        <p:spPr>
          <a:xfrm>
            <a:off x="640080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Shape 6"/>
          <p:cNvSpPr/>
          <p:nvPr/>
        </p:nvSpPr>
        <p:spPr>
          <a:xfrm>
            <a:off x="877824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Text 7"/>
          <p:cNvSpPr/>
          <p:nvPr/>
        </p:nvSpPr>
        <p:spPr>
          <a:xfrm>
            <a:off x="4114800" y="676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strings.py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84048" y="1060704"/>
            <a:ext cx="84124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= "Aisha"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92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Concatenation (joining strings)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" + name + "!")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f-string (modern, recommended)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print(f"Hello, {name}! Your score is {score}.")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Useful string methods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print(name.upper())      # AISHA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print(name.lower())      # aisha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print(len(name))         # 5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print(name[0])           # A  (first character)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print(name[-1])          # a  (last character)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Repeat and check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print("ha" * 3)          # hahaha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print("ish" in name)     # True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6032" y="3858768"/>
            <a:ext cx="8631936" cy="74980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Text 10"/>
          <p:cNvSpPr/>
          <p:nvPr/>
        </p:nvSpPr>
        <p:spPr>
          <a:xfrm>
            <a:off x="402336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What this does: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02336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f-strings are the cleanest way to embed variables inside text. Write f"...{variable}..." — Python fills in the value automatically. Much cleaner than + concatenation.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Text 14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2" name="Text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Input from the User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8631936" cy="3127248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8631936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Shape 4"/>
          <p:cNvSpPr/>
          <p:nvPr/>
        </p:nvSpPr>
        <p:spPr>
          <a:xfrm>
            <a:off x="402336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Shape 5"/>
          <p:cNvSpPr/>
          <p:nvPr/>
        </p:nvSpPr>
        <p:spPr>
          <a:xfrm>
            <a:off x="640080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Shape 6"/>
          <p:cNvSpPr/>
          <p:nvPr/>
        </p:nvSpPr>
        <p:spPr>
          <a:xfrm>
            <a:off x="877824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Text 7"/>
          <p:cNvSpPr/>
          <p:nvPr/>
        </p:nvSpPr>
        <p:spPr>
          <a:xfrm>
            <a:off x="4114800" y="676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input_demo.py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84048" y="1060704"/>
            <a:ext cx="84124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input() always returns a STRING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= input("What is your name? 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age_str = input("How old are you? 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Convert to int for calculations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      = int(age_str)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birth_year = 2026 - age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print(f"Hello, {name}!")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print(f"You were born around {birth_year}.")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Inline casting (common shorthand)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float(input("Enter your score: "))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print(f"Score: {score:.1f}%")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Run output ──────────────────────────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is your name?  Aisha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How old are you?    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Hello, Aisha!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 were born around 2010.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56032" y="3858768"/>
            <a:ext cx="8631936" cy="74980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Text 10"/>
          <p:cNvSpPr/>
          <p:nvPr/>
        </p:nvSpPr>
        <p:spPr>
          <a:xfrm>
            <a:off x="402336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What this does: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02336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input() pauses the program and waits for the user to type. It always gives back a string. Use int() or float() to convert when you need numbers for calculations.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Text 14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2" name="Text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Arithmetic &amp; Operators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Math in Python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supports all standard maths operations: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+   addition        (5 + 3 = 8)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-   subtraction     (5 - 3 = 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*   multiplication  (5 * 3 = 15)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/   division        (7 / 2 = 3.5)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//  floor division  (7 // 2 = 3)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%   modulus/remainder (7 % 2 = 1)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**  power           (2 ** 8 = 256)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precedence: ** first, then *, /, //, %, then +, -.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parentheses () to control order.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operators.py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  = 25.50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qty     = 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     = 0.06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subtotal = price * qty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tax_amt  = subtotal * tax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  = subtotal + tax_amt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print(f"Subtotal: RM {subtotal:.2f}")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print(f"Tax (6%): RM {tax_amt:.2f}")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print(f"Total:    RM {total:.2f}")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Useful shortcuts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+= 5    # x = x + 5  →  15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*= 2    # x = x * 2  →  30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//= 4   # x = x // 4 →  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print(x)  # 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Making Decisions — if / elif / else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Conditional logic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make decisions with if/elif/else.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if   — checks the first condition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elif — checks another condition (can have many)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else — runs if nothing matched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operators: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==  equal to      !=  not equal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&gt;   greater than  &lt;   less than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&gt;=  greater or =  &lt;=  less or =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operators: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 — both must be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   — at least one must be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not  — flips True/False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conditions.py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int(input("Enter score: "))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score &gt;= 90: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print("Grade: A — Excellent!")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score &gt;= 75: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print("Grade: B — Good job!")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score &gt;= 60: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print("Grade: C — Keep going!")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print("Grade: F — Let's revise!")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Combining conditions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17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has_id =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 and has_id: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print("Entry allowed")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print("Entry denied")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Putting It All Together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8631936" cy="3127248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8631936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Shape 4"/>
          <p:cNvSpPr/>
          <p:nvPr/>
        </p:nvSpPr>
        <p:spPr>
          <a:xfrm>
            <a:off x="402336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Shape 5"/>
          <p:cNvSpPr/>
          <p:nvPr/>
        </p:nvSpPr>
        <p:spPr>
          <a:xfrm>
            <a:off x="640080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Shape 6"/>
          <p:cNvSpPr/>
          <p:nvPr/>
        </p:nvSpPr>
        <p:spPr>
          <a:xfrm>
            <a:off x="877824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Text 7"/>
          <p:cNvSpPr/>
          <p:nvPr/>
        </p:nvSpPr>
        <p:spPr>
          <a:xfrm>
            <a:off x="4114800" y="676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profile.py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84048" y="1060704"/>
            <a:ext cx="84124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= input("Name: 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 = int(input("Age: "))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float(input("Test score (%): "))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 Student Profile ──")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print(f"Name : {name}")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print(f"Age  : {age}")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print(f"Score: {score:.1f}%")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Nested if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score &gt;= 80: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"PASS with distinction"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score &gt;= 50: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"PASS"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"FAIL — extra support needed"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 = "Teen" if age &lt; 20 else "Adult"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print(f"Status: {status}")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print(f"Category: {category}")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6032" y="3858768"/>
            <a:ext cx="8631936" cy="74980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Text 10"/>
          <p:cNvSpPr/>
          <p:nvPr/>
        </p:nvSpPr>
        <p:spPr>
          <a:xfrm>
            <a:off x="402336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What this does: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02336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input(), casting, f-strings, and if/elif/else into one program. The one-line ternary 'x if condition else y' is a compact way to assign based on a condition.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Text 14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2" name="Text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Boolean Logic &amp; Truthy/Falsy Values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8631936" cy="3127248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8631936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Shape 4"/>
          <p:cNvSpPr/>
          <p:nvPr/>
        </p:nvSpPr>
        <p:spPr>
          <a:xfrm>
            <a:off x="402336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Shape 5"/>
          <p:cNvSpPr/>
          <p:nvPr/>
        </p:nvSpPr>
        <p:spPr>
          <a:xfrm>
            <a:off x="640080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Shape 6"/>
          <p:cNvSpPr/>
          <p:nvPr/>
        </p:nvSpPr>
        <p:spPr>
          <a:xfrm>
            <a:off x="877824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Text 7"/>
          <p:cNvSpPr/>
          <p:nvPr/>
        </p:nvSpPr>
        <p:spPr>
          <a:xfrm>
            <a:off x="4114800" y="676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booleans.py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84048" y="1060704"/>
            <a:ext cx="84124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Comparison results are booleans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print(5 &gt; 3)        # True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print(5 == 3)       # False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print("a" == "a")   # True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/ or / not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15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print(x &gt; 10 and x &lt; 20)   # True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print(x &lt; 5  or  x &gt; 10)   # True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print(not x &gt; 10)           # False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Truthy and Falsy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Falsy values: 0, "", [], None, False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print(bool(0))    # False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print(bool(""))   # False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print(bool([]))   # False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print(bool(42))   # True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print(bool("hi")) # True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Practical use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input("Enter name: 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name:   # True if name is not empty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print(f"Hello, {name}!")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print("No name entered.")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6032" y="3858768"/>
            <a:ext cx="8631936" cy="749808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Text 10"/>
          <p:cNvSpPr/>
          <p:nvPr/>
        </p:nvSpPr>
        <p:spPr>
          <a:xfrm>
            <a:off x="402336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What this does: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02336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value in Python is either truthy or falsy. 0, empty strings, empty lists and None are falsy. Everything else is truthy. This lets you write cleaner if checks.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Text 14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2" name="Text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Beginner Mistakes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397764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Errors to watch out for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370332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to read error messages is a superpower!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beginners errors: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= vs ==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age = 16     ← assigns value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age == 16    ← compares (returns True/False)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Missing colon after if/elif/else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if score &gt; 80   ← SyntaxError!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if score &gt; 80:  ← correct ✅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Wrong indentation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Python uses 4 spaces — not tabs.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Forgetting int(input())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Adding "16" + 1 → TypeError!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658368"/>
            <a:ext cx="4407408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4480560" y="658368"/>
            <a:ext cx="4407408" cy="329184"/>
          </a:xfrm>
          <a:prstGeom prst="rect">
            <a:avLst/>
          </a:prstGeom>
          <a:solidFill>
            <a:srgbClr val="0D1A2E"/>
          </a:solidFill>
          <a:ln w="12700">
            <a:solidFill>
              <a:srgbClr val="0D1A2E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Shape 8"/>
          <p:cNvSpPr/>
          <p:nvPr/>
        </p:nvSpPr>
        <p:spPr>
          <a:xfrm>
            <a:off x="4626864" y="758952"/>
            <a:ext cx="118872" cy="118872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Shape 9"/>
          <p:cNvSpPr/>
          <p:nvPr/>
        </p:nvSpPr>
        <p:spPr>
          <a:xfrm>
            <a:off x="4864608" y="758952"/>
            <a:ext cx="118872" cy="1188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Shape 10"/>
          <p:cNvSpPr/>
          <p:nvPr/>
        </p:nvSpPr>
        <p:spPr>
          <a:xfrm>
            <a:off x="5102352" y="758952"/>
            <a:ext cx="118872" cy="11887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400800" y="6766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common_errors.py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90288" y="1060704"/>
            <a:ext cx="420624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❌ Assignment vs comparison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= 5:    # SyntaxError — use ==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print(x)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Correct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== 5: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print("x is 5")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❌ Type mismatch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input("Age: ")    # returns str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+ 1)          # TypeError!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Correct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int(input("Age: "))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+ 1)          # Works!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❌ IndentationError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True: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print("Hello")   # needs 4 spaces!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 Quiz Time!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8631936" cy="1024128"/>
          </a:xfrm>
          <a:prstGeom prst="rect">
            <a:avLst/>
          </a:prstGeom>
          <a:solidFill>
            <a:srgbClr val="0D1A2E"/>
          </a:solidFill>
          <a:ln w="12700">
            <a:solidFill>
              <a:srgbClr val="00DCB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1024128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68580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C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32688" y="713232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data type of the value returned by: age = input("How old are you?")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6032" y="1883664"/>
            <a:ext cx="4160520" cy="1097280"/>
          </a:xfrm>
          <a:prstGeom prst="rect">
            <a:avLst/>
          </a:prstGeom>
          <a:solidFill>
            <a:srgbClr val="0D1A2E"/>
          </a:solidFill>
          <a:ln w="12700">
            <a:solidFill>
              <a:srgbClr val="00DCB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Shape 7"/>
          <p:cNvSpPr/>
          <p:nvPr/>
        </p:nvSpPr>
        <p:spPr>
          <a:xfrm>
            <a:off x="256032" y="1883664"/>
            <a:ext cx="621792" cy="1097280"/>
          </a:xfrm>
          <a:prstGeom prst="rect">
            <a:avLst/>
          </a:prstGeom>
          <a:solidFill>
            <a:srgbClr val="00DCB4">
              <a:alpha val="20000"/>
            </a:srgbClr>
          </a:solidFill>
          <a:ln w="12700">
            <a:solidFill>
              <a:srgbClr val="00DCB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Text 8"/>
          <p:cNvSpPr/>
          <p:nvPr/>
        </p:nvSpPr>
        <p:spPr>
          <a:xfrm>
            <a:off x="256032" y="1883664"/>
            <a:ext cx="621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C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50976" y="1883664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 — because the user types a number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690872" y="1883664"/>
            <a:ext cx="4160520" cy="1097280"/>
          </a:xfrm>
          <a:prstGeom prst="rect">
            <a:avLst/>
          </a:prstGeom>
          <a:solidFill>
            <a:srgbClr val="0D1A2E"/>
          </a:solidFill>
          <a:ln w="12700">
            <a:solidFill>
              <a:srgbClr val="C792E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4" name="Shape 11"/>
          <p:cNvSpPr/>
          <p:nvPr/>
        </p:nvSpPr>
        <p:spPr>
          <a:xfrm>
            <a:off x="4690872" y="1883664"/>
            <a:ext cx="621792" cy="1097280"/>
          </a:xfrm>
          <a:prstGeom prst="rect">
            <a:avLst/>
          </a:prstGeom>
          <a:solidFill>
            <a:srgbClr val="C792EA">
              <a:alpha val="20000"/>
            </a:srgbClr>
          </a:solidFill>
          <a:ln w="12700">
            <a:solidFill>
              <a:srgbClr val="C792E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5" name="Text 12"/>
          <p:cNvSpPr/>
          <p:nvPr/>
        </p:nvSpPr>
        <p:spPr>
          <a:xfrm>
            <a:off x="4690872" y="1883664"/>
            <a:ext cx="621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79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385816" y="1883664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— input() always returns a string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56032" y="3145536"/>
            <a:ext cx="4160520" cy="1097280"/>
          </a:xfrm>
          <a:prstGeom prst="rect">
            <a:avLst/>
          </a:prstGeom>
          <a:solidFill>
            <a:srgbClr val="0D1A2E"/>
          </a:solidFill>
          <a:ln w="12700">
            <a:solidFill>
              <a:srgbClr val="FFCB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8" name="Shape 15"/>
          <p:cNvSpPr/>
          <p:nvPr/>
        </p:nvSpPr>
        <p:spPr>
          <a:xfrm>
            <a:off x="256032" y="3145536"/>
            <a:ext cx="621792" cy="1097280"/>
          </a:xfrm>
          <a:prstGeom prst="rect">
            <a:avLst/>
          </a:prstGeom>
          <a:solidFill>
            <a:srgbClr val="FFCB6B">
              <a:alpha val="20000"/>
            </a:srgbClr>
          </a:solidFill>
          <a:ln w="12700">
            <a:solidFill>
              <a:srgbClr val="FFCB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9" name="Text 16"/>
          <p:cNvSpPr/>
          <p:nvPr/>
        </p:nvSpPr>
        <p:spPr>
          <a:xfrm>
            <a:off x="256032" y="3145536"/>
            <a:ext cx="621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C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50976" y="3145536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 — Python auto-detects decimals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90872" y="3145536"/>
            <a:ext cx="4160520" cy="1097280"/>
          </a:xfrm>
          <a:prstGeom prst="rect">
            <a:avLst/>
          </a:prstGeom>
          <a:solidFill>
            <a:srgbClr val="0D1A2E"/>
          </a:solidFill>
          <a:ln w="12700">
            <a:solidFill>
              <a:srgbClr val="00B4D8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22" name="Shape 19"/>
          <p:cNvSpPr/>
          <p:nvPr/>
        </p:nvSpPr>
        <p:spPr>
          <a:xfrm>
            <a:off x="4690872" y="3145536"/>
            <a:ext cx="621792" cy="1097280"/>
          </a:xfrm>
          <a:prstGeom prst="rect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4690872" y="3145536"/>
            <a:ext cx="621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5385816" y="3145536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 — True if the user answered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6" name="Shape 23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7" name="Text 24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0" name="Text 27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2" name="Text 29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⌨️  Try It Yourself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5074920" cy="3931920"/>
          </a:xfrm>
          <a:prstGeom prst="rect">
            <a:avLst/>
          </a:prstGeom>
          <a:solidFill>
            <a:srgbClr val="0D1A2E"/>
          </a:solidFill>
          <a:ln w="12700">
            <a:solidFill>
              <a:srgbClr val="00DCB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393192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3152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Build a Personal Profile Card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33856"/>
            <a:ext cx="480060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Ask the user for their name, age, and favourite subject using input()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Cast age to int; calculate birth year (2026 - age)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Print a neatly formatted profile using f-strings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Add if/elif/else to print grade category: Teen (&lt;20), Young Adult (20-25), Adult (&gt;25)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Bonus: Add a score input (0-100) and print the grade (A/B/C/F)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577840" y="658368"/>
            <a:ext cx="3310128" cy="1261872"/>
          </a:xfrm>
          <a:prstGeom prst="rect">
            <a:avLst/>
          </a:prstGeom>
          <a:solidFill>
            <a:srgbClr val="1A1200"/>
          </a:solidFill>
          <a:ln w="12700">
            <a:solidFill>
              <a:srgbClr val="F5C8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0" name="Text 7"/>
          <p:cNvSpPr/>
          <p:nvPr/>
        </p:nvSpPr>
        <p:spPr>
          <a:xfrm>
            <a:off x="5687568" y="731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XP Reward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87568" y="10424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XP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5577840" y="2084832"/>
            <a:ext cx="3310128" cy="987552"/>
          </a:xfrm>
          <a:prstGeom prst="rect">
            <a:avLst/>
          </a:prstGeom>
          <a:solidFill>
            <a:srgbClr val="0D1A2E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Text 10"/>
          <p:cNvSpPr/>
          <p:nvPr/>
        </p:nvSpPr>
        <p:spPr>
          <a:xfrm>
            <a:off x="5687568" y="2157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Time Limit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87568" y="2450592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min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577840" y="3236976"/>
            <a:ext cx="3310128" cy="1353312"/>
          </a:xfrm>
          <a:prstGeom prst="rect">
            <a:avLst/>
          </a:prstGeom>
          <a:solidFill>
            <a:srgbClr val="050810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Text 13"/>
          <p:cNvSpPr/>
          <p:nvPr/>
        </p:nvSpPr>
        <p:spPr>
          <a:xfrm>
            <a:off x="5687568" y="3310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output: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87568" y="3621024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: Aisha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  : 16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Born   : 2010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Maths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: Teen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  : A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Text 17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Text 20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5" name="Text 22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8016"/>
            <a:ext cx="146304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Summary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" y="658368"/>
            <a:ext cx="5440680" cy="2834640"/>
          </a:xfrm>
          <a:prstGeom prst="rect">
            <a:avLst/>
          </a:prstGeom>
          <a:solidFill>
            <a:srgbClr val="0D1A2E"/>
          </a:solidFill>
          <a:ln w="12700">
            <a:solidFill>
              <a:srgbClr val="00DCB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6" name="Shape 3"/>
          <p:cNvSpPr/>
          <p:nvPr/>
        </p:nvSpPr>
        <p:spPr>
          <a:xfrm>
            <a:off x="256032" y="658368"/>
            <a:ext cx="50292" cy="2834640"/>
          </a:xfrm>
          <a:prstGeom prst="rect">
            <a:avLst/>
          </a:prstGeom>
          <a:solidFill>
            <a:srgbClr val="00DCB4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Text 4"/>
          <p:cNvSpPr/>
          <p:nvPr/>
        </p:nvSpPr>
        <p:spPr>
          <a:xfrm>
            <a:off x="384048" y="7498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What we learned today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" y="11521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Variables store data under a name we choose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84048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Python has 4 core types: int, float, str, bool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84048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Use type() to check, and int()/str() to convert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4048" y="241401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input() always returns a string — cast when needed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84048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if / elif / else lets programs make decisions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43600" y="658368"/>
            <a:ext cx="2944368" cy="28346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3A6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4" name="Text 11"/>
          <p:cNvSpPr/>
          <p:nvPr/>
        </p:nvSpPr>
        <p:spPr>
          <a:xfrm>
            <a:off x="6053328" y="749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Next Week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53328" y="1133856"/>
            <a:ext cx="26517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2: Loops &amp; Functions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repeat actions with for and while loops, and package code into reusable functions.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56032" y="3639312"/>
            <a:ext cx="8631936" cy="987552"/>
          </a:xfrm>
          <a:prstGeom prst="rect">
            <a:avLst/>
          </a:prstGeom>
          <a:solidFill>
            <a:srgbClr val="1A1200"/>
          </a:solidFill>
          <a:ln w="12700">
            <a:solidFill>
              <a:srgbClr val="F5C8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SG"/>
          </a:p>
        </p:txBody>
      </p:sp>
      <p:sp>
        <p:nvSpPr>
          <p:cNvPr id="17" name="Shape 14"/>
          <p:cNvSpPr/>
          <p:nvPr/>
        </p:nvSpPr>
        <p:spPr>
          <a:xfrm>
            <a:off x="256032" y="3639312"/>
            <a:ext cx="50292" cy="987552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8" name="Text 15"/>
          <p:cNvSpPr/>
          <p:nvPr/>
        </p:nvSpPr>
        <p:spPr>
          <a:xfrm>
            <a:off x="384048" y="369417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C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This Week's Assignment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84048" y="4023360"/>
            <a:ext cx="6766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program that asks for name, age, and a score (0–100). Print a profile card and a grade (A/B/C/F). Use f-strings. Submit your .py file on the LMS.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62672" y="3712464"/>
            <a:ext cx="1115568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Text 18"/>
          <p:cNvSpPr/>
          <p:nvPr/>
        </p:nvSpPr>
        <p:spPr>
          <a:xfrm>
            <a:off x="7662672" y="3712464"/>
            <a:ext cx="1115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XP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30608"/>
          </a:solidFill>
          <a:ln w="12700">
            <a:solidFill>
              <a:srgbClr val="03060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Shape 20"/>
          <p:cNvSpPr/>
          <p:nvPr/>
        </p:nvSpPr>
        <p:spPr>
          <a:xfrm>
            <a:off x="0" y="4800600"/>
            <a:ext cx="1920240" cy="3429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4" name="Text 21"/>
          <p:cNvSpPr/>
          <p:nvPr/>
        </p:nvSpPr>
        <p:spPr>
          <a:xfrm>
            <a:off x="164592" y="48143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codencode.my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057400" y="48143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for Beginners  •  Week 01 — Variables, Data Types &amp; Logic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DCB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7" name="Text 24"/>
          <p:cNvSpPr/>
          <p:nvPr/>
        </p:nvSpPr>
        <p:spPr>
          <a:xfrm>
            <a:off x="7635240" y="48188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9" name="Text 26"/>
          <p:cNvSpPr/>
          <p:nvPr/>
        </p:nvSpPr>
        <p:spPr>
          <a:xfrm>
            <a:off x="8183880" y="481431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B4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2639</Words>
  <Application>Microsoft Office PowerPoint</Application>
  <PresentationFormat>On-screen Show (16:9)</PresentationFormat>
  <Paragraphs>453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Beginners — Week 1</dc:title>
  <dc:subject>PptxGenJS Presentation</dc:subject>
  <dc:creator>PptxGenJS</dc:creator>
  <cp:lastModifiedBy>Natasya Khoo</cp:lastModifiedBy>
  <cp:revision>1</cp:revision>
  <dcterms:created xsi:type="dcterms:W3CDTF">2026-03-11T14:16:48Z</dcterms:created>
  <dcterms:modified xsi:type="dcterms:W3CDTF">2026-04-13T05:26:18Z</dcterms:modified>
</cp:coreProperties>
</file>